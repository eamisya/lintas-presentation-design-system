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97DC948-5AE0-32CF-D655-3E84C09F22D0}">
          <p14:sldIdLst>
            <p14:sldId id="256"/>
            <p14:sldId id="257"/>
          </p14:sldIdLst>
        </p14:section>
        <p14:section name="Design system" id="{96F68D93-8A3D-9909-FD80-39B0FB18D0B7}">
          <p14:sldIdLst>
            <p14:sldId id="258"/>
            <p14:sldId id="259"/>
            <p14:sldId id="260"/>
          </p14:sldIdLst>
        </p14:section>
        <p14:section name="Two treatments" id="{5C3F6EC6-56D2-4A24-7B66-F75C3045A04E}">
          <p14:sldIdLst>
            <p14:sldId id="261"/>
            <p14:sldId id="262"/>
            <p14:sldId id="263"/>
          </p14:sldIdLst>
        </p14:section>
        <p14:section name="Implementation" id="{15C37040-32D8-A0F7-DE78-891A06942A52}">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2557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get management agreement on how Lintas Group presentations should look across departments.
The idea in one line: every deck is recognisably Lintas Group, each department has its own design personality, and each department can present in two treatments (editorial reporting or operational intelligence). 1 x 8 x 2 = 16 recognisable deck styles.
Everything in this deck is a design proposal. None of it is a measured result or an approved brand standard.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review of Variants #11 and #12 found: both skills already separate departments through information architecture, storytelling and the choice of visualizations. What they do not yet do is give each department its own colour palette, typography treatment or visual signature.
The target: someone glancing at a slide should be able to tell CTS from Finance from HR/GA without reading the department name.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to bottom: the higher the layer, the more it is shared.
- Corporate identity: 100% shared, so every deck is recognisably Lintas Group.
- Design foundations: 80-90% shared (typography, margins, grids, navigation, craftsmanship).
- Departmental identity: 30-40% differentiated (accent colours, visual motifs, composition preferences).
- Presentation purpose: fully adaptive to the brief.
- Variant #11 vs #12: two distinct treatments.
These percentages are targets for the design, not measurements of the current skills.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departments, eight themes. Each card shows the proposed primary, accent and secondary colour, the theme name and the distinctive element.
CTS - Mission Control (network control centre). PMO - Precision in Motion (architectural blueprint). Sales &amp; Marketing - Growth in Focus (commercial momentum). HR/GA - Human Capital (organisational ecosystem; should feel noticeably more human than CTS). Finance - Clarity of Capital (financial ledger; gold is a restrained accent, never decorative). Contract - Structured Trust (legal instrument). Business Development - Beyond the Horizon (strategic horizon). Procurement - Connected Value (connected supply network).
Safeguard: these palettes are proposals. If Lintas Group has brand guidelines, they win.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colours would give eight different-looking decks, but not eight design systems. The proposal combines four variables:
A. Colour identity: a recognisable accent and tonal hierarchy.
B. Composition grammar: CTS favours operational sequences, Finance numerical precision, HR/GA open human-centred layouts, PMO structured progressions.
C. Visualization language: each department's preferred diagrams follow how its information is organised and how it makes decisions.
D. Narrative personality: CTS speaks with operational urgency, Finance with financial discipline, Business Development about strategic possibilities.
That is real differentiation rather than recolouring.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eight departmental identities stay the same in both variants. What changes is the job the deck is doing: #11 communicates insight to executives, #12 lays out evidence, relationships and decisions.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 by side: #11 is low-to-moderate density, light, with large editorial headlines and minimal explanatory charts. It reads like a boardroom publication.
#12 is moderately dense, uses more dark sections, strong headings with compact technical annotations, diagnostic charts and process/dependency/decision diagrams. It reads like a management intelligence atlas.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wireframe sketch to make the idea concrete, not a real CTS deck and not real data.
Left (#11): CTS as a premium operational performance publication. Light page, a large headline, one annotated trend.
Right (#12): CTS as a network assurance command centre. Dark graphite, incident swimlanes with correlated events, an evidence panel. Emphasis on incident correlation, evidence, escalation and remediation.
Both keep the CTS palette (Graphite, Electric Teal, Steel Blue) and the thin horizontal network signal line, so they are clearly the same department.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upgrade to both SKILL.md files: a Departmental Visual Identity Engine. Before any slide is drawn it determines, in order: the organisational unit, its colour tokens, its typography personality, its layout grammar, its visualization vocabulary, its storytelling approach, its fit with Variant #11 or #12, and its visual QA requirements.
Cross-department presentations: a group-level management review uses the shared corporate palette; departmental accents only show up to identify ownership or tell business functions apart.
Safeguard: these palettes are proposals; existing brand guidelines take precedence.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from the review:
- Keep the original Variant #8 as the Corporate Executive Reference.
- Position Variant #11 as the Departmental Executive Editorial System.
- Position Variant #12 as the Departmental Operational Intelligence System.
Each of #11 and #12 carries all eight departmental identities, which is where the 16 treatments come from.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endorse the three-tier positioning (#8 as corporate reference, #11 and #12 as the departmental systems) and the Departmental Visual Identity Engine.
Next step: revise the #11 and #12 SKILL.md files with the engine. No owner or due date was given in the source, so both need to be agreed in the meeting.
1 corporate foundation x 8 departmental identities x 2 presentation variants = 16 recognisable departmental treatments, governed by two reusable skills.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conten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rtlCol="0"/>
          <a:lstStyle>
            <a:lvl1pPr marL="0" indent="0">
              <a:buNone/>
              <a:defRPr lang="en-US" sz="1000" kern="0" spc="100" dirty="0">
                <a:solidFill>
                  <a:schemeClr val="accent3"/>
                </a:solidFill>
                <a:latin typeface="Consolas" pitchFamily="34" charset="0"/>
                <a:ea typeface="Consolas" pitchFamily="34" charset="-122"/>
                <a:cs typeface="Consolas" pitchFamily="34" charset="-120"/>
              </a:defRPr>
            </a:lvl1pPr>
          </a:lstStyle>
          <a:p>
            <a:pPr marL="0" indent="0">
              <a:buNone/>
            </a:pPr>
            <a:endParaRPr lang="en-US" sz="1000" dirty="0"/>
          </a:p>
        </p:txBody>
      </p:sp>
      <p:sp>
        <p:nvSpPr>
          <p:cNvPr id="3" name="Text 0"/>
          <p:cNvSpPr>
            <a:spLocks noGrp="1"/>
          </p:cNvSpPr>
          <p:nvPr>
            <p:ph type="title" idx="101" hasCustomPrompt="1"/>
          </p:nvPr>
        </p:nvSpPr>
        <p:spPr>
          <a:xfrm>
            <a:off x="548640" y="749808"/>
            <a:ext cx="10607040" cy="109728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4" name="Text 0"/>
          <p:cNvSpPr/>
          <p:nvPr/>
        </p:nvSpPr>
        <p:spPr>
          <a:xfrm>
            <a:off x="548640" y="6382512"/>
            <a:ext cx="7315200" cy="228600"/>
          </a:xfrm>
          <a:prstGeom prst="rect">
            <a:avLst/>
          </a:prstGeom>
          <a:noFill/>
          <a:ln/>
        </p:spPr>
        <p:txBody>
          <a:bodyPr wrap="square" lIns="0" tIns="0" rIns="0" bIns="0" rtlCol="0" anchor="ctr"/>
          <a:lstStyle/>
          <a:p>
            <a:pPr marL="0" indent="0">
              <a:buNone/>
            </a:pPr>
            <a:r>
              <a:rPr lang="en-US" sz="1000" kern="0" spc="100" dirty="0">
                <a:solidFill>
                  <a:schemeClr val="accent3"/>
                </a:solidFill>
                <a:latin typeface="Consolas" pitchFamily="34" charset="0"/>
                <a:ea typeface="Consolas" pitchFamily="34" charset="-122"/>
                <a:cs typeface="Consolas" pitchFamily="34" charset="-120"/>
              </a:rPr>
              <a:t>LINTAS GROUP  ·  PRESENTATION DESIGN SYSTEM  ·  PROPOSAL</a:t>
            </a:r>
            <a:endParaRPr lang="en-US" sz="1000" dirty="0"/>
          </a:p>
        </p:txBody>
      </p:sp>
      <p:sp>
        <p:nvSpPr>
          <p:cNvPr id="25" name="Slide Number Placeholder 0"/>
          <p:cNvSpPr>
            <a:spLocks noGrp="1"/>
          </p:cNvSpPr>
          <p:nvPr>
            <p:ph type="sldNum" sz="quarter" idx="4294967295"/>
          </p:nvPr>
        </p:nvSpPr>
        <p:spPr>
          <a:xfrm>
            <a:off x="10911535" y="6382512"/>
            <a:ext cx="73152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content">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rtlCol="0"/>
          <a:lstStyle>
            <a:lvl1pPr marL="0" indent="0">
              <a:buNone/>
              <a:defRPr lang="en-US" sz="1000" kern="0" spc="100" dirty="0">
                <a:solidFill>
                  <a:schemeClr val="accent2"/>
                </a:solidFill>
                <a:latin typeface="Consolas" pitchFamily="34" charset="0"/>
                <a:ea typeface="Consolas" pitchFamily="34" charset="-122"/>
                <a:cs typeface="Consolas" pitchFamily="34" charset="-120"/>
              </a:defRPr>
            </a:lvl1pPr>
          </a:lstStyle>
          <a:p>
            <a:pPr marL="0" indent="0">
              <a:buNone/>
            </a:pPr>
            <a:endParaRPr lang="en-US" sz="1000" dirty="0"/>
          </a:p>
        </p:txBody>
      </p:sp>
      <p:sp>
        <p:nvSpPr>
          <p:cNvPr id="3" name="Text 0"/>
          <p:cNvSpPr>
            <a:spLocks noGrp="1"/>
          </p:cNvSpPr>
          <p:nvPr>
            <p:ph type="title" idx="101" hasCustomPrompt="1"/>
          </p:nvPr>
        </p:nvSpPr>
        <p:spPr>
          <a:xfrm>
            <a:off x="548640" y="749808"/>
            <a:ext cx="10607040" cy="1097280"/>
          </a:xfrm>
          <a:prstGeom prst="rect">
            <a:avLst/>
          </a:prstGeom>
          <a:noFill/>
          <a:ln/>
        </p:spPr>
        <p:txBody>
          <a:bodyPr wrap="square" rtlCol="0"/>
          <a:lstStyle>
            <a:lvl1pPr marL="0" indent="0" algn="l">
              <a:buNone/>
              <a:defRPr lang="en-US" sz="3000" b="1" dirty="0">
                <a:solidFill>
                  <a:schemeClr val="bg2"/>
                </a:solidFill>
              </a:defRPr>
            </a:lvl1pPr>
          </a:lstStyle>
          <a:p>
            <a:pPr marL="0" indent="0" algn="l">
              <a:buNone/>
            </a:pPr>
            <a:endParaRPr lang="en-US" sz="3000" dirty="0"/>
          </a:p>
        </p:txBody>
      </p:sp>
      <p:sp>
        <p:nvSpPr>
          <p:cNvPr id="4" name="Text 0"/>
          <p:cNvSpPr/>
          <p:nvPr/>
        </p:nvSpPr>
        <p:spPr>
          <a:xfrm>
            <a:off x="548640" y="6382512"/>
            <a:ext cx="7315200" cy="228600"/>
          </a:xfrm>
          <a:prstGeom prst="rect">
            <a:avLst/>
          </a:prstGeom>
          <a:noFill/>
          <a:ln/>
        </p:spPr>
        <p:txBody>
          <a:bodyPr wrap="square" lIns="0" tIns="0" rIns="0" bIns="0" rtlCol="0" anchor="ctr"/>
          <a:lstStyle/>
          <a:p>
            <a:pPr marL="0" indent="0">
              <a:buNone/>
            </a:pPr>
            <a:r>
              <a:rPr lang="en-US" sz="1000" kern="0" spc="100" dirty="0">
                <a:solidFill>
                  <a:schemeClr val="accent6"/>
                </a:solidFill>
                <a:latin typeface="Consolas" pitchFamily="34" charset="0"/>
                <a:ea typeface="Consolas" pitchFamily="34" charset="-122"/>
                <a:cs typeface="Consolas" pitchFamily="34" charset="-120"/>
              </a:rPr>
              <a:t>LINTAS GROUP  ·  PRESENTATION DESIGN SYSTEM  ·  PROPOSAL</a:t>
            </a:r>
            <a:endParaRPr lang="en-US" sz="1000" dirty="0"/>
          </a:p>
        </p:txBody>
      </p:sp>
      <p:sp>
        <p:nvSpPr>
          <p:cNvPr id="25" name="Slide Number Placeholder 0"/>
          <p:cNvSpPr>
            <a:spLocks noGrp="1"/>
          </p:cNvSpPr>
          <p:nvPr>
            <p:ph type="sldNum" sz="quarter" idx="4294967295"/>
          </p:nvPr>
        </p:nvSpPr>
        <p:spPr>
          <a:xfrm>
            <a:off x="10911535" y="6382512"/>
            <a:ext cx="73152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latin typeface="Consolas"/>
                <a:ea typeface="Consolas"/>
                <a:cs typeface="Consolas"/>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apter brea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rtlCol="0"/>
          <a:lstStyle>
            <a:lvl1pPr marL="0" indent="0">
              <a:buNone/>
              <a:defRPr lang="en-US" sz="1000" kern="0" spc="100" dirty="0">
                <a:solidFill>
                  <a:schemeClr val="accent6"/>
                </a:solidFill>
                <a:latin typeface="Consolas" pitchFamily="34" charset="0"/>
                <a:ea typeface="Consolas" pitchFamily="34" charset="-122"/>
                <a:cs typeface="Consolas" pitchFamily="34" charset="-120"/>
              </a:defRPr>
            </a:lvl1pPr>
          </a:lstStyle>
          <a:p>
            <a:pPr marL="0" indent="0">
              <a:buNone/>
            </a:pPr>
            <a:endParaRPr lang="en-US" sz="1000" dirty="0"/>
          </a:p>
        </p:txBody>
      </p:sp>
      <p:sp>
        <p:nvSpPr>
          <p:cNvPr id="3" name="Text 0"/>
          <p:cNvSpPr>
            <a:spLocks noGrp="1"/>
          </p:cNvSpPr>
          <p:nvPr>
            <p:ph type="title" idx="101" hasCustomPrompt="1"/>
          </p:nvPr>
        </p:nvSpPr>
        <p:spPr>
          <a:xfrm>
            <a:off x="548640" y="2011680"/>
            <a:ext cx="9144000" cy="1828800"/>
          </a:xfrm>
          <a:prstGeom prst="rect">
            <a:avLst/>
          </a:prstGeom>
          <a:noFill/>
          <a:ln/>
        </p:spPr>
        <p:txBody>
          <a:bodyPr wrap="square" rtlCol="0"/>
          <a:lstStyle>
            <a:lvl1pPr marL="0" indent="0" algn="l">
              <a:buNone/>
              <a:defRPr lang="en-US" sz="4800" b="1" dirty="0">
                <a:solidFill>
                  <a:schemeClr val="bg2"/>
                </a:solidFill>
              </a:defRPr>
            </a:lvl1pPr>
          </a:lstStyle>
          <a:p>
            <a:pPr marL="0" indent="0" algn="l">
              <a:buNone/>
            </a:pPr>
            <a:endParaRPr lang="en-US" sz="4800" dirty="0"/>
          </a:p>
        </p:txBody>
      </p:sp>
      <p:sp>
        <p:nvSpPr>
          <p:cNvPr id="4" name="Text 0"/>
          <p:cNvSpPr/>
          <p:nvPr/>
        </p:nvSpPr>
        <p:spPr>
          <a:xfrm>
            <a:off x="548640" y="6382512"/>
            <a:ext cx="7315200" cy="228600"/>
          </a:xfrm>
          <a:prstGeom prst="rect">
            <a:avLst/>
          </a:prstGeom>
          <a:noFill/>
          <a:ln/>
        </p:spPr>
        <p:txBody>
          <a:bodyPr wrap="square" lIns="0" tIns="0" rIns="0" bIns="0" rtlCol="0" anchor="ctr"/>
          <a:lstStyle/>
          <a:p>
            <a:pPr marL="0" indent="0">
              <a:buNone/>
            </a:pPr>
            <a:r>
              <a:rPr lang="en-US" sz="1000" kern="0" spc="100" dirty="0">
                <a:solidFill>
                  <a:schemeClr val="accent3"/>
                </a:solidFill>
                <a:latin typeface="Consolas" pitchFamily="34" charset="0"/>
                <a:ea typeface="Consolas" pitchFamily="34" charset="-122"/>
                <a:cs typeface="Consolas" pitchFamily="34" charset="-120"/>
              </a:rPr>
              <a:t>LINTAS GROUP  ·  PRESENTATION DESIGN SYSTEM  ·  PROPOSAL</a:t>
            </a:r>
            <a:endParaRPr lang="en-US" sz="1000" dirty="0"/>
          </a:p>
        </p:txBody>
      </p:sp>
      <p:sp>
        <p:nvSpPr>
          <p:cNvPr id="25" name="Slide Number Placeholder 0"/>
          <p:cNvSpPr>
            <a:spLocks noGrp="1"/>
          </p:cNvSpPr>
          <p:nvPr>
            <p:ph type="sldNum" sz="quarter" idx="4294967295"/>
          </p:nvPr>
        </p:nvSpPr>
        <p:spPr>
          <a:xfrm>
            <a:off x="10911535" y="6382512"/>
            <a:ext cx="73152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63040"/>
            <a:ext cx="8595360" cy="2011680"/>
          </a:xfrm>
          <a:prstGeom prst="rect">
            <a:avLst/>
          </a:prstGeom>
          <a:noFill/>
          <a:ln/>
        </p:spPr>
        <p:txBody>
          <a:bodyPr wrap="square" rtlCol="0"/>
          <a:lstStyle>
            <a:lvl1pPr marL="0" indent="0" algn="l">
              <a:buNone/>
              <a:defRPr lang="en-US" sz="4600" b="1" dirty="0">
                <a:solidFill>
                  <a:schemeClr val="bg2"/>
                </a:solidFill>
              </a:defRPr>
            </a:lvl1pPr>
          </a:lstStyle>
          <a:p>
            <a:pPr marL="0" indent="0" algn="l">
              <a:buNone/>
            </a:pPr>
            <a:endParaRPr lang="en-US" sz="4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382512"/>
            <a:ext cx="73152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crumb"/>
          <p:cNvSpPr txBox="1"/>
          <p:nvPr/>
        </p:nvSpPr>
        <p:spPr>
          <a:xfrm>
            <a:off x="548640" y="548640"/>
            <a:ext cx="8229600" cy="274320"/>
          </a:xfrm>
          <a:prstGeom prst="rect">
            <a:avLst/>
          </a:prstGeom>
          <a:noFill/>
          <a:ln/>
        </p:spPr>
        <p:txBody>
          <a:bodyPr wrap="square" lIns="0" tIns="0" rIns="0" bIns="0" rtlCol="0" anchor="t"/>
          <a:lstStyle/>
          <a:p>
            <a:pPr marL="0" indent="0">
              <a:buNone/>
            </a:pPr>
            <a:r>
              <a:rPr lang="en-US" sz="1100" kern="0" spc="100" dirty="0">
                <a:solidFill>
                  <a:schemeClr val="accent2"/>
                </a:solidFill>
                <a:latin typeface="Consolas" pitchFamily="34" charset="0"/>
                <a:ea typeface="Consolas" pitchFamily="34" charset="-122"/>
                <a:cs typeface="Consolas" pitchFamily="34" charset="-120"/>
              </a:rPr>
              <a:t>LINTAS GROUP  /  BUSINESS DEVELOPMENT  /  DESIGN PROPOSAL</a:t>
            </a:r>
            <a:endParaRPr lang="en-US" sz="1100" dirty="0"/>
          </a:p>
        </p:txBody>
      </p:sp>
      <p:sp>
        <p:nvSpPr>
          <p:cNvPr id="3" name="Text 0"/>
          <p:cNvSpPr>
            <a:spLocks noGrp="1"/>
          </p:cNvSpPr>
          <p:nvPr>
            <p:ph type="title" idx="100" hasCustomPrompt="1"/>
          </p:nvPr>
        </p:nvSpPr>
        <p:spPr>
          <a:xfrm>
            <a:off x="548640" y="1463040"/>
            <a:ext cx="8595360" cy="2011680"/>
          </a:xfrm>
          <a:prstGeom prst="rect">
            <a:avLst/>
          </a:prstGeom>
          <a:noFill/>
          <a:ln/>
        </p:spPr>
        <p:txBody>
          <a:bodyPr wrap="square" lIns="0" tIns="0" rIns="0" bIns="0" rtlCol="0" anchor="t"/>
          <a:lstStyle/>
          <a:p>
            <a:pPr marL="0" indent="0" algn="l">
              <a:buNone/>
            </a:pPr>
            <a:r>
              <a:rPr lang="en-US" sz="4600" b="1" dirty="0">
                <a:solidFill>
                  <a:schemeClr val="bg2"/>
                </a:solidFill>
              </a:rPr>
              <a:t>One family of decks, eight departmental voices</a:t>
            </a:r>
            <a:endParaRPr lang="en-US" sz="4600" dirty="0"/>
          </a:p>
        </p:txBody>
      </p:sp>
      <p:sp>
        <p:nvSpPr>
          <p:cNvPr id="4" name="cover-sub"/>
          <p:cNvSpPr txBox="1"/>
          <p:nvPr/>
        </p:nvSpPr>
        <p:spPr>
          <a:xfrm>
            <a:off x="548640" y="3566160"/>
            <a:ext cx="7863840" cy="822960"/>
          </a:xfrm>
          <a:prstGeom prst="rect">
            <a:avLst/>
          </a:prstGeom>
          <a:noFill/>
          <a:ln/>
        </p:spPr>
        <p:txBody>
          <a:bodyPr wrap="square" lIns="0" tIns="0" rIns="0" bIns="0" rtlCol="0" anchor="t"/>
          <a:lstStyle/>
          <a:p>
            <a:pPr marL="0" indent="0">
              <a:buNone/>
            </a:pPr>
            <a:r>
              <a:rPr lang="en-US" sz="1800" dirty="0">
                <a:solidFill>
                  <a:schemeClr val="accent2"/>
                </a:solidFill>
                <a:latin typeface="Calibri" pitchFamily="34" charset="0"/>
                <a:ea typeface="Calibri" pitchFamily="34" charset="-122"/>
                <a:cs typeface="Calibri" pitchFamily="34" charset="-120"/>
              </a:rPr>
              <a:t>A unified corporate design system for Lintas Group presentations: eight departmental identities, two presentation treatments.</a:t>
            </a:r>
            <a:endParaRPr lang="en-US" sz="1800" dirty="0"/>
          </a:p>
        </p:txBody>
      </p:sp>
      <p:sp>
        <p:nvSpPr>
          <p:cNvPr id="5" name="dot-grid"/>
          <p:cNvSpPr/>
          <p:nvPr/>
        </p:nvSpPr>
        <p:spPr>
          <a:xfrm>
            <a:off x="9464040" y="566928"/>
            <a:ext cx="32004" cy="32004"/>
          </a:xfrm>
          <a:prstGeom prst="ellipse">
            <a:avLst/>
          </a:prstGeom>
          <a:solidFill>
            <a:srgbClr val="CBD7D8">
              <a:alpha val="28000"/>
            </a:srgbClr>
          </a:solidFill>
          <a:ln/>
        </p:spPr>
      </p:sp>
      <p:sp>
        <p:nvSpPr>
          <p:cNvPr id="6" name="dot-grid"/>
          <p:cNvSpPr/>
          <p:nvPr/>
        </p:nvSpPr>
        <p:spPr>
          <a:xfrm>
            <a:off x="9692640" y="566928"/>
            <a:ext cx="32004" cy="32004"/>
          </a:xfrm>
          <a:prstGeom prst="ellipse">
            <a:avLst/>
          </a:prstGeom>
          <a:solidFill>
            <a:srgbClr val="CBD7D8">
              <a:alpha val="28000"/>
            </a:srgbClr>
          </a:solidFill>
          <a:ln/>
        </p:spPr>
      </p:sp>
      <p:sp>
        <p:nvSpPr>
          <p:cNvPr id="7" name="dot-grid"/>
          <p:cNvSpPr/>
          <p:nvPr/>
        </p:nvSpPr>
        <p:spPr>
          <a:xfrm>
            <a:off x="9921240" y="566928"/>
            <a:ext cx="32004" cy="32004"/>
          </a:xfrm>
          <a:prstGeom prst="ellipse">
            <a:avLst/>
          </a:prstGeom>
          <a:solidFill>
            <a:srgbClr val="CBD7D8">
              <a:alpha val="28000"/>
            </a:srgbClr>
          </a:solidFill>
          <a:ln/>
        </p:spPr>
      </p:sp>
      <p:sp>
        <p:nvSpPr>
          <p:cNvPr id="8" name="dot-grid"/>
          <p:cNvSpPr/>
          <p:nvPr/>
        </p:nvSpPr>
        <p:spPr>
          <a:xfrm>
            <a:off x="10149840" y="566928"/>
            <a:ext cx="32004" cy="32004"/>
          </a:xfrm>
          <a:prstGeom prst="ellipse">
            <a:avLst/>
          </a:prstGeom>
          <a:solidFill>
            <a:srgbClr val="CBD7D8">
              <a:alpha val="28000"/>
            </a:srgbClr>
          </a:solidFill>
          <a:ln/>
        </p:spPr>
      </p:sp>
      <p:sp>
        <p:nvSpPr>
          <p:cNvPr id="9" name="dot-grid"/>
          <p:cNvSpPr/>
          <p:nvPr/>
        </p:nvSpPr>
        <p:spPr>
          <a:xfrm>
            <a:off x="10378440" y="566928"/>
            <a:ext cx="32004" cy="32004"/>
          </a:xfrm>
          <a:prstGeom prst="ellipse">
            <a:avLst/>
          </a:prstGeom>
          <a:solidFill>
            <a:srgbClr val="CBD7D8">
              <a:alpha val="28000"/>
            </a:srgbClr>
          </a:solidFill>
          <a:ln/>
        </p:spPr>
      </p:sp>
      <p:sp>
        <p:nvSpPr>
          <p:cNvPr id="10" name="dot-grid"/>
          <p:cNvSpPr/>
          <p:nvPr/>
        </p:nvSpPr>
        <p:spPr>
          <a:xfrm>
            <a:off x="10607040" y="566928"/>
            <a:ext cx="32004" cy="32004"/>
          </a:xfrm>
          <a:prstGeom prst="ellipse">
            <a:avLst/>
          </a:prstGeom>
          <a:solidFill>
            <a:srgbClr val="CBD7D8">
              <a:alpha val="28000"/>
            </a:srgbClr>
          </a:solidFill>
          <a:ln/>
        </p:spPr>
      </p:sp>
      <p:sp>
        <p:nvSpPr>
          <p:cNvPr id="11" name="dot-grid"/>
          <p:cNvSpPr/>
          <p:nvPr/>
        </p:nvSpPr>
        <p:spPr>
          <a:xfrm>
            <a:off x="10835640" y="566928"/>
            <a:ext cx="32004" cy="32004"/>
          </a:xfrm>
          <a:prstGeom prst="ellipse">
            <a:avLst/>
          </a:prstGeom>
          <a:solidFill>
            <a:srgbClr val="CBD7D8">
              <a:alpha val="28000"/>
            </a:srgbClr>
          </a:solidFill>
          <a:ln/>
        </p:spPr>
      </p:sp>
      <p:sp>
        <p:nvSpPr>
          <p:cNvPr id="12" name="dot-grid"/>
          <p:cNvSpPr/>
          <p:nvPr/>
        </p:nvSpPr>
        <p:spPr>
          <a:xfrm>
            <a:off x="11064240" y="566928"/>
            <a:ext cx="32004" cy="32004"/>
          </a:xfrm>
          <a:prstGeom prst="ellipse">
            <a:avLst/>
          </a:prstGeom>
          <a:solidFill>
            <a:srgbClr val="CBD7D8">
              <a:alpha val="28000"/>
            </a:srgbClr>
          </a:solidFill>
          <a:ln/>
        </p:spPr>
      </p:sp>
      <p:sp>
        <p:nvSpPr>
          <p:cNvPr id="13" name="dot-grid"/>
          <p:cNvSpPr/>
          <p:nvPr/>
        </p:nvSpPr>
        <p:spPr>
          <a:xfrm>
            <a:off x="11292840" y="566928"/>
            <a:ext cx="32004" cy="32004"/>
          </a:xfrm>
          <a:prstGeom prst="ellipse">
            <a:avLst/>
          </a:prstGeom>
          <a:solidFill>
            <a:srgbClr val="CBD7D8">
              <a:alpha val="28000"/>
            </a:srgbClr>
          </a:solidFill>
          <a:ln/>
        </p:spPr>
      </p:sp>
      <p:sp>
        <p:nvSpPr>
          <p:cNvPr id="14" name="dot-grid"/>
          <p:cNvSpPr/>
          <p:nvPr/>
        </p:nvSpPr>
        <p:spPr>
          <a:xfrm>
            <a:off x="11521440" y="566928"/>
            <a:ext cx="32004" cy="32004"/>
          </a:xfrm>
          <a:prstGeom prst="ellipse">
            <a:avLst/>
          </a:prstGeom>
          <a:solidFill>
            <a:srgbClr val="CBD7D8">
              <a:alpha val="28000"/>
            </a:srgbClr>
          </a:solidFill>
          <a:ln/>
        </p:spPr>
      </p:sp>
      <p:sp>
        <p:nvSpPr>
          <p:cNvPr id="15" name="dot-grid"/>
          <p:cNvSpPr/>
          <p:nvPr/>
        </p:nvSpPr>
        <p:spPr>
          <a:xfrm>
            <a:off x="9464040" y="795528"/>
            <a:ext cx="32004" cy="32004"/>
          </a:xfrm>
          <a:prstGeom prst="ellipse">
            <a:avLst/>
          </a:prstGeom>
          <a:solidFill>
            <a:srgbClr val="CBD7D8">
              <a:alpha val="28000"/>
            </a:srgbClr>
          </a:solidFill>
          <a:ln/>
        </p:spPr>
      </p:sp>
      <p:sp>
        <p:nvSpPr>
          <p:cNvPr id="16" name="dot-grid"/>
          <p:cNvSpPr/>
          <p:nvPr/>
        </p:nvSpPr>
        <p:spPr>
          <a:xfrm>
            <a:off x="9692640" y="795528"/>
            <a:ext cx="32004" cy="32004"/>
          </a:xfrm>
          <a:prstGeom prst="ellipse">
            <a:avLst/>
          </a:prstGeom>
          <a:solidFill>
            <a:srgbClr val="CBD7D8">
              <a:alpha val="28000"/>
            </a:srgbClr>
          </a:solidFill>
          <a:ln/>
        </p:spPr>
      </p:sp>
      <p:sp>
        <p:nvSpPr>
          <p:cNvPr id="17" name="dot-grid"/>
          <p:cNvSpPr/>
          <p:nvPr/>
        </p:nvSpPr>
        <p:spPr>
          <a:xfrm>
            <a:off x="9921240" y="795528"/>
            <a:ext cx="32004" cy="32004"/>
          </a:xfrm>
          <a:prstGeom prst="ellipse">
            <a:avLst/>
          </a:prstGeom>
          <a:solidFill>
            <a:srgbClr val="CBD7D8">
              <a:alpha val="28000"/>
            </a:srgbClr>
          </a:solidFill>
          <a:ln/>
        </p:spPr>
      </p:sp>
      <p:sp>
        <p:nvSpPr>
          <p:cNvPr id="18" name="dot-grid"/>
          <p:cNvSpPr/>
          <p:nvPr/>
        </p:nvSpPr>
        <p:spPr>
          <a:xfrm>
            <a:off x="10149840" y="795528"/>
            <a:ext cx="32004" cy="32004"/>
          </a:xfrm>
          <a:prstGeom prst="ellipse">
            <a:avLst/>
          </a:prstGeom>
          <a:solidFill>
            <a:srgbClr val="CBD7D8">
              <a:alpha val="28000"/>
            </a:srgbClr>
          </a:solidFill>
          <a:ln/>
        </p:spPr>
      </p:sp>
      <p:sp>
        <p:nvSpPr>
          <p:cNvPr id="19" name="dot-grid"/>
          <p:cNvSpPr/>
          <p:nvPr/>
        </p:nvSpPr>
        <p:spPr>
          <a:xfrm>
            <a:off x="10378440" y="795528"/>
            <a:ext cx="32004" cy="32004"/>
          </a:xfrm>
          <a:prstGeom prst="ellipse">
            <a:avLst/>
          </a:prstGeom>
          <a:solidFill>
            <a:srgbClr val="CBD7D8">
              <a:alpha val="28000"/>
            </a:srgbClr>
          </a:solidFill>
          <a:ln/>
        </p:spPr>
      </p:sp>
      <p:sp>
        <p:nvSpPr>
          <p:cNvPr id="20" name="dot-grid"/>
          <p:cNvSpPr/>
          <p:nvPr/>
        </p:nvSpPr>
        <p:spPr>
          <a:xfrm>
            <a:off x="10607040" y="795528"/>
            <a:ext cx="32004" cy="32004"/>
          </a:xfrm>
          <a:prstGeom prst="ellipse">
            <a:avLst/>
          </a:prstGeom>
          <a:solidFill>
            <a:srgbClr val="CBD7D8">
              <a:alpha val="28000"/>
            </a:srgbClr>
          </a:solidFill>
          <a:ln/>
        </p:spPr>
      </p:sp>
      <p:sp>
        <p:nvSpPr>
          <p:cNvPr id="21" name="dot-grid"/>
          <p:cNvSpPr/>
          <p:nvPr/>
        </p:nvSpPr>
        <p:spPr>
          <a:xfrm>
            <a:off x="10835640" y="795528"/>
            <a:ext cx="32004" cy="32004"/>
          </a:xfrm>
          <a:prstGeom prst="ellipse">
            <a:avLst/>
          </a:prstGeom>
          <a:solidFill>
            <a:srgbClr val="CBD7D8">
              <a:alpha val="28000"/>
            </a:srgbClr>
          </a:solidFill>
          <a:ln/>
        </p:spPr>
      </p:sp>
      <p:sp>
        <p:nvSpPr>
          <p:cNvPr id="22" name="dot-grid"/>
          <p:cNvSpPr/>
          <p:nvPr/>
        </p:nvSpPr>
        <p:spPr>
          <a:xfrm>
            <a:off x="11064240" y="795528"/>
            <a:ext cx="32004" cy="32004"/>
          </a:xfrm>
          <a:prstGeom prst="ellipse">
            <a:avLst/>
          </a:prstGeom>
          <a:solidFill>
            <a:srgbClr val="CBD7D8">
              <a:alpha val="28000"/>
            </a:srgbClr>
          </a:solidFill>
          <a:ln/>
        </p:spPr>
      </p:sp>
      <p:sp>
        <p:nvSpPr>
          <p:cNvPr id="23" name="dot-grid"/>
          <p:cNvSpPr/>
          <p:nvPr/>
        </p:nvSpPr>
        <p:spPr>
          <a:xfrm>
            <a:off x="11292840" y="795528"/>
            <a:ext cx="32004" cy="32004"/>
          </a:xfrm>
          <a:prstGeom prst="ellipse">
            <a:avLst/>
          </a:prstGeom>
          <a:solidFill>
            <a:srgbClr val="CBD7D8">
              <a:alpha val="28000"/>
            </a:srgbClr>
          </a:solidFill>
          <a:ln/>
        </p:spPr>
      </p:sp>
      <p:sp>
        <p:nvSpPr>
          <p:cNvPr id="24" name="dot-grid"/>
          <p:cNvSpPr/>
          <p:nvPr/>
        </p:nvSpPr>
        <p:spPr>
          <a:xfrm>
            <a:off x="11521440" y="795528"/>
            <a:ext cx="32004" cy="32004"/>
          </a:xfrm>
          <a:prstGeom prst="ellipse">
            <a:avLst/>
          </a:prstGeom>
          <a:solidFill>
            <a:srgbClr val="CBD7D8">
              <a:alpha val="28000"/>
            </a:srgbClr>
          </a:solidFill>
          <a:ln/>
        </p:spPr>
      </p:sp>
      <p:sp>
        <p:nvSpPr>
          <p:cNvPr id="25" name="dot-grid"/>
          <p:cNvSpPr/>
          <p:nvPr/>
        </p:nvSpPr>
        <p:spPr>
          <a:xfrm>
            <a:off x="9464040" y="1024128"/>
            <a:ext cx="32004" cy="32004"/>
          </a:xfrm>
          <a:prstGeom prst="ellipse">
            <a:avLst/>
          </a:prstGeom>
          <a:solidFill>
            <a:srgbClr val="CBD7D8">
              <a:alpha val="28000"/>
            </a:srgbClr>
          </a:solidFill>
          <a:ln/>
        </p:spPr>
      </p:sp>
      <p:sp>
        <p:nvSpPr>
          <p:cNvPr id="26" name="dot-grid"/>
          <p:cNvSpPr/>
          <p:nvPr/>
        </p:nvSpPr>
        <p:spPr>
          <a:xfrm>
            <a:off x="9692640" y="1024128"/>
            <a:ext cx="32004" cy="32004"/>
          </a:xfrm>
          <a:prstGeom prst="ellipse">
            <a:avLst/>
          </a:prstGeom>
          <a:solidFill>
            <a:srgbClr val="CBD7D8">
              <a:alpha val="28000"/>
            </a:srgbClr>
          </a:solidFill>
          <a:ln/>
        </p:spPr>
      </p:sp>
      <p:sp>
        <p:nvSpPr>
          <p:cNvPr id="27" name="dot-grid"/>
          <p:cNvSpPr/>
          <p:nvPr/>
        </p:nvSpPr>
        <p:spPr>
          <a:xfrm>
            <a:off x="9921240" y="1024128"/>
            <a:ext cx="32004" cy="32004"/>
          </a:xfrm>
          <a:prstGeom prst="ellipse">
            <a:avLst/>
          </a:prstGeom>
          <a:solidFill>
            <a:srgbClr val="CBD7D8">
              <a:alpha val="28000"/>
            </a:srgbClr>
          </a:solidFill>
          <a:ln/>
        </p:spPr>
      </p:sp>
      <p:sp>
        <p:nvSpPr>
          <p:cNvPr id="28" name="dot-grid"/>
          <p:cNvSpPr/>
          <p:nvPr/>
        </p:nvSpPr>
        <p:spPr>
          <a:xfrm>
            <a:off x="10149840" y="1024128"/>
            <a:ext cx="32004" cy="32004"/>
          </a:xfrm>
          <a:prstGeom prst="ellipse">
            <a:avLst/>
          </a:prstGeom>
          <a:solidFill>
            <a:srgbClr val="CBD7D8">
              <a:alpha val="28000"/>
            </a:srgbClr>
          </a:solidFill>
          <a:ln/>
        </p:spPr>
      </p:sp>
      <p:sp>
        <p:nvSpPr>
          <p:cNvPr id="29" name="dot-grid"/>
          <p:cNvSpPr/>
          <p:nvPr/>
        </p:nvSpPr>
        <p:spPr>
          <a:xfrm>
            <a:off x="10378440" y="1024128"/>
            <a:ext cx="32004" cy="32004"/>
          </a:xfrm>
          <a:prstGeom prst="ellipse">
            <a:avLst/>
          </a:prstGeom>
          <a:solidFill>
            <a:srgbClr val="CBD7D8">
              <a:alpha val="28000"/>
            </a:srgbClr>
          </a:solidFill>
          <a:ln/>
        </p:spPr>
      </p:sp>
      <p:sp>
        <p:nvSpPr>
          <p:cNvPr id="30" name="dot-grid"/>
          <p:cNvSpPr/>
          <p:nvPr/>
        </p:nvSpPr>
        <p:spPr>
          <a:xfrm>
            <a:off x="10607040" y="1024128"/>
            <a:ext cx="32004" cy="32004"/>
          </a:xfrm>
          <a:prstGeom prst="ellipse">
            <a:avLst/>
          </a:prstGeom>
          <a:solidFill>
            <a:srgbClr val="CBD7D8">
              <a:alpha val="28000"/>
            </a:srgbClr>
          </a:solidFill>
          <a:ln/>
        </p:spPr>
      </p:sp>
      <p:sp>
        <p:nvSpPr>
          <p:cNvPr id="31" name="dot-grid"/>
          <p:cNvSpPr/>
          <p:nvPr/>
        </p:nvSpPr>
        <p:spPr>
          <a:xfrm>
            <a:off x="10835640" y="1024128"/>
            <a:ext cx="32004" cy="32004"/>
          </a:xfrm>
          <a:prstGeom prst="ellipse">
            <a:avLst/>
          </a:prstGeom>
          <a:solidFill>
            <a:srgbClr val="CBD7D8">
              <a:alpha val="28000"/>
            </a:srgbClr>
          </a:solidFill>
          <a:ln/>
        </p:spPr>
      </p:sp>
      <p:sp>
        <p:nvSpPr>
          <p:cNvPr id="32" name="dot-grid"/>
          <p:cNvSpPr/>
          <p:nvPr/>
        </p:nvSpPr>
        <p:spPr>
          <a:xfrm>
            <a:off x="11064240" y="1024128"/>
            <a:ext cx="32004" cy="32004"/>
          </a:xfrm>
          <a:prstGeom prst="ellipse">
            <a:avLst/>
          </a:prstGeom>
          <a:solidFill>
            <a:srgbClr val="CBD7D8">
              <a:alpha val="28000"/>
            </a:srgbClr>
          </a:solidFill>
          <a:ln/>
        </p:spPr>
      </p:sp>
      <p:sp>
        <p:nvSpPr>
          <p:cNvPr id="33" name="dot-grid"/>
          <p:cNvSpPr/>
          <p:nvPr/>
        </p:nvSpPr>
        <p:spPr>
          <a:xfrm>
            <a:off x="11292840" y="1024128"/>
            <a:ext cx="32004" cy="32004"/>
          </a:xfrm>
          <a:prstGeom prst="ellipse">
            <a:avLst/>
          </a:prstGeom>
          <a:solidFill>
            <a:srgbClr val="CBD7D8">
              <a:alpha val="28000"/>
            </a:srgbClr>
          </a:solidFill>
          <a:ln/>
        </p:spPr>
      </p:sp>
      <p:sp>
        <p:nvSpPr>
          <p:cNvPr id="34" name="dot-grid"/>
          <p:cNvSpPr/>
          <p:nvPr/>
        </p:nvSpPr>
        <p:spPr>
          <a:xfrm>
            <a:off x="11521440" y="1024128"/>
            <a:ext cx="32004" cy="32004"/>
          </a:xfrm>
          <a:prstGeom prst="ellipse">
            <a:avLst/>
          </a:prstGeom>
          <a:solidFill>
            <a:srgbClr val="CBD7D8">
              <a:alpha val="28000"/>
            </a:srgbClr>
          </a:solidFill>
          <a:ln/>
        </p:spPr>
      </p:sp>
      <p:sp>
        <p:nvSpPr>
          <p:cNvPr id="35" name="dot-grid"/>
          <p:cNvSpPr/>
          <p:nvPr/>
        </p:nvSpPr>
        <p:spPr>
          <a:xfrm>
            <a:off x="9464040" y="1252728"/>
            <a:ext cx="32004" cy="32004"/>
          </a:xfrm>
          <a:prstGeom prst="ellipse">
            <a:avLst/>
          </a:prstGeom>
          <a:solidFill>
            <a:srgbClr val="CBD7D8">
              <a:alpha val="28000"/>
            </a:srgbClr>
          </a:solidFill>
          <a:ln/>
        </p:spPr>
      </p:sp>
      <p:sp>
        <p:nvSpPr>
          <p:cNvPr id="36" name="dot-grid"/>
          <p:cNvSpPr/>
          <p:nvPr/>
        </p:nvSpPr>
        <p:spPr>
          <a:xfrm>
            <a:off x="9692640" y="1252728"/>
            <a:ext cx="32004" cy="32004"/>
          </a:xfrm>
          <a:prstGeom prst="ellipse">
            <a:avLst/>
          </a:prstGeom>
          <a:solidFill>
            <a:srgbClr val="CBD7D8">
              <a:alpha val="28000"/>
            </a:srgbClr>
          </a:solidFill>
          <a:ln/>
        </p:spPr>
      </p:sp>
      <p:sp>
        <p:nvSpPr>
          <p:cNvPr id="37" name="dot-grid"/>
          <p:cNvSpPr/>
          <p:nvPr/>
        </p:nvSpPr>
        <p:spPr>
          <a:xfrm>
            <a:off x="9921240" y="1252728"/>
            <a:ext cx="32004" cy="32004"/>
          </a:xfrm>
          <a:prstGeom prst="ellipse">
            <a:avLst/>
          </a:prstGeom>
          <a:solidFill>
            <a:srgbClr val="CBD7D8">
              <a:alpha val="28000"/>
            </a:srgbClr>
          </a:solidFill>
          <a:ln/>
        </p:spPr>
      </p:sp>
      <p:sp>
        <p:nvSpPr>
          <p:cNvPr id="38" name="dot-grid"/>
          <p:cNvSpPr/>
          <p:nvPr/>
        </p:nvSpPr>
        <p:spPr>
          <a:xfrm>
            <a:off x="10149840" y="1252728"/>
            <a:ext cx="32004" cy="32004"/>
          </a:xfrm>
          <a:prstGeom prst="ellipse">
            <a:avLst/>
          </a:prstGeom>
          <a:solidFill>
            <a:srgbClr val="CBD7D8">
              <a:alpha val="28000"/>
            </a:srgbClr>
          </a:solidFill>
          <a:ln/>
        </p:spPr>
      </p:sp>
      <p:sp>
        <p:nvSpPr>
          <p:cNvPr id="39" name="dot-grid"/>
          <p:cNvSpPr/>
          <p:nvPr/>
        </p:nvSpPr>
        <p:spPr>
          <a:xfrm>
            <a:off x="10378440" y="1252728"/>
            <a:ext cx="32004" cy="32004"/>
          </a:xfrm>
          <a:prstGeom prst="ellipse">
            <a:avLst/>
          </a:prstGeom>
          <a:solidFill>
            <a:srgbClr val="CBD7D8">
              <a:alpha val="28000"/>
            </a:srgbClr>
          </a:solidFill>
          <a:ln/>
        </p:spPr>
      </p:sp>
      <p:sp>
        <p:nvSpPr>
          <p:cNvPr id="40" name="dot-grid"/>
          <p:cNvSpPr/>
          <p:nvPr/>
        </p:nvSpPr>
        <p:spPr>
          <a:xfrm>
            <a:off x="10607040" y="1252728"/>
            <a:ext cx="32004" cy="32004"/>
          </a:xfrm>
          <a:prstGeom prst="ellipse">
            <a:avLst/>
          </a:prstGeom>
          <a:solidFill>
            <a:srgbClr val="CBD7D8">
              <a:alpha val="28000"/>
            </a:srgbClr>
          </a:solidFill>
          <a:ln/>
        </p:spPr>
      </p:sp>
      <p:sp>
        <p:nvSpPr>
          <p:cNvPr id="41" name="dot-grid"/>
          <p:cNvSpPr/>
          <p:nvPr/>
        </p:nvSpPr>
        <p:spPr>
          <a:xfrm>
            <a:off x="10835640" y="1252728"/>
            <a:ext cx="32004" cy="32004"/>
          </a:xfrm>
          <a:prstGeom prst="ellipse">
            <a:avLst/>
          </a:prstGeom>
          <a:solidFill>
            <a:srgbClr val="CBD7D8">
              <a:alpha val="28000"/>
            </a:srgbClr>
          </a:solidFill>
          <a:ln/>
        </p:spPr>
      </p:sp>
      <p:sp>
        <p:nvSpPr>
          <p:cNvPr id="42" name="dot-grid"/>
          <p:cNvSpPr/>
          <p:nvPr/>
        </p:nvSpPr>
        <p:spPr>
          <a:xfrm>
            <a:off x="11064240" y="1252728"/>
            <a:ext cx="32004" cy="32004"/>
          </a:xfrm>
          <a:prstGeom prst="ellipse">
            <a:avLst/>
          </a:prstGeom>
          <a:solidFill>
            <a:srgbClr val="CBD7D8">
              <a:alpha val="28000"/>
            </a:srgbClr>
          </a:solidFill>
          <a:ln/>
        </p:spPr>
      </p:sp>
      <p:sp>
        <p:nvSpPr>
          <p:cNvPr id="43" name="dot-grid"/>
          <p:cNvSpPr/>
          <p:nvPr/>
        </p:nvSpPr>
        <p:spPr>
          <a:xfrm>
            <a:off x="11292840" y="1252728"/>
            <a:ext cx="32004" cy="32004"/>
          </a:xfrm>
          <a:prstGeom prst="ellipse">
            <a:avLst/>
          </a:prstGeom>
          <a:solidFill>
            <a:srgbClr val="CBD7D8">
              <a:alpha val="28000"/>
            </a:srgbClr>
          </a:solidFill>
          <a:ln/>
        </p:spPr>
      </p:sp>
      <p:sp>
        <p:nvSpPr>
          <p:cNvPr id="44" name="dot-grid"/>
          <p:cNvSpPr/>
          <p:nvPr/>
        </p:nvSpPr>
        <p:spPr>
          <a:xfrm>
            <a:off x="11521440" y="1252728"/>
            <a:ext cx="32004" cy="32004"/>
          </a:xfrm>
          <a:prstGeom prst="ellipse">
            <a:avLst/>
          </a:prstGeom>
          <a:solidFill>
            <a:srgbClr val="CBD7D8">
              <a:alpha val="28000"/>
            </a:srgbClr>
          </a:solidFill>
          <a:ln/>
        </p:spPr>
      </p:sp>
      <p:sp>
        <p:nvSpPr>
          <p:cNvPr id="45" name="dot-grid"/>
          <p:cNvSpPr/>
          <p:nvPr/>
        </p:nvSpPr>
        <p:spPr>
          <a:xfrm>
            <a:off x="9464040" y="1481328"/>
            <a:ext cx="32004" cy="32004"/>
          </a:xfrm>
          <a:prstGeom prst="ellipse">
            <a:avLst/>
          </a:prstGeom>
          <a:solidFill>
            <a:srgbClr val="CBD7D8">
              <a:alpha val="28000"/>
            </a:srgbClr>
          </a:solidFill>
          <a:ln/>
        </p:spPr>
      </p:sp>
      <p:sp>
        <p:nvSpPr>
          <p:cNvPr id="46" name="dot-grid"/>
          <p:cNvSpPr/>
          <p:nvPr/>
        </p:nvSpPr>
        <p:spPr>
          <a:xfrm>
            <a:off x="9692640" y="1481328"/>
            <a:ext cx="32004" cy="32004"/>
          </a:xfrm>
          <a:prstGeom prst="ellipse">
            <a:avLst/>
          </a:prstGeom>
          <a:solidFill>
            <a:srgbClr val="CBD7D8">
              <a:alpha val="28000"/>
            </a:srgbClr>
          </a:solidFill>
          <a:ln/>
        </p:spPr>
      </p:sp>
      <p:sp>
        <p:nvSpPr>
          <p:cNvPr id="47" name="dot-grid"/>
          <p:cNvSpPr/>
          <p:nvPr/>
        </p:nvSpPr>
        <p:spPr>
          <a:xfrm>
            <a:off x="9921240" y="1481328"/>
            <a:ext cx="32004" cy="32004"/>
          </a:xfrm>
          <a:prstGeom prst="ellipse">
            <a:avLst/>
          </a:prstGeom>
          <a:solidFill>
            <a:srgbClr val="CBD7D8">
              <a:alpha val="28000"/>
            </a:srgbClr>
          </a:solidFill>
          <a:ln/>
        </p:spPr>
      </p:sp>
      <p:sp>
        <p:nvSpPr>
          <p:cNvPr id="48" name="dot-grid"/>
          <p:cNvSpPr/>
          <p:nvPr/>
        </p:nvSpPr>
        <p:spPr>
          <a:xfrm>
            <a:off x="10149840" y="1481328"/>
            <a:ext cx="32004" cy="32004"/>
          </a:xfrm>
          <a:prstGeom prst="ellipse">
            <a:avLst/>
          </a:prstGeom>
          <a:solidFill>
            <a:srgbClr val="CBD7D8">
              <a:alpha val="28000"/>
            </a:srgbClr>
          </a:solidFill>
          <a:ln/>
        </p:spPr>
      </p:sp>
      <p:sp>
        <p:nvSpPr>
          <p:cNvPr id="49" name="dot-grid"/>
          <p:cNvSpPr/>
          <p:nvPr/>
        </p:nvSpPr>
        <p:spPr>
          <a:xfrm>
            <a:off x="10378440" y="1481328"/>
            <a:ext cx="32004" cy="32004"/>
          </a:xfrm>
          <a:prstGeom prst="ellipse">
            <a:avLst/>
          </a:prstGeom>
          <a:solidFill>
            <a:srgbClr val="CBD7D8">
              <a:alpha val="28000"/>
            </a:srgbClr>
          </a:solidFill>
          <a:ln/>
        </p:spPr>
      </p:sp>
      <p:sp>
        <p:nvSpPr>
          <p:cNvPr id="50" name="dot-grid"/>
          <p:cNvSpPr/>
          <p:nvPr/>
        </p:nvSpPr>
        <p:spPr>
          <a:xfrm>
            <a:off x="10607040" y="1481328"/>
            <a:ext cx="32004" cy="32004"/>
          </a:xfrm>
          <a:prstGeom prst="ellipse">
            <a:avLst/>
          </a:prstGeom>
          <a:solidFill>
            <a:srgbClr val="CBD7D8">
              <a:alpha val="28000"/>
            </a:srgbClr>
          </a:solidFill>
          <a:ln/>
        </p:spPr>
      </p:sp>
      <p:sp>
        <p:nvSpPr>
          <p:cNvPr id="51" name="dot-grid"/>
          <p:cNvSpPr/>
          <p:nvPr/>
        </p:nvSpPr>
        <p:spPr>
          <a:xfrm>
            <a:off x="10835640" y="1481328"/>
            <a:ext cx="32004" cy="32004"/>
          </a:xfrm>
          <a:prstGeom prst="ellipse">
            <a:avLst/>
          </a:prstGeom>
          <a:solidFill>
            <a:srgbClr val="CBD7D8">
              <a:alpha val="28000"/>
            </a:srgbClr>
          </a:solidFill>
          <a:ln/>
        </p:spPr>
      </p:sp>
      <p:sp>
        <p:nvSpPr>
          <p:cNvPr id="52" name="dot-grid"/>
          <p:cNvSpPr/>
          <p:nvPr/>
        </p:nvSpPr>
        <p:spPr>
          <a:xfrm>
            <a:off x="11064240" y="1481328"/>
            <a:ext cx="32004" cy="32004"/>
          </a:xfrm>
          <a:prstGeom prst="ellipse">
            <a:avLst/>
          </a:prstGeom>
          <a:solidFill>
            <a:srgbClr val="CBD7D8">
              <a:alpha val="28000"/>
            </a:srgbClr>
          </a:solidFill>
          <a:ln/>
        </p:spPr>
      </p:sp>
      <p:sp>
        <p:nvSpPr>
          <p:cNvPr id="53" name="dot-grid"/>
          <p:cNvSpPr/>
          <p:nvPr/>
        </p:nvSpPr>
        <p:spPr>
          <a:xfrm>
            <a:off x="11292840" y="1481328"/>
            <a:ext cx="32004" cy="32004"/>
          </a:xfrm>
          <a:prstGeom prst="ellipse">
            <a:avLst/>
          </a:prstGeom>
          <a:solidFill>
            <a:srgbClr val="CBD7D8">
              <a:alpha val="28000"/>
            </a:srgbClr>
          </a:solidFill>
          <a:ln/>
        </p:spPr>
      </p:sp>
      <p:sp>
        <p:nvSpPr>
          <p:cNvPr id="54" name="dot-grid"/>
          <p:cNvSpPr/>
          <p:nvPr/>
        </p:nvSpPr>
        <p:spPr>
          <a:xfrm>
            <a:off x="11521440" y="1481328"/>
            <a:ext cx="32004" cy="32004"/>
          </a:xfrm>
          <a:prstGeom prst="ellipse">
            <a:avLst/>
          </a:prstGeom>
          <a:solidFill>
            <a:srgbClr val="CBD7D8">
              <a:alpha val="28000"/>
            </a:srgbClr>
          </a:solidFill>
          <a:ln/>
        </p:spPr>
      </p:sp>
      <p:sp>
        <p:nvSpPr>
          <p:cNvPr id="55" name="dot-grid"/>
          <p:cNvSpPr/>
          <p:nvPr/>
        </p:nvSpPr>
        <p:spPr>
          <a:xfrm>
            <a:off x="9464040" y="1709928"/>
            <a:ext cx="32004" cy="32004"/>
          </a:xfrm>
          <a:prstGeom prst="ellipse">
            <a:avLst/>
          </a:prstGeom>
          <a:solidFill>
            <a:srgbClr val="CBD7D8">
              <a:alpha val="28000"/>
            </a:srgbClr>
          </a:solidFill>
          <a:ln/>
        </p:spPr>
      </p:sp>
      <p:sp>
        <p:nvSpPr>
          <p:cNvPr id="56" name="dot-grid"/>
          <p:cNvSpPr/>
          <p:nvPr/>
        </p:nvSpPr>
        <p:spPr>
          <a:xfrm>
            <a:off x="9692640" y="1709928"/>
            <a:ext cx="32004" cy="32004"/>
          </a:xfrm>
          <a:prstGeom prst="ellipse">
            <a:avLst/>
          </a:prstGeom>
          <a:solidFill>
            <a:srgbClr val="CBD7D8">
              <a:alpha val="28000"/>
            </a:srgbClr>
          </a:solidFill>
          <a:ln/>
        </p:spPr>
      </p:sp>
      <p:sp>
        <p:nvSpPr>
          <p:cNvPr id="57" name="dot-grid"/>
          <p:cNvSpPr/>
          <p:nvPr/>
        </p:nvSpPr>
        <p:spPr>
          <a:xfrm>
            <a:off x="9921240" y="1709928"/>
            <a:ext cx="32004" cy="32004"/>
          </a:xfrm>
          <a:prstGeom prst="ellipse">
            <a:avLst/>
          </a:prstGeom>
          <a:solidFill>
            <a:srgbClr val="CBD7D8">
              <a:alpha val="28000"/>
            </a:srgbClr>
          </a:solidFill>
          <a:ln/>
        </p:spPr>
      </p:sp>
      <p:sp>
        <p:nvSpPr>
          <p:cNvPr id="58" name="dot-grid"/>
          <p:cNvSpPr/>
          <p:nvPr/>
        </p:nvSpPr>
        <p:spPr>
          <a:xfrm>
            <a:off x="10149840" y="1709928"/>
            <a:ext cx="32004" cy="32004"/>
          </a:xfrm>
          <a:prstGeom prst="ellipse">
            <a:avLst/>
          </a:prstGeom>
          <a:solidFill>
            <a:srgbClr val="CBD7D8">
              <a:alpha val="28000"/>
            </a:srgbClr>
          </a:solidFill>
          <a:ln/>
        </p:spPr>
      </p:sp>
      <p:sp>
        <p:nvSpPr>
          <p:cNvPr id="59" name="dot-grid"/>
          <p:cNvSpPr/>
          <p:nvPr/>
        </p:nvSpPr>
        <p:spPr>
          <a:xfrm>
            <a:off x="10378440" y="1709928"/>
            <a:ext cx="32004" cy="32004"/>
          </a:xfrm>
          <a:prstGeom prst="ellipse">
            <a:avLst/>
          </a:prstGeom>
          <a:solidFill>
            <a:srgbClr val="CBD7D8">
              <a:alpha val="28000"/>
            </a:srgbClr>
          </a:solidFill>
          <a:ln/>
        </p:spPr>
      </p:sp>
      <p:sp>
        <p:nvSpPr>
          <p:cNvPr id="60" name="dot-grid"/>
          <p:cNvSpPr/>
          <p:nvPr/>
        </p:nvSpPr>
        <p:spPr>
          <a:xfrm>
            <a:off x="10607040" y="1709928"/>
            <a:ext cx="32004" cy="32004"/>
          </a:xfrm>
          <a:prstGeom prst="ellipse">
            <a:avLst/>
          </a:prstGeom>
          <a:solidFill>
            <a:srgbClr val="CBD7D8">
              <a:alpha val="28000"/>
            </a:srgbClr>
          </a:solidFill>
          <a:ln/>
        </p:spPr>
      </p:sp>
      <p:sp>
        <p:nvSpPr>
          <p:cNvPr id="61" name="dot-grid"/>
          <p:cNvSpPr/>
          <p:nvPr/>
        </p:nvSpPr>
        <p:spPr>
          <a:xfrm>
            <a:off x="10835640" y="1709928"/>
            <a:ext cx="32004" cy="32004"/>
          </a:xfrm>
          <a:prstGeom prst="ellipse">
            <a:avLst/>
          </a:prstGeom>
          <a:solidFill>
            <a:srgbClr val="CBD7D8">
              <a:alpha val="28000"/>
            </a:srgbClr>
          </a:solidFill>
          <a:ln/>
        </p:spPr>
      </p:sp>
      <p:sp>
        <p:nvSpPr>
          <p:cNvPr id="62" name="dot-grid"/>
          <p:cNvSpPr/>
          <p:nvPr/>
        </p:nvSpPr>
        <p:spPr>
          <a:xfrm>
            <a:off x="11064240" y="1709928"/>
            <a:ext cx="32004" cy="32004"/>
          </a:xfrm>
          <a:prstGeom prst="ellipse">
            <a:avLst/>
          </a:prstGeom>
          <a:solidFill>
            <a:srgbClr val="CBD7D8">
              <a:alpha val="28000"/>
            </a:srgbClr>
          </a:solidFill>
          <a:ln/>
        </p:spPr>
      </p:sp>
      <p:sp>
        <p:nvSpPr>
          <p:cNvPr id="63" name="dot-grid"/>
          <p:cNvSpPr/>
          <p:nvPr/>
        </p:nvSpPr>
        <p:spPr>
          <a:xfrm>
            <a:off x="11292840" y="1709928"/>
            <a:ext cx="32004" cy="32004"/>
          </a:xfrm>
          <a:prstGeom prst="ellipse">
            <a:avLst/>
          </a:prstGeom>
          <a:solidFill>
            <a:srgbClr val="CBD7D8">
              <a:alpha val="28000"/>
            </a:srgbClr>
          </a:solidFill>
          <a:ln/>
        </p:spPr>
      </p:sp>
      <p:sp>
        <p:nvSpPr>
          <p:cNvPr id="64" name="dot-grid"/>
          <p:cNvSpPr/>
          <p:nvPr/>
        </p:nvSpPr>
        <p:spPr>
          <a:xfrm>
            <a:off x="11521440" y="1709928"/>
            <a:ext cx="32004" cy="32004"/>
          </a:xfrm>
          <a:prstGeom prst="ellipse">
            <a:avLst/>
          </a:prstGeom>
          <a:solidFill>
            <a:srgbClr val="CBD7D8">
              <a:alpha val="28000"/>
            </a:srgbClr>
          </a:solidFill>
          <a:ln/>
        </p:spPr>
      </p:sp>
      <p:sp>
        <p:nvSpPr>
          <p:cNvPr id="65" name="dot-grid"/>
          <p:cNvSpPr/>
          <p:nvPr/>
        </p:nvSpPr>
        <p:spPr>
          <a:xfrm>
            <a:off x="9464040" y="1938528"/>
            <a:ext cx="32004" cy="32004"/>
          </a:xfrm>
          <a:prstGeom prst="ellipse">
            <a:avLst/>
          </a:prstGeom>
          <a:solidFill>
            <a:srgbClr val="CBD7D8">
              <a:alpha val="28000"/>
            </a:srgbClr>
          </a:solidFill>
          <a:ln/>
        </p:spPr>
      </p:sp>
      <p:sp>
        <p:nvSpPr>
          <p:cNvPr id="66" name="dot-grid"/>
          <p:cNvSpPr/>
          <p:nvPr/>
        </p:nvSpPr>
        <p:spPr>
          <a:xfrm>
            <a:off x="9692640" y="1938528"/>
            <a:ext cx="32004" cy="32004"/>
          </a:xfrm>
          <a:prstGeom prst="ellipse">
            <a:avLst/>
          </a:prstGeom>
          <a:solidFill>
            <a:srgbClr val="CBD7D8">
              <a:alpha val="28000"/>
            </a:srgbClr>
          </a:solidFill>
          <a:ln/>
        </p:spPr>
      </p:sp>
      <p:sp>
        <p:nvSpPr>
          <p:cNvPr id="67" name="dot-grid"/>
          <p:cNvSpPr/>
          <p:nvPr/>
        </p:nvSpPr>
        <p:spPr>
          <a:xfrm>
            <a:off x="9921240" y="1938528"/>
            <a:ext cx="32004" cy="32004"/>
          </a:xfrm>
          <a:prstGeom prst="ellipse">
            <a:avLst/>
          </a:prstGeom>
          <a:solidFill>
            <a:srgbClr val="CBD7D8">
              <a:alpha val="28000"/>
            </a:srgbClr>
          </a:solidFill>
          <a:ln/>
        </p:spPr>
      </p:sp>
      <p:sp>
        <p:nvSpPr>
          <p:cNvPr id="68" name="dot-grid"/>
          <p:cNvSpPr/>
          <p:nvPr/>
        </p:nvSpPr>
        <p:spPr>
          <a:xfrm>
            <a:off x="10149840" y="1938528"/>
            <a:ext cx="32004" cy="32004"/>
          </a:xfrm>
          <a:prstGeom prst="ellipse">
            <a:avLst/>
          </a:prstGeom>
          <a:solidFill>
            <a:srgbClr val="CBD7D8">
              <a:alpha val="28000"/>
            </a:srgbClr>
          </a:solidFill>
          <a:ln/>
        </p:spPr>
      </p:sp>
      <p:sp>
        <p:nvSpPr>
          <p:cNvPr id="69" name="dot-grid"/>
          <p:cNvSpPr/>
          <p:nvPr/>
        </p:nvSpPr>
        <p:spPr>
          <a:xfrm>
            <a:off x="10378440" y="1938528"/>
            <a:ext cx="32004" cy="32004"/>
          </a:xfrm>
          <a:prstGeom prst="ellipse">
            <a:avLst/>
          </a:prstGeom>
          <a:solidFill>
            <a:srgbClr val="CBD7D8">
              <a:alpha val="28000"/>
            </a:srgbClr>
          </a:solidFill>
          <a:ln/>
        </p:spPr>
      </p:sp>
      <p:sp>
        <p:nvSpPr>
          <p:cNvPr id="70" name="dot-grid"/>
          <p:cNvSpPr/>
          <p:nvPr/>
        </p:nvSpPr>
        <p:spPr>
          <a:xfrm>
            <a:off x="10607040" y="1938528"/>
            <a:ext cx="32004" cy="32004"/>
          </a:xfrm>
          <a:prstGeom prst="ellipse">
            <a:avLst/>
          </a:prstGeom>
          <a:solidFill>
            <a:srgbClr val="CBD7D8">
              <a:alpha val="28000"/>
            </a:srgbClr>
          </a:solidFill>
          <a:ln/>
        </p:spPr>
      </p:sp>
      <p:sp>
        <p:nvSpPr>
          <p:cNvPr id="71" name="dot-grid"/>
          <p:cNvSpPr/>
          <p:nvPr/>
        </p:nvSpPr>
        <p:spPr>
          <a:xfrm>
            <a:off x="10835640" y="1938528"/>
            <a:ext cx="32004" cy="32004"/>
          </a:xfrm>
          <a:prstGeom prst="ellipse">
            <a:avLst/>
          </a:prstGeom>
          <a:solidFill>
            <a:srgbClr val="CBD7D8">
              <a:alpha val="28000"/>
            </a:srgbClr>
          </a:solidFill>
          <a:ln/>
        </p:spPr>
      </p:sp>
      <p:sp>
        <p:nvSpPr>
          <p:cNvPr id="72" name="dot-grid"/>
          <p:cNvSpPr/>
          <p:nvPr/>
        </p:nvSpPr>
        <p:spPr>
          <a:xfrm>
            <a:off x="11064240" y="1938528"/>
            <a:ext cx="32004" cy="32004"/>
          </a:xfrm>
          <a:prstGeom prst="ellipse">
            <a:avLst/>
          </a:prstGeom>
          <a:solidFill>
            <a:srgbClr val="CBD7D8">
              <a:alpha val="28000"/>
            </a:srgbClr>
          </a:solidFill>
          <a:ln/>
        </p:spPr>
      </p:sp>
      <p:sp>
        <p:nvSpPr>
          <p:cNvPr id="73" name="dot-grid"/>
          <p:cNvSpPr/>
          <p:nvPr/>
        </p:nvSpPr>
        <p:spPr>
          <a:xfrm>
            <a:off x="11292840" y="1938528"/>
            <a:ext cx="32004" cy="32004"/>
          </a:xfrm>
          <a:prstGeom prst="ellipse">
            <a:avLst/>
          </a:prstGeom>
          <a:solidFill>
            <a:srgbClr val="CBD7D8">
              <a:alpha val="28000"/>
            </a:srgbClr>
          </a:solidFill>
          <a:ln/>
        </p:spPr>
      </p:sp>
      <p:sp>
        <p:nvSpPr>
          <p:cNvPr id="74" name="dot-grid"/>
          <p:cNvSpPr/>
          <p:nvPr/>
        </p:nvSpPr>
        <p:spPr>
          <a:xfrm>
            <a:off x="11521440" y="1938528"/>
            <a:ext cx="32004" cy="32004"/>
          </a:xfrm>
          <a:prstGeom prst="ellipse">
            <a:avLst/>
          </a:prstGeom>
          <a:solidFill>
            <a:srgbClr val="CBD7D8">
              <a:alpha val="28000"/>
            </a:srgbClr>
          </a:solidFill>
          <a:ln/>
        </p:spPr>
      </p:sp>
      <p:sp>
        <p:nvSpPr>
          <p:cNvPr id="75" name="dot-grid"/>
          <p:cNvSpPr/>
          <p:nvPr/>
        </p:nvSpPr>
        <p:spPr>
          <a:xfrm>
            <a:off x="9464040" y="2167128"/>
            <a:ext cx="32004" cy="32004"/>
          </a:xfrm>
          <a:prstGeom prst="ellipse">
            <a:avLst/>
          </a:prstGeom>
          <a:solidFill>
            <a:srgbClr val="CBD7D8">
              <a:alpha val="28000"/>
            </a:srgbClr>
          </a:solidFill>
          <a:ln/>
        </p:spPr>
      </p:sp>
      <p:sp>
        <p:nvSpPr>
          <p:cNvPr id="76" name="dot-grid"/>
          <p:cNvSpPr/>
          <p:nvPr/>
        </p:nvSpPr>
        <p:spPr>
          <a:xfrm>
            <a:off x="9692640" y="2167128"/>
            <a:ext cx="32004" cy="32004"/>
          </a:xfrm>
          <a:prstGeom prst="ellipse">
            <a:avLst/>
          </a:prstGeom>
          <a:solidFill>
            <a:srgbClr val="CBD7D8">
              <a:alpha val="28000"/>
            </a:srgbClr>
          </a:solidFill>
          <a:ln/>
        </p:spPr>
      </p:sp>
      <p:sp>
        <p:nvSpPr>
          <p:cNvPr id="77" name="dot-grid"/>
          <p:cNvSpPr/>
          <p:nvPr/>
        </p:nvSpPr>
        <p:spPr>
          <a:xfrm>
            <a:off x="9921240" y="2167128"/>
            <a:ext cx="32004" cy="32004"/>
          </a:xfrm>
          <a:prstGeom prst="ellipse">
            <a:avLst/>
          </a:prstGeom>
          <a:solidFill>
            <a:srgbClr val="CBD7D8">
              <a:alpha val="28000"/>
            </a:srgbClr>
          </a:solidFill>
          <a:ln/>
        </p:spPr>
      </p:sp>
      <p:sp>
        <p:nvSpPr>
          <p:cNvPr id="78" name="dot-grid"/>
          <p:cNvSpPr/>
          <p:nvPr/>
        </p:nvSpPr>
        <p:spPr>
          <a:xfrm>
            <a:off x="10149840" y="2167128"/>
            <a:ext cx="32004" cy="32004"/>
          </a:xfrm>
          <a:prstGeom prst="ellipse">
            <a:avLst/>
          </a:prstGeom>
          <a:solidFill>
            <a:srgbClr val="CBD7D8">
              <a:alpha val="28000"/>
            </a:srgbClr>
          </a:solidFill>
          <a:ln/>
        </p:spPr>
      </p:sp>
      <p:sp>
        <p:nvSpPr>
          <p:cNvPr id="79" name="dot-grid"/>
          <p:cNvSpPr/>
          <p:nvPr/>
        </p:nvSpPr>
        <p:spPr>
          <a:xfrm>
            <a:off x="10378440" y="2167128"/>
            <a:ext cx="32004" cy="32004"/>
          </a:xfrm>
          <a:prstGeom prst="ellipse">
            <a:avLst/>
          </a:prstGeom>
          <a:solidFill>
            <a:srgbClr val="CBD7D8">
              <a:alpha val="28000"/>
            </a:srgbClr>
          </a:solidFill>
          <a:ln/>
        </p:spPr>
      </p:sp>
      <p:sp>
        <p:nvSpPr>
          <p:cNvPr id="80" name="dot-grid"/>
          <p:cNvSpPr/>
          <p:nvPr/>
        </p:nvSpPr>
        <p:spPr>
          <a:xfrm>
            <a:off x="10607040" y="2167128"/>
            <a:ext cx="32004" cy="32004"/>
          </a:xfrm>
          <a:prstGeom prst="ellipse">
            <a:avLst/>
          </a:prstGeom>
          <a:solidFill>
            <a:srgbClr val="CBD7D8">
              <a:alpha val="28000"/>
            </a:srgbClr>
          </a:solidFill>
          <a:ln/>
        </p:spPr>
      </p:sp>
      <p:sp>
        <p:nvSpPr>
          <p:cNvPr id="81" name="dot-grid"/>
          <p:cNvSpPr/>
          <p:nvPr/>
        </p:nvSpPr>
        <p:spPr>
          <a:xfrm>
            <a:off x="10835640" y="2167128"/>
            <a:ext cx="32004" cy="32004"/>
          </a:xfrm>
          <a:prstGeom prst="ellipse">
            <a:avLst/>
          </a:prstGeom>
          <a:solidFill>
            <a:srgbClr val="CBD7D8">
              <a:alpha val="28000"/>
            </a:srgbClr>
          </a:solidFill>
          <a:ln/>
        </p:spPr>
      </p:sp>
      <p:sp>
        <p:nvSpPr>
          <p:cNvPr id="82" name="dot-grid"/>
          <p:cNvSpPr/>
          <p:nvPr/>
        </p:nvSpPr>
        <p:spPr>
          <a:xfrm>
            <a:off x="11064240" y="2167128"/>
            <a:ext cx="32004" cy="32004"/>
          </a:xfrm>
          <a:prstGeom prst="ellipse">
            <a:avLst/>
          </a:prstGeom>
          <a:solidFill>
            <a:srgbClr val="CBD7D8">
              <a:alpha val="28000"/>
            </a:srgbClr>
          </a:solidFill>
          <a:ln/>
        </p:spPr>
      </p:sp>
      <p:sp>
        <p:nvSpPr>
          <p:cNvPr id="83" name="dot-grid"/>
          <p:cNvSpPr/>
          <p:nvPr/>
        </p:nvSpPr>
        <p:spPr>
          <a:xfrm>
            <a:off x="11292840" y="2167128"/>
            <a:ext cx="32004" cy="32004"/>
          </a:xfrm>
          <a:prstGeom prst="ellipse">
            <a:avLst/>
          </a:prstGeom>
          <a:solidFill>
            <a:srgbClr val="CBD7D8">
              <a:alpha val="28000"/>
            </a:srgbClr>
          </a:solidFill>
          <a:ln/>
        </p:spPr>
      </p:sp>
      <p:sp>
        <p:nvSpPr>
          <p:cNvPr id="84" name="dot-grid"/>
          <p:cNvSpPr/>
          <p:nvPr/>
        </p:nvSpPr>
        <p:spPr>
          <a:xfrm>
            <a:off x="11521440" y="2167128"/>
            <a:ext cx="32004" cy="32004"/>
          </a:xfrm>
          <a:prstGeom prst="ellipse">
            <a:avLst/>
          </a:prstGeom>
          <a:solidFill>
            <a:srgbClr val="CBD7D8">
              <a:alpha val="28000"/>
            </a:srgbClr>
          </a:solidFill>
          <a:ln/>
        </p:spPr>
      </p:sp>
      <p:sp>
        <p:nvSpPr>
          <p:cNvPr id="85" name="horizon-line"/>
          <p:cNvSpPr/>
          <p:nvPr/>
        </p:nvSpPr>
        <p:spPr>
          <a:xfrm>
            <a:off x="548640" y="4892040"/>
            <a:ext cx="11094415" cy="0"/>
          </a:xfrm>
          <a:prstGeom prst="line">
            <a:avLst/>
          </a:prstGeom>
          <a:noFill/>
          <a:ln w="9525">
            <a:solidFill>
              <a:srgbClr val="8FA3AE"/>
            </a:solidFill>
            <a:prstDash val="solid"/>
          </a:ln>
        </p:spPr>
      </p:sp>
      <p:sp>
        <p:nvSpPr>
          <p:cNvPr id="86" name="dot"/>
          <p:cNvSpPr/>
          <p:nvPr/>
        </p:nvSpPr>
        <p:spPr>
          <a:xfrm>
            <a:off x="8659368" y="4818888"/>
            <a:ext cx="146304" cy="146304"/>
          </a:xfrm>
          <a:prstGeom prst="ellipse">
            <a:avLst/>
          </a:prstGeom>
          <a:solidFill>
            <a:srgbClr val="36A9A1"/>
          </a:solidFill>
          <a:ln/>
        </p:spPr>
      </p:sp>
      <p:sp>
        <p:nvSpPr>
          <p:cNvPr id="87" name="cover-equation"/>
          <p:cNvSpPr txBox="1"/>
          <p:nvPr/>
        </p:nvSpPr>
        <p:spPr>
          <a:xfrm>
            <a:off x="548640" y="5074920"/>
            <a:ext cx="11094415" cy="320040"/>
          </a:xfrm>
          <a:prstGeom prst="rect">
            <a:avLst/>
          </a:prstGeom>
          <a:noFill/>
          <a:ln/>
        </p:spPr>
        <p:txBody>
          <a:bodyPr wrap="square" lIns="0" tIns="0" rIns="0" bIns="0" rtlCol="0" anchor="t"/>
          <a:lstStyle/>
          <a:p>
            <a:pPr marL="0" indent="0">
              <a:buNone/>
            </a:pPr>
            <a:r>
              <a:rPr lang="en-US" sz="1300" kern="0" spc="100" dirty="0">
                <a:solidFill>
                  <a:schemeClr val="accent2"/>
                </a:solidFill>
                <a:latin typeface="Consolas" pitchFamily="34" charset="0"/>
                <a:ea typeface="Consolas" pitchFamily="34" charset="-122"/>
                <a:cs typeface="Consolas" pitchFamily="34" charset="-120"/>
              </a:rPr>
              <a:t>1 FOUNDATION   ×   8 IDENTITIES   ×   2 TREATMENTS   =   </a:t>
            </a:r>
            <a:r>
              <a:rPr lang="en-US" sz="1300" b="1" kern="0" spc="100" dirty="0">
                <a:solidFill>
                  <a:schemeClr val="accent1"/>
                </a:solidFill>
                <a:latin typeface="Consolas" pitchFamily="34" charset="0"/>
                <a:ea typeface="Consolas" pitchFamily="34" charset="-122"/>
                <a:cs typeface="Consolas" pitchFamily="34" charset="-120"/>
              </a:rPr>
              <a:t>16 DECK STYLES</a:t>
            </a:r>
            <a:endParaRPr lang="en-US" sz="1300" dirty="0"/>
          </a:p>
        </p:txBody>
      </p:sp>
      <p:sp>
        <p:nvSpPr>
          <p:cNvPr id="88" name="cover-meta"/>
          <p:cNvSpPr txBox="1"/>
          <p:nvPr/>
        </p:nvSpPr>
        <p:spPr>
          <a:xfrm>
            <a:off x="548640" y="6080760"/>
            <a:ext cx="11094415" cy="274320"/>
          </a:xfrm>
          <a:prstGeom prst="rect">
            <a:avLst/>
          </a:prstGeom>
          <a:noFill/>
          <a:ln/>
        </p:spPr>
        <p:txBody>
          <a:bodyPr wrap="square" lIns="0" tIns="0" rIns="0" bIns="0" rtlCol="0" anchor="t"/>
          <a:lstStyle/>
          <a:p>
            <a:pPr marL="0" indent="0">
              <a:buNone/>
            </a:pPr>
            <a:r>
              <a:rPr lang="en-US" sz="1200" dirty="0">
                <a:solidFill>
                  <a:schemeClr val="accent6"/>
                </a:solidFill>
                <a:latin typeface="Calibri" pitchFamily="34" charset="0"/>
                <a:ea typeface="Calibri" pitchFamily="34" charset="-122"/>
                <a:cs typeface="Calibri" pitchFamily="34" charset="-120"/>
              </a:rPr>
              <a:t>For Lintas Group management   ·   Decision on design direction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t"/>
          <a:lstStyle/>
          <a:p>
            <a:pPr marL="0" indent="0">
              <a:buNone/>
            </a:pPr>
            <a:r>
              <a:rPr lang="en-US" sz="1000" kern="0" spc="100" dirty="0">
                <a:solidFill>
                  <a:schemeClr val="accent3"/>
                </a:solidFill>
                <a:latin typeface="Consolas" pitchFamily="34" charset="0"/>
                <a:ea typeface="Consolas" pitchFamily="34" charset="-122"/>
                <a:cs typeface="Consolas" pitchFamily="34" charset="-120"/>
              </a:rPr>
              <a:t>01 — THE QUESTION</a:t>
            </a:r>
            <a:endParaRPr lang="en-US" sz="1000" dirty="0"/>
          </a:p>
        </p:txBody>
      </p:sp>
      <p:sp>
        <p:nvSpPr>
          <p:cNvPr id="3" name="Text 0"/>
          <p:cNvSpPr>
            <a:spLocks noGrp="1"/>
          </p:cNvSpPr>
          <p:nvPr>
            <p:ph type="title" idx="101" hasCustomPrompt="1"/>
          </p:nvPr>
        </p:nvSpPr>
        <p:spPr>
          <a:xfrm>
            <a:off x="548640" y="749808"/>
            <a:ext cx="10607040" cy="1097280"/>
          </a:xfrm>
          <a:prstGeom prst="rect">
            <a:avLst/>
          </a:prstGeom>
          <a:noFill/>
          <a:ln/>
        </p:spPr>
        <p:txBody>
          <a:bodyPr wrap="square" lIns="0" tIns="0" rIns="0" bIns="0" rtlCol="0" anchor="t"/>
          <a:lstStyle/>
          <a:p>
            <a:pPr marL="0" indent="0" algn="l">
              <a:buNone/>
            </a:pPr>
            <a:r>
              <a:rPr lang="en-US" sz="3000" b="1" dirty="0">
                <a:solidFill>
                  <a:schemeClr val="tx2"/>
                </a:solidFill>
              </a:rPr>
              <a:t>Today you still have to read the department name to know whose deck it is</a:t>
            </a:r>
            <a:endParaRPr lang="en-US" sz="3000" dirty="0"/>
          </a:p>
        </p:txBody>
      </p:sp>
      <p:sp>
        <p:nvSpPr>
          <p:cNvPr id="4" name="group-label"/>
          <p:cNvSpPr txBox="1"/>
          <p:nvPr/>
        </p:nvSpPr>
        <p:spPr>
          <a:xfrm>
            <a:off x="548640" y="2194560"/>
            <a:ext cx="6400800" cy="274320"/>
          </a:xfrm>
          <a:prstGeom prst="rect">
            <a:avLst/>
          </a:prstGeom>
          <a:noFill/>
          <a:ln/>
        </p:spPr>
        <p:txBody>
          <a:bodyPr wrap="square" lIns="0" tIns="0" rIns="0" bIns="0" rtlCol="0" anchor="t"/>
          <a:lstStyle/>
          <a:p>
            <a:pPr marL="0" indent="0">
              <a:buNone/>
            </a:pPr>
            <a:r>
              <a:rPr lang="en-US" sz="1100" kern="0" spc="100" dirty="0">
                <a:solidFill>
                  <a:schemeClr val="accent3"/>
                </a:solidFill>
                <a:latin typeface="Consolas" pitchFamily="34" charset="0"/>
                <a:ea typeface="Consolas" pitchFamily="34" charset="-122"/>
                <a:cs typeface="Consolas" pitchFamily="34" charset="-120"/>
              </a:rPr>
              <a:t>ALREADY DIFFERENT IN VARIANTS #11 AND #12</a:t>
            </a:r>
            <a:endParaRPr lang="en-US" sz="1100" dirty="0"/>
          </a:p>
        </p:txBody>
      </p:sp>
      <p:sp>
        <p:nvSpPr>
          <p:cNvPr id="5" name="dot"/>
          <p:cNvSpPr/>
          <p:nvPr/>
        </p:nvSpPr>
        <p:spPr>
          <a:xfrm>
            <a:off x="566928" y="2679192"/>
            <a:ext cx="164592" cy="164592"/>
          </a:xfrm>
          <a:prstGeom prst="ellipse">
            <a:avLst/>
          </a:prstGeom>
          <a:solidFill>
            <a:srgbClr val="36A9A1"/>
          </a:solidFill>
          <a:ln/>
        </p:spPr>
      </p:sp>
      <p:sp>
        <p:nvSpPr>
          <p:cNvPr id="6" name="group-item"/>
          <p:cNvSpPr txBox="1"/>
          <p:nvPr/>
        </p:nvSpPr>
        <p:spPr>
          <a:xfrm>
            <a:off x="960120" y="2606040"/>
            <a:ext cx="5852160" cy="365760"/>
          </a:xfrm>
          <a:prstGeom prst="rect">
            <a:avLst/>
          </a:prstGeom>
          <a:noFill/>
          <a:ln/>
        </p:spPr>
        <p:txBody>
          <a:bodyPr wrap="square" lIns="0" tIns="0" rIns="0" bIns="0" rtlCol="0" anchor="t"/>
          <a:lstStyle/>
          <a:p>
            <a:pPr marL="0" indent="0">
              <a:buNone/>
            </a:pPr>
            <a:r>
              <a:rPr lang="en-US" sz="1900" dirty="0">
                <a:solidFill>
                  <a:schemeClr val="tx1"/>
                </a:solidFill>
                <a:latin typeface="Calibri" pitchFamily="34" charset="0"/>
                <a:ea typeface="Calibri" pitchFamily="34" charset="-122"/>
                <a:cs typeface="Calibri" pitchFamily="34" charset="-120"/>
              </a:rPr>
              <a:t>Information architecture</a:t>
            </a:r>
            <a:endParaRPr lang="en-US" sz="1900" dirty="0"/>
          </a:p>
        </p:txBody>
      </p:sp>
      <p:sp>
        <p:nvSpPr>
          <p:cNvPr id="7" name="dot"/>
          <p:cNvSpPr/>
          <p:nvPr/>
        </p:nvSpPr>
        <p:spPr>
          <a:xfrm>
            <a:off x="566928" y="3136392"/>
            <a:ext cx="164592" cy="164592"/>
          </a:xfrm>
          <a:prstGeom prst="ellipse">
            <a:avLst/>
          </a:prstGeom>
          <a:solidFill>
            <a:srgbClr val="36A9A1"/>
          </a:solidFill>
          <a:ln/>
        </p:spPr>
      </p:sp>
      <p:sp>
        <p:nvSpPr>
          <p:cNvPr id="8" name="group-item"/>
          <p:cNvSpPr txBox="1"/>
          <p:nvPr/>
        </p:nvSpPr>
        <p:spPr>
          <a:xfrm>
            <a:off x="960120" y="3063240"/>
            <a:ext cx="5852160" cy="365760"/>
          </a:xfrm>
          <a:prstGeom prst="rect">
            <a:avLst/>
          </a:prstGeom>
          <a:noFill/>
          <a:ln/>
        </p:spPr>
        <p:txBody>
          <a:bodyPr wrap="square" lIns="0" tIns="0" rIns="0" bIns="0" rtlCol="0" anchor="t"/>
          <a:lstStyle/>
          <a:p>
            <a:pPr marL="0" indent="0">
              <a:buNone/>
            </a:pPr>
            <a:r>
              <a:rPr lang="en-US" sz="1900" dirty="0">
                <a:solidFill>
                  <a:schemeClr val="tx1"/>
                </a:solidFill>
                <a:latin typeface="Calibri" pitchFamily="34" charset="0"/>
                <a:ea typeface="Calibri" pitchFamily="34" charset="-122"/>
                <a:cs typeface="Calibri" pitchFamily="34" charset="-120"/>
              </a:rPr>
              <a:t>Storytelling</a:t>
            </a:r>
            <a:endParaRPr lang="en-US" sz="1900" dirty="0"/>
          </a:p>
        </p:txBody>
      </p:sp>
      <p:sp>
        <p:nvSpPr>
          <p:cNvPr id="9" name="dot"/>
          <p:cNvSpPr/>
          <p:nvPr/>
        </p:nvSpPr>
        <p:spPr>
          <a:xfrm>
            <a:off x="566928" y="3593592"/>
            <a:ext cx="164592" cy="164592"/>
          </a:xfrm>
          <a:prstGeom prst="ellipse">
            <a:avLst/>
          </a:prstGeom>
          <a:solidFill>
            <a:srgbClr val="36A9A1"/>
          </a:solidFill>
          <a:ln/>
        </p:spPr>
      </p:sp>
      <p:sp>
        <p:nvSpPr>
          <p:cNvPr id="10" name="group-item"/>
          <p:cNvSpPr txBox="1"/>
          <p:nvPr/>
        </p:nvSpPr>
        <p:spPr>
          <a:xfrm>
            <a:off x="960120" y="3520440"/>
            <a:ext cx="5852160" cy="365760"/>
          </a:xfrm>
          <a:prstGeom prst="rect">
            <a:avLst/>
          </a:prstGeom>
          <a:noFill/>
          <a:ln/>
        </p:spPr>
        <p:txBody>
          <a:bodyPr wrap="square" lIns="0" tIns="0" rIns="0" bIns="0" rtlCol="0" anchor="t"/>
          <a:lstStyle/>
          <a:p>
            <a:pPr marL="0" indent="0">
              <a:buNone/>
            </a:pPr>
            <a:r>
              <a:rPr lang="en-US" sz="1900" dirty="0">
                <a:solidFill>
                  <a:schemeClr val="tx1"/>
                </a:solidFill>
                <a:latin typeface="Calibri" pitchFamily="34" charset="0"/>
                <a:ea typeface="Calibri" pitchFamily="34" charset="-122"/>
                <a:cs typeface="Calibri" pitchFamily="34" charset="-120"/>
              </a:rPr>
              <a:t>Visualization choices</a:t>
            </a:r>
            <a:endParaRPr lang="en-US" sz="1900" dirty="0"/>
          </a:p>
        </p:txBody>
      </p:sp>
      <p:sp>
        <p:nvSpPr>
          <p:cNvPr id="11" name="group-label"/>
          <p:cNvSpPr txBox="1"/>
          <p:nvPr/>
        </p:nvSpPr>
        <p:spPr>
          <a:xfrm>
            <a:off x="548640" y="4069080"/>
            <a:ext cx="6400800" cy="274320"/>
          </a:xfrm>
          <a:prstGeom prst="rect">
            <a:avLst/>
          </a:prstGeom>
          <a:noFill/>
          <a:ln/>
        </p:spPr>
        <p:txBody>
          <a:bodyPr wrap="square" lIns="0" tIns="0" rIns="0" bIns="0" rtlCol="0" anchor="t"/>
          <a:lstStyle/>
          <a:p>
            <a:pPr marL="0" indent="0">
              <a:buNone/>
            </a:pPr>
            <a:r>
              <a:rPr lang="en-US" sz="1100" kern="0" spc="100" dirty="0">
                <a:solidFill>
                  <a:schemeClr val="accent3"/>
                </a:solidFill>
                <a:latin typeface="Consolas" pitchFamily="34" charset="0"/>
                <a:ea typeface="Consolas" pitchFamily="34" charset="-122"/>
                <a:cs typeface="Consolas" pitchFamily="34" charset="-120"/>
              </a:rPr>
              <a:t>NOT YET DIFFERENT</a:t>
            </a:r>
            <a:endParaRPr lang="en-US" sz="1100" dirty="0"/>
          </a:p>
        </p:txBody>
      </p:sp>
      <p:sp>
        <p:nvSpPr>
          <p:cNvPr id="12" name="marker-open"/>
          <p:cNvSpPr/>
          <p:nvPr/>
        </p:nvSpPr>
        <p:spPr>
          <a:xfrm>
            <a:off x="566928" y="4553712"/>
            <a:ext cx="164592" cy="164592"/>
          </a:xfrm>
          <a:prstGeom prst="ellipse">
            <a:avLst/>
          </a:prstGeom>
          <a:solidFill>
            <a:schemeClr val="bg2"/>
          </a:solidFill>
          <a:ln w="15875">
            <a:solidFill>
              <a:schemeClr val="tx2"/>
            </a:solidFill>
            <a:prstDash val="solid"/>
          </a:ln>
        </p:spPr>
      </p:sp>
      <p:sp>
        <p:nvSpPr>
          <p:cNvPr id="13" name="group-item"/>
          <p:cNvSpPr txBox="1"/>
          <p:nvPr/>
        </p:nvSpPr>
        <p:spPr>
          <a:xfrm>
            <a:off x="960120" y="4480560"/>
            <a:ext cx="5852160" cy="365760"/>
          </a:xfrm>
          <a:prstGeom prst="rect">
            <a:avLst/>
          </a:prstGeom>
          <a:noFill/>
          <a:ln/>
        </p:spPr>
        <p:txBody>
          <a:bodyPr wrap="square" lIns="0" tIns="0" rIns="0" bIns="0" rtlCol="0" anchor="t"/>
          <a:lstStyle/>
          <a:p>
            <a:pPr marL="0" indent="0">
              <a:buNone/>
            </a:pPr>
            <a:r>
              <a:rPr lang="en-US" sz="1900" dirty="0">
                <a:solidFill>
                  <a:schemeClr val="tx1"/>
                </a:solidFill>
                <a:latin typeface="Calibri" pitchFamily="34" charset="0"/>
                <a:ea typeface="Calibri" pitchFamily="34" charset="-122"/>
                <a:cs typeface="Calibri" pitchFamily="34" charset="-120"/>
              </a:rPr>
              <a:t>Departmental colour palettes</a:t>
            </a:r>
            <a:endParaRPr lang="en-US" sz="1900" dirty="0"/>
          </a:p>
        </p:txBody>
      </p:sp>
      <p:sp>
        <p:nvSpPr>
          <p:cNvPr id="14" name="marker-open"/>
          <p:cNvSpPr/>
          <p:nvPr/>
        </p:nvSpPr>
        <p:spPr>
          <a:xfrm>
            <a:off x="566928" y="5010912"/>
            <a:ext cx="164592" cy="164592"/>
          </a:xfrm>
          <a:prstGeom prst="ellipse">
            <a:avLst/>
          </a:prstGeom>
          <a:solidFill>
            <a:schemeClr val="bg2"/>
          </a:solidFill>
          <a:ln w="15875">
            <a:solidFill>
              <a:schemeClr val="tx2"/>
            </a:solidFill>
            <a:prstDash val="solid"/>
          </a:ln>
        </p:spPr>
      </p:sp>
      <p:sp>
        <p:nvSpPr>
          <p:cNvPr id="15" name="group-item"/>
          <p:cNvSpPr txBox="1"/>
          <p:nvPr/>
        </p:nvSpPr>
        <p:spPr>
          <a:xfrm>
            <a:off x="960120" y="4937760"/>
            <a:ext cx="5852160" cy="365760"/>
          </a:xfrm>
          <a:prstGeom prst="rect">
            <a:avLst/>
          </a:prstGeom>
          <a:noFill/>
          <a:ln/>
        </p:spPr>
        <p:txBody>
          <a:bodyPr wrap="square" lIns="0" tIns="0" rIns="0" bIns="0" rtlCol="0" anchor="t"/>
          <a:lstStyle/>
          <a:p>
            <a:pPr marL="0" indent="0">
              <a:buNone/>
            </a:pPr>
            <a:r>
              <a:rPr lang="en-US" sz="1900" dirty="0">
                <a:solidFill>
                  <a:schemeClr val="tx1"/>
                </a:solidFill>
                <a:latin typeface="Calibri" pitchFamily="34" charset="0"/>
                <a:ea typeface="Calibri" pitchFamily="34" charset="-122"/>
                <a:cs typeface="Calibri" pitchFamily="34" charset="-120"/>
              </a:rPr>
              <a:t>Typography treatment</a:t>
            </a:r>
            <a:endParaRPr lang="en-US" sz="1900" dirty="0"/>
          </a:p>
        </p:txBody>
      </p:sp>
      <p:sp>
        <p:nvSpPr>
          <p:cNvPr id="16" name="marker-open"/>
          <p:cNvSpPr/>
          <p:nvPr/>
        </p:nvSpPr>
        <p:spPr>
          <a:xfrm>
            <a:off x="566928" y="5468112"/>
            <a:ext cx="164592" cy="164592"/>
          </a:xfrm>
          <a:prstGeom prst="ellipse">
            <a:avLst/>
          </a:prstGeom>
          <a:solidFill>
            <a:schemeClr val="bg2"/>
          </a:solidFill>
          <a:ln w="15875">
            <a:solidFill>
              <a:schemeClr val="tx2"/>
            </a:solidFill>
            <a:prstDash val="solid"/>
          </a:ln>
        </p:spPr>
      </p:sp>
      <p:sp>
        <p:nvSpPr>
          <p:cNvPr id="17" name="group-item"/>
          <p:cNvSpPr txBox="1"/>
          <p:nvPr/>
        </p:nvSpPr>
        <p:spPr>
          <a:xfrm>
            <a:off x="960120" y="5394960"/>
            <a:ext cx="5852160" cy="365760"/>
          </a:xfrm>
          <a:prstGeom prst="rect">
            <a:avLst/>
          </a:prstGeom>
          <a:noFill/>
          <a:ln/>
        </p:spPr>
        <p:txBody>
          <a:bodyPr wrap="square" lIns="0" tIns="0" rIns="0" bIns="0" rtlCol="0" anchor="t"/>
          <a:lstStyle/>
          <a:p>
            <a:pPr marL="0" indent="0">
              <a:buNone/>
            </a:pPr>
            <a:r>
              <a:rPr lang="en-US" sz="1900" dirty="0">
                <a:solidFill>
                  <a:schemeClr val="tx1"/>
                </a:solidFill>
                <a:latin typeface="Calibri" pitchFamily="34" charset="0"/>
                <a:ea typeface="Calibri" pitchFamily="34" charset="-122"/>
                <a:cs typeface="Calibri" pitchFamily="34" charset="-120"/>
              </a:rPr>
              <a:t>Visual signatures</a:t>
            </a:r>
            <a:endParaRPr lang="en-US" sz="1900" dirty="0"/>
          </a:p>
        </p:txBody>
      </p:sp>
      <p:sp>
        <p:nvSpPr>
          <p:cNvPr id="18" name="target-panel"/>
          <p:cNvSpPr/>
          <p:nvPr/>
        </p:nvSpPr>
        <p:spPr>
          <a:xfrm>
            <a:off x="7498080" y="2194560"/>
            <a:ext cx="4144975" cy="3611880"/>
          </a:xfrm>
          <a:prstGeom prst="rect">
            <a:avLst/>
          </a:prstGeom>
          <a:solidFill>
            <a:schemeClr val="tx2"/>
          </a:solidFill>
          <a:ln/>
        </p:spPr>
      </p:sp>
      <p:sp>
        <p:nvSpPr>
          <p:cNvPr id="19" name="Text 17"/>
          <p:cNvSpPr txBox="1"/>
          <p:nvPr/>
        </p:nvSpPr>
        <p:spPr>
          <a:xfrm>
            <a:off x="7818120" y="2487168"/>
            <a:ext cx="3474720" cy="274320"/>
          </a:xfrm>
          <a:prstGeom prst="rect">
            <a:avLst/>
          </a:prstGeom>
          <a:noFill/>
          <a:ln/>
        </p:spPr>
        <p:txBody>
          <a:bodyPr wrap="square" lIns="0" tIns="0" rIns="0" bIns="0" rtlCol="0" anchor="t"/>
          <a:lstStyle/>
          <a:p>
            <a:pPr marL="0" indent="0">
              <a:buNone/>
            </a:pPr>
            <a:r>
              <a:rPr lang="en-US" sz="1100" kern="0" spc="100" dirty="0">
                <a:solidFill>
                  <a:schemeClr val="accent2"/>
                </a:solidFill>
                <a:latin typeface="Consolas" pitchFamily="34" charset="0"/>
                <a:ea typeface="Consolas" pitchFamily="34" charset="-122"/>
                <a:cs typeface="Consolas" pitchFamily="34" charset="-120"/>
              </a:rPr>
              <a:t>THE TARGET</a:t>
            </a:r>
            <a:endParaRPr lang="en-US" sz="1100" dirty="0"/>
          </a:p>
        </p:txBody>
      </p:sp>
      <p:sp>
        <p:nvSpPr>
          <p:cNvPr id="20" name="target-statement"/>
          <p:cNvSpPr txBox="1"/>
          <p:nvPr/>
        </p:nvSpPr>
        <p:spPr>
          <a:xfrm>
            <a:off x="7818120" y="2880360"/>
            <a:ext cx="3520440" cy="1828800"/>
          </a:xfrm>
          <a:prstGeom prst="rect">
            <a:avLst/>
          </a:prstGeom>
          <a:noFill/>
          <a:ln/>
        </p:spPr>
        <p:txBody>
          <a:bodyPr wrap="square" lIns="0" tIns="0" rIns="0" bIns="0" rtlCol="0" anchor="t"/>
          <a:lstStyle/>
          <a:p>
            <a:pPr marL="0" indent="0">
              <a:buNone/>
            </a:pPr>
            <a:r>
              <a:rPr lang="en-US" sz="2600" b="1" dirty="0">
                <a:solidFill>
                  <a:schemeClr val="bg2"/>
                </a:solidFill>
                <a:latin typeface="Calibri" pitchFamily="34" charset="0"/>
                <a:ea typeface="Calibri" pitchFamily="34" charset="-122"/>
                <a:cs typeface="Calibri" pitchFamily="34" charset="-120"/>
              </a:rPr>
              <a:t>A viewer should recognise the department before reading its name.</a:t>
            </a:r>
            <a:endParaRPr lang="en-US" sz="2600" dirty="0"/>
          </a:p>
        </p:txBody>
      </p:sp>
      <p:sp>
        <p:nvSpPr>
          <p:cNvPr id="21" name="Text 19"/>
          <p:cNvSpPr txBox="1"/>
          <p:nvPr/>
        </p:nvSpPr>
        <p:spPr>
          <a:xfrm>
            <a:off x="7818120" y="5120640"/>
            <a:ext cx="3520440" cy="457200"/>
          </a:xfrm>
          <a:prstGeom prst="rect">
            <a:avLst/>
          </a:prstGeom>
          <a:noFill/>
          <a:ln/>
        </p:spPr>
        <p:txBody>
          <a:bodyPr wrap="square" lIns="0" tIns="0" rIns="0" bIns="0" rtlCol="0" anchor="t"/>
          <a:lstStyle/>
          <a:p>
            <a:pPr marL="0" indent="0">
              <a:buNone/>
            </a:pPr>
            <a:r>
              <a:rPr lang="en-US" sz="1200" dirty="0">
                <a:solidFill>
                  <a:schemeClr val="accent6"/>
                </a:solidFill>
                <a:latin typeface="Calibri" pitchFamily="34" charset="0"/>
                <a:ea typeface="Calibri" pitchFamily="34" charset="-122"/>
                <a:cs typeface="Calibri" pitchFamily="34" charset="-120"/>
              </a:rPr>
              <a:t>Basis: review of the design rules in Variants #11 and #12</a:t>
            </a:r>
            <a:endParaRPr lang="en-US" sz="1200" dirty="0"/>
          </a:p>
        </p:txBody>
      </p:sp>
      <p:sp>
        <p:nvSpPr>
          <p:cNvPr id="25" name="Slide Number Placeholder 0"/>
          <p:cNvSpPr>
            <a:spLocks noGrp="1"/>
          </p:cNvSpPr>
          <p:nvPr>
            <p:ph type="sldNum" sz="quarter" idx="4294967295"/>
          </p:nvPr>
        </p:nvSpPr>
        <p:spPr>
          <a:xfrm>
            <a:off x="10911535" y="6382512"/>
            <a:ext cx="73152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t"/>
          <a:lstStyle/>
          <a:p>
            <a:pPr marL="0" indent="0">
              <a:buNone/>
            </a:pPr>
            <a:r>
              <a:rPr lang="en-US" sz="1000" kern="0" spc="100" dirty="0">
                <a:solidFill>
                  <a:schemeClr val="accent3"/>
                </a:solidFill>
                <a:latin typeface="Consolas" pitchFamily="34" charset="0"/>
                <a:ea typeface="Consolas" pitchFamily="34" charset="-122"/>
                <a:cs typeface="Consolas" pitchFamily="34" charset="-120"/>
              </a:rPr>
              <a:t>02 — ARCHITECTURE</a:t>
            </a:r>
            <a:endParaRPr lang="en-US" sz="1000" dirty="0"/>
          </a:p>
        </p:txBody>
      </p:sp>
      <p:sp>
        <p:nvSpPr>
          <p:cNvPr id="3" name="Text 0"/>
          <p:cNvSpPr>
            <a:spLocks noGrp="1"/>
          </p:cNvSpPr>
          <p:nvPr>
            <p:ph type="title" idx="101" hasCustomPrompt="1"/>
          </p:nvPr>
        </p:nvSpPr>
        <p:spPr>
          <a:xfrm>
            <a:off x="548640" y="749808"/>
            <a:ext cx="10607040" cy="1097280"/>
          </a:xfrm>
          <a:prstGeom prst="rect">
            <a:avLst/>
          </a:prstGeom>
          <a:noFill/>
          <a:ln/>
        </p:spPr>
        <p:txBody>
          <a:bodyPr wrap="square" lIns="0" tIns="0" rIns="0" bIns="0" rtlCol="0" anchor="t"/>
          <a:lstStyle/>
          <a:p>
            <a:pPr marL="0" indent="0" algn="l">
              <a:buNone/>
            </a:pPr>
            <a:r>
              <a:rPr lang="en-US" sz="3000" b="1" dirty="0">
                <a:solidFill>
                  <a:schemeClr val="tx2"/>
                </a:solidFill>
              </a:rPr>
              <a:t>Five design layers, from fully shared to fully adaptive</a:t>
            </a:r>
            <a:endParaRPr lang="en-US" sz="3000" dirty="0"/>
          </a:p>
        </p:txBody>
      </p:sp>
      <p:sp>
        <p:nvSpPr>
          <p:cNvPr id="4" name="Text 2"/>
          <p:cNvSpPr txBox="1"/>
          <p:nvPr/>
        </p:nvSpPr>
        <p:spPr>
          <a:xfrm>
            <a:off x="548640" y="2011680"/>
            <a:ext cx="2743200" cy="256032"/>
          </a:xfrm>
          <a:prstGeom prst="rect">
            <a:avLst/>
          </a:prstGeom>
          <a:noFill/>
          <a:ln/>
        </p:spPr>
        <p:txBody>
          <a:bodyPr wrap="square" lIns="0" tIns="0" rIns="0" bIns="0" rtlCol="0" anchor="t"/>
          <a:lstStyle/>
          <a:p>
            <a:pPr marL="0" indent="0">
              <a:buNone/>
            </a:pPr>
            <a:r>
              <a:rPr lang="en-US" sz="1000" kern="0" spc="100" dirty="0">
                <a:solidFill>
                  <a:schemeClr val="accent3"/>
                </a:solidFill>
                <a:latin typeface="Consolas" pitchFamily="34" charset="0"/>
                <a:ea typeface="Consolas" pitchFamily="34" charset="-122"/>
                <a:cs typeface="Consolas" pitchFamily="34" charset="-120"/>
              </a:rPr>
              <a:t>LAYER</a:t>
            </a:r>
            <a:endParaRPr lang="en-US" sz="1000" dirty="0"/>
          </a:p>
        </p:txBody>
      </p:sp>
      <p:sp>
        <p:nvSpPr>
          <p:cNvPr id="5" name="Text 3"/>
          <p:cNvSpPr txBox="1"/>
          <p:nvPr/>
        </p:nvSpPr>
        <p:spPr>
          <a:xfrm>
            <a:off x="3520440" y="2011680"/>
            <a:ext cx="2743200" cy="256032"/>
          </a:xfrm>
          <a:prstGeom prst="rect">
            <a:avLst/>
          </a:prstGeom>
          <a:noFill/>
          <a:ln/>
        </p:spPr>
        <p:txBody>
          <a:bodyPr wrap="square" lIns="0" tIns="0" rIns="0" bIns="0" rtlCol="0" anchor="t"/>
          <a:lstStyle/>
          <a:p>
            <a:pPr marL="0" indent="0">
              <a:buNone/>
            </a:pPr>
            <a:r>
              <a:rPr lang="en-US" sz="1000" kern="0" spc="100" dirty="0">
                <a:solidFill>
                  <a:schemeClr val="accent3"/>
                </a:solidFill>
                <a:latin typeface="Consolas" pitchFamily="34" charset="0"/>
                <a:ea typeface="Consolas" pitchFamily="34" charset="-122"/>
                <a:cs typeface="Consolas" pitchFamily="34" charset="-120"/>
              </a:rPr>
              <a:t>CONSISTENCY TARGET</a:t>
            </a:r>
            <a:endParaRPr lang="en-US" sz="1000" dirty="0"/>
          </a:p>
        </p:txBody>
      </p:sp>
      <p:sp>
        <p:nvSpPr>
          <p:cNvPr id="6" name="Text 4"/>
          <p:cNvSpPr txBox="1"/>
          <p:nvPr/>
        </p:nvSpPr>
        <p:spPr>
          <a:xfrm>
            <a:off x="8275320" y="2011680"/>
            <a:ext cx="2743200" cy="256032"/>
          </a:xfrm>
          <a:prstGeom prst="rect">
            <a:avLst/>
          </a:prstGeom>
          <a:noFill/>
          <a:ln/>
        </p:spPr>
        <p:txBody>
          <a:bodyPr wrap="square" lIns="0" tIns="0" rIns="0" bIns="0" rtlCol="0" anchor="t"/>
          <a:lstStyle/>
          <a:p>
            <a:pPr marL="0" indent="0">
              <a:buNone/>
            </a:pPr>
            <a:r>
              <a:rPr lang="en-US" sz="1000" kern="0" spc="100" dirty="0">
                <a:solidFill>
                  <a:schemeClr val="accent3"/>
                </a:solidFill>
                <a:latin typeface="Consolas" pitchFamily="34" charset="0"/>
                <a:ea typeface="Consolas" pitchFamily="34" charset="-122"/>
                <a:cs typeface="Consolas" pitchFamily="34" charset="-120"/>
              </a:rPr>
              <a:t>PURPOSE</a:t>
            </a:r>
            <a:endParaRPr lang="en-US" sz="1000" dirty="0"/>
          </a:p>
        </p:txBody>
      </p:sp>
      <p:sp>
        <p:nvSpPr>
          <p:cNvPr id="7" name="hairline"/>
          <p:cNvSpPr/>
          <p:nvPr/>
        </p:nvSpPr>
        <p:spPr>
          <a:xfrm>
            <a:off x="548640" y="2331720"/>
            <a:ext cx="11094415" cy="0"/>
          </a:xfrm>
          <a:prstGeom prst="line">
            <a:avLst/>
          </a:prstGeom>
          <a:noFill/>
          <a:ln w="9525">
            <a:solidFill>
              <a:srgbClr val="DAD5C9"/>
            </a:solidFill>
            <a:prstDash val="solid"/>
          </a:ln>
        </p:spPr>
      </p:sp>
      <p:sp>
        <p:nvSpPr>
          <p:cNvPr id="8" name="Text 6"/>
          <p:cNvSpPr txBox="1"/>
          <p:nvPr/>
        </p:nvSpPr>
        <p:spPr>
          <a:xfrm>
            <a:off x="548640" y="2514600"/>
            <a:ext cx="2834640" cy="36576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Corporate identity</a:t>
            </a:r>
            <a:endParaRPr lang="en-US" sz="1700" dirty="0"/>
          </a:p>
        </p:txBody>
      </p:sp>
      <p:sp>
        <p:nvSpPr>
          <p:cNvPr id="9" name="bar-track"/>
          <p:cNvSpPr/>
          <p:nvPr/>
        </p:nvSpPr>
        <p:spPr>
          <a:xfrm>
            <a:off x="3520440" y="2615184"/>
            <a:ext cx="2788920" cy="146304"/>
          </a:xfrm>
          <a:prstGeom prst="rect">
            <a:avLst/>
          </a:prstGeom>
          <a:solidFill>
            <a:schemeClr val="accent2"/>
          </a:solidFill>
          <a:ln/>
        </p:spPr>
      </p:sp>
      <p:sp>
        <p:nvSpPr>
          <p:cNvPr id="10" name="bar-fill"/>
          <p:cNvSpPr/>
          <p:nvPr/>
        </p:nvSpPr>
        <p:spPr>
          <a:xfrm>
            <a:off x="3520440" y="2615184"/>
            <a:ext cx="2788920" cy="146304"/>
          </a:xfrm>
          <a:prstGeom prst="rect">
            <a:avLst/>
          </a:prstGeom>
          <a:solidFill>
            <a:schemeClr val="tx2"/>
          </a:solidFill>
          <a:ln/>
        </p:spPr>
      </p:sp>
      <p:sp>
        <p:nvSpPr>
          <p:cNvPr id="11" name="Text 9"/>
          <p:cNvSpPr txBox="1"/>
          <p:nvPr/>
        </p:nvSpPr>
        <p:spPr>
          <a:xfrm>
            <a:off x="6629400" y="2459736"/>
            <a:ext cx="1508760" cy="502920"/>
          </a:xfrm>
          <a:prstGeom prst="rect">
            <a:avLst/>
          </a:prstGeom>
          <a:noFill/>
          <a:ln/>
        </p:spPr>
        <p:txBody>
          <a:bodyPr wrap="square" lIns="0" tIns="0" rIns="0" bIns="0" rtlCol="0" anchor="ctr"/>
          <a:lstStyle/>
          <a:p>
            <a:pPr marL="0" indent="0">
              <a:buNone/>
            </a:pPr>
            <a:r>
              <a:rPr lang="en-US" sz="1200" dirty="0">
                <a:solidFill>
                  <a:schemeClr val="tx1"/>
                </a:solidFill>
                <a:latin typeface="Consolas" pitchFamily="34" charset="0"/>
                <a:ea typeface="Consolas" pitchFamily="34" charset="-122"/>
                <a:cs typeface="Consolas" pitchFamily="34" charset="-120"/>
              </a:rPr>
              <a:t>100%</a:t>
            </a:r>
            <a:endParaRPr lang="en-US" sz="1200" dirty="0"/>
          </a:p>
          <a:p>
            <a:pPr marL="0" indent="0">
              <a:buNone/>
            </a:pPr>
            <a:r>
              <a:rPr lang="en-US" sz="1200" dirty="0">
                <a:solidFill>
                  <a:schemeClr val="tx1"/>
                </a:solidFill>
                <a:latin typeface="Consolas" pitchFamily="34" charset="0"/>
                <a:ea typeface="Consolas" pitchFamily="34" charset="-122"/>
                <a:cs typeface="Consolas" pitchFamily="34" charset="-120"/>
              </a:rPr>
              <a:t>shared</a:t>
            </a:r>
            <a:endParaRPr lang="en-US" sz="1200" dirty="0"/>
          </a:p>
        </p:txBody>
      </p:sp>
      <p:sp>
        <p:nvSpPr>
          <p:cNvPr id="12" name="Text 10"/>
          <p:cNvSpPr txBox="1"/>
          <p:nvPr/>
        </p:nvSpPr>
        <p:spPr>
          <a:xfrm>
            <a:off x="8275320" y="2459736"/>
            <a:ext cx="3367735" cy="50292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A recognisable Lintas Group presentation family</a:t>
            </a:r>
            <a:endParaRPr lang="en-US" sz="1400" dirty="0"/>
          </a:p>
        </p:txBody>
      </p:sp>
      <p:sp>
        <p:nvSpPr>
          <p:cNvPr id="13" name="hairline"/>
          <p:cNvSpPr/>
          <p:nvPr/>
        </p:nvSpPr>
        <p:spPr>
          <a:xfrm>
            <a:off x="548640" y="3026664"/>
            <a:ext cx="11094415" cy="0"/>
          </a:xfrm>
          <a:prstGeom prst="line">
            <a:avLst/>
          </a:prstGeom>
          <a:noFill/>
          <a:ln w="9525">
            <a:solidFill>
              <a:srgbClr val="DAD5C9"/>
            </a:solidFill>
            <a:prstDash val="solid"/>
          </a:ln>
        </p:spPr>
      </p:sp>
      <p:sp>
        <p:nvSpPr>
          <p:cNvPr id="14" name="Text 12"/>
          <p:cNvSpPr txBox="1"/>
          <p:nvPr/>
        </p:nvSpPr>
        <p:spPr>
          <a:xfrm>
            <a:off x="548640" y="3209544"/>
            <a:ext cx="2834640" cy="36576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Design foundations</a:t>
            </a:r>
            <a:endParaRPr lang="en-US" sz="1700" dirty="0"/>
          </a:p>
        </p:txBody>
      </p:sp>
      <p:sp>
        <p:nvSpPr>
          <p:cNvPr id="15" name="bar-track"/>
          <p:cNvSpPr/>
          <p:nvPr/>
        </p:nvSpPr>
        <p:spPr>
          <a:xfrm>
            <a:off x="3520440" y="3310128"/>
            <a:ext cx="2788920" cy="146304"/>
          </a:xfrm>
          <a:prstGeom prst="rect">
            <a:avLst/>
          </a:prstGeom>
          <a:solidFill>
            <a:schemeClr val="accent2"/>
          </a:solidFill>
          <a:ln/>
        </p:spPr>
      </p:sp>
      <p:sp>
        <p:nvSpPr>
          <p:cNvPr id="16" name="bar-fill"/>
          <p:cNvSpPr/>
          <p:nvPr/>
        </p:nvSpPr>
        <p:spPr>
          <a:xfrm>
            <a:off x="3520440" y="3310128"/>
            <a:ext cx="2231136" cy="146304"/>
          </a:xfrm>
          <a:prstGeom prst="rect">
            <a:avLst/>
          </a:prstGeom>
          <a:solidFill>
            <a:schemeClr val="tx2"/>
          </a:solidFill>
          <a:ln/>
        </p:spPr>
      </p:sp>
      <p:sp>
        <p:nvSpPr>
          <p:cNvPr id="17" name="bar-range"/>
          <p:cNvSpPr/>
          <p:nvPr/>
        </p:nvSpPr>
        <p:spPr>
          <a:xfrm>
            <a:off x="5751576" y="3310128"/>
            <a:ext cx="278892" cy="146304"/>
          </a:xfrm>
          <a:prstGeom prst="rect">
            <a:avLst/>
          </a:prstGeom>
          <a:solidFill>
            <a:schemeClr val="tx2">
              <a:alpha val="45000"/>
            </a:schemeClr>
          </a:solidFill>
          <a:ln/>
        </p:spPr>
      </p:sp>
      <p:sp>
        <p:nvSpPr>
          <p:cNvPr id="18" name="Text 16"/>
          <p:cNvSpPr txBox="1"/>
          <p:nvPr/>
        </p:nvSpPr>
        <p:spPr>
          <a:xfrm>
            <a:off x="6629400" y="3154680"/>
            <a:ext cx="1508760" cy="502920"/>
          </a:xfrm>
          <a:prstGeom prst="rect">
            <a:avLst/>
          </a:prstGeom>
          <a:noFill/>
          <a:ln/>
        </p:spPr>
        <p:txBody>
          <a:bodyPr wrap="square" lIns="0" tIns="0" rIns="0" bIns="0" rtlCol="0" anchor="ctr"/>
          <a:lstStyle/>
          <a:p>
            <a:pPr marL="0" indent="0">
              <a:buNone/>
            </a:pPr>
            <a:r>
              <a:rPr lang="en-US" sz="1200" dirty="0">
                <a:solidFill>
                  <a:schemeClr val="tx1"/>
                </a:solidFill>
                <a:latin typeface="Consolas" pitchFamily="34" charset="0"/>
                <a:ea typeface="Consolas" pitchFamily="34" charset="-122"/>
                <a:cs typeface="Consolas" pitchFamily="34" charset="-120"/>
              </a:rPr>
              <a:t>80–90%</a:t>
            </a:r>
            <a:endParaRPr lang="en-US" sz="1200" dirty="0"/>
          </a:p>
          <a:p>
            <a:pPr marL="0" indent="0">
              <a:buNone/>
            </a:pPr>
            <a:r>
              <a:rPr lang="en-US" sz="1200" dirty="0">
                <a:solidFill>
                  <a:schemeClr val="tx1"/>
                </a:solidFill>
                <a:latin typeface="Consolas" pitchFamily="34" charset="0"/>
                <a:ea typeface="Consolas" pitchFamily="34" charset="-122"/>
                <a:cs typeface="Consolas" pitchFamily="34" charset="-120"/>
              </a:rPr>
              <a:t>shared</a:t>
            </a:r>
            <a:endParaRPr lang="en-US" sz="1200" dirty="0"/>
          </a:p>
        </p:txBody>
      </p:sp>
      <p:sp>
        <p:nvSpPr>
          <p:cNvPr id="19" name="Text 17"/>
          <p:cNvSpPr txBox="1"/>
          <p:nvPr/>
        </p:nvSpPr>
        <p:spPr>
          <a:xfrm>
            <a:off x="8275320" y="3154680"/>
            <a:ext cx="3367735" cy="50292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Typography, margins, grids, navigation, craftsmanship</a:t>
            </a:r>
            <a:endParaRPr lang="en-US" sz="1400" dirty="0"/>
          </a:p>
        </p:txBody>
      </p:sp>
      <p:sp>
        <p:nvSpPr>
          <p:cNvPr id="20" name="hairline"/>
          <p:cNvSpPr/>
          <p:nvPr/>
        </p:nvSpPr>
        <p:spPr>
          <a:xfrm>
            <a:off x="548640" y="3721608"/>
            <a:ext cx="11094415" cy="0"/>
          </a:xfrm>
          <a:prstGeom prst="line">
            <a:avLst/>
          </a:prstGeom>
          <a:noFill/>
          <a:ln w="9525">
            <a:solidFill>
              <a:srgbClr val="DAD5C9"/>
            </a:solidFill>
            <a:prstDash val="solid"/>
          </a:ln>
        </p:spPr>
      </p:sp>
      <p:sp>
        <p:nvSpPr>
          <p:cNvPr id="21" name="Text 19"/>
          <p:cNvSpPr txBox="1"/>
          <p:nvPr/>
        </p:nvSpPr>
        <p:spPr>
          <a:xfrm>
            <a:off x="548640" y="3904488"/>
            <a:ext cx="2834640" cy="36576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Departmental identity</a:t>
            </a:r>
            <a:endParaRPr lang="en-US" sz="1700" dirty="0"/>
          </a:p>
        </p:txBody>
      </p:sp>
      <p:sp>
        <p:nvSpPr>
          <p:cNvPr id="22" name="bar-track"/>
          <p:cNvSpPr/>
          <p:nvPr/>
        </p:nvSpPr>
        <p:spPr>
          <a:xfrm>
            <a:off x="3520440" y="4005072"/>
            <a:ext cx="2788920" cy="146304"/>
          </a:xfrm>
          <a:prstGeom prst="rect">
            <a:avLst/>
          </a:prstGeom>
          <a:solidFill>
            <a:schemeClr val="accent2"/>
          </a:solidFill>
          <a:ln/>
        </p:spPr>
      </p:sp>
      <p:sp>
        <p:nvSpPr>
          <p:cNvPr id="23" name="bar-fill"/>
          <p:cNvSpPr/>
          <p:nvPr/>
        </p:nvSpPr>
        <p:spPr>
          <a:xfrm>
            <a:off x="3520440" y="4005072"/>
            <a:ext cx="836676" cy="146304"/>
          </a:xfrm>
          <a:prstGeom prst="rect">
            <a:avLst/>
          </a:prstGeom>
          <a:solidFill>
            <a:schemeClr val="accent1"/>
          </a:solidFill>
          <a:ln/>
        </p:spPr>
      </p:sp>
      <p:sp>
        <p:nvSpPr>
          <p:cNvPr id="24" name="bar-range"/>
          <p:cNvSpPr/>
          <p:nvPr/>
        </p:nvSpPr>
        <p:spPr>
          <a:xfrm>
            <a:off x="4357116" y="4005072"/>
            <a:ext cx="278892" cy="146304"/>
          </a:xfrm>
          <a:prstGeom prst="rect">
            <a:avLst/>
          </a:prstGeom>
          <a:solidFill>
            <a:schemeClr val="accent1">
              <a:alpha val="45000"/>
            </a:schemeClr>
          </a:solidFill>
          <a:ln/>
        </p:spPr>
      </p:sp>
      <p:sp>
        <p:nvSpPr>
          <p:cNvPr id="25" name="Text 23"/>
          <p:cNvSpPr txBox="1"/>
          <p:nvPr/>
        </p:nvSpPr>
        <p:spPr>
          <a:xfrm>
            <a:off x="6629400" y="3849624"/>
            <a:ext cx="1508760" cy="502920"/>
          </a:xfrm>
          <a:prstGeom prst="rect">
            <a:avLst/>
          </a:prstGeom>
          <a:noFill/>
          <a:ln/>
        </p:spPr>
        <p:txBody>
          <a:bodyPr wrap="square" lIns="0" tIns="0" rIns="0" bIns="0" rtlCol="0" anchor="ctr"/>
          <a:lstStyle/>
          <a:p>
            <a:pPr marL="0" indent="0">
              <a:buNone/>
            </a:pPr>
            <a:r>
              <a:rPr lang="en-US" sz="1200" dirty="0">
                <a:solidFill>
                  <a:schemeClr val="tx1"/>
                </a:solidFill>
                <a:latin typeface="Consolas" pitchFamily="34" charset="0"/>
                <a:ea typeface="Consolas" pitchFamily="34" charset="-122"/>
                <a:cs typeface="Consolas" pitchFamily="34" charset="-120"/>
              </a:rPr>
              <a:t>30–40%</a:t>
            </a:r>
            <a:endParaRPr lang="en-US" sz="1200" dirty="0"/>
          </a:p>
          <a:p>
            <a:pPr marL="0" indent="0">
              <a:buNone/>
            </a:pPr>
            <a:r>
              <a:rPr lang="en-US" sz="1200" dirty="0">
                <a:solidFill>
                  <a:schemeClr val="tx1"/>
                </a:solidFill>
                <a:latin typeface="Consolas" pitchFamily="34" charset="0"/>
                <a:ea typeface="Consolas" pitchFamily="34" charset="-122"/>
                <a:cs typeface="Consolas" pitchFamily="34" charset="-120"/>
              </a:rPr>
              <a:t>differentiated</a:t>
            </a:r>
            <a:endParaRPr lang="en-US" sz="1200" dirty="0"/>
          </a:p>
        </p:txBody>
      </p:sp>
      <p:sp>
        <p:nvSpPr>
          <p:cNvPr id="26" name="Text 24"/>
          <p:cNvSpPr txBox="1"/>
          <p:nvPr/>
        </p:nvSpPr>
        <p:spPr>
          <a:xfrm>
            <a:off x="8275320" y="3849624"/>
            <a:ext cx="3367735" cy="50292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Accent colours, visual motifs, composition preferences</a:t>
            </a:r>
            <a:endParaRPr lang="en-US" sz="1400" dirty="0"/>
          </a:p>
        </p:txBody>
      </p:sp>
      <p:sp>
        <p:nvSpPr>
          <p:cNvPr id="27" name="hairline"/>
          <p:cNvSpPr/>
          <p:nvPr/>
        </p:nvSpPr>
        <p:spPr>
          <a:xfrm>
            <a:off x="548640" y="4416552"/>
            <a:ext cx="11094415" cy="0"/>
          </a:xfrm>
          <a:prstGeom prst="line">
            <a:avLst/>
          </a:prstGeom>
          <a:noFill/>
          <a:ln w="9525">
            <a:solidFill>
              <a:srgbClr val="DAD5C9"/>
            </a:solidFill>
            <a:prstDash val="solid"/>
          </a:ln>
        </p:spPr>
      </p:sp>
      <p:sp>
        <p:nvSpPr>
          <p:cNvPr id="28" name="Text 26"/>
          <p:cNvSpPr txBox="1"/>
          <p:nvPr/>
        </p:nvSpPr>
        <p:spPr>
          <a:xfrm>
            <a:off x="548640" y="4599432"/>
            <a:ext cx="2834640" cy="36576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Presentation purpose</a:t>
            </a:r>
            <a:endParaRPr lang="en-US" sz="1700" dirty="0"/>
          </a:p>
        </p:txBody>
      </p:sp>
      <p:sp>
        <p:nvSpPr>
          <p:cNvPr id="29" name="chip"/>
          <p:cNvSpPr/>
          <p:nvPr/>
        </p:nvSpPr>
        <p:spPr>
          <a:xfrm>
            <a:off x="3520440" y="4617720"/>
            <a:ext cx="601675" cy="292608"/>
          </a:xfrm>
          <a:prstGeom prst="roundRect">
            <a:avLst>
              <a:gd name="adj" fmla="val 18750"/>
            </a:avLst>
          </a:prstGeom>
          <a:solidFill>
            <a:schemeClr val="bg1"/>
          </a:solidFill>
          <a:ln w="9525">
            <a:solidFill>
              <a:srgbClr val="DAD5C9"/>
            </a:solidFill>
            <a:prstDash val="solid"/>
          </a:ln>
        </p:spPr>
      </p:sp>
      <p:sp>
        <p:nvSpPr>
          <p:cNvPr id="30" name="Text 28"/>
          <p:cNvSpPr txBox="1"/>
          <p:nvPr/>
        </p:nvSpPr>
        <p:spPr>
          <a:xfrm>
            <a:off x="3520440" y="4617720"/>
            <a:ext cx="601675" cy="292608"/>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review</a:t>
            </a:r>
            <a:endParaRPr lang="en-US" sz="1000" dirty="0"/>
          </a:p>
        </p:txBody>
      </p:sp>
      <p:sp>
        <p:nvSpPr>
          <p:cNvPr id="31" name="chip"/>
          <p:cNvSpPr/>
          <p:nvPr/>
        </p:nvSpPr>
        <p:spPr>
          <a:xfrm>
            <a:off x="4186123" y="4617720"/>
            <a:ext cx="677570" cy="292608"/>
          </a:xfrm>
          <a:prstGeom prst="roundRect">
            <a:avLst>
              <a:gd name="adj" fmla="val 18750"/>
            </a:avLst>
          </a:prstGeom>
          <a:solidFill>
            <a:schemeClr val="bg1"/>
          </a:solidFill>
          <a:ln w="9525">
            <a:solidFill>
              <a:srgbClr val="DAD5C9"/>
            </a:solidFill>
            <a:prstDash val="solid"/>
          </a:ln>
        </p:spPr>
      </p:sp>
      <p:sp>
        <p:nvSpPr>
          <p:cNvPr id="32" name="Text 30"/>
          <p:cNvSpPr txBox="1"/>
          <p:nvPr/>
        </p:nvSpPr>
        <p:spPr>
          <a:xfrm>
            <a:off x="4186123" y="4617720"/>
            <a:ext cx="677570" cy="292608"/>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summary</a:t>
            </a:r>
            <a:endParaRPr lang="en-US" sz="1000" dirty="0"/>
          </a:p>
        </p:txBody>
      </p:sp>
      <p:sp>
        <p:nvSpPr>
          <p:cNvPr id="33" name="chip"/>
          <p:cNvSpPr/>
          <p:nvPr/>
        </p:nvSpPr>
        <p:spPr>
          <a:xfrm>
            <a:off x="4927702" y="4617720"/>
            <a:ext cx="753466" cy="292608"/>
          </a:xfrm>
          <a:prstGeom prst="roundRect">
            <a:avLst>
              <a:gd name="adj" fmla="val 18750"/>
            </a:avLst>
          </a:prstGeom>
          <a:solidFill>
            <a:schemeClr val="bg1"/>
          </a:solidFill>
          <a:ln w="9525">
            <a:solidFill>
              <a:srgbClr val="DAD5C9"/>
            </a:solidFill>
            <a:prstDash val="solid"/>
          </a:ln>
        </p:spPr>
      </p:sp>
      <p:sp>
        <p:nvSpPr>
          <p:cNvPr id="34" name="Text 32"/>
          <p:cNvSpPr txBox="1"/>
          <p:nvPr/>
        </p:nvSpPr>
        <p:spPr>
          <a:xfrm>
            <a:off x="4927702" y="4617720"/>
            <a:ext cx="753466" cy="292608"/>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strategy</a:t>
            </a:r>
            <a:endParaRPr lang="en-US" sz="1000" dirty="0"/>
          </a:p>
        </p:txBody>
      </p:sp>
      <p:sp>
        <p:nvSpPr>
          <p:cNvPr id="35" name="chip"/>
          <p:cNvSpPr/>
          <p:nvPr/>
        </p:nvSpPr>
        <p:spPr>
          <a:xfrm>
            <a:off x="5745175" y="4617720"/>
            <a:ext cx="753466" cy="292608"/>
          </a:xfrm>
          <a:prstGeom prst="roundRect">
            <a:avLst>
              <a:gd name="adj" fmla="val 18750"/>
            </a:avLst>
          </a:prstGeom>
          <a:solidFill>
            <a:schemeClr val="bg1"/>
          </a:solidFill>
          <a:ln w="9525">
            <a:solidFill>
              <a:srgbClr val="DAD5C9"/>
            </a:solidFill>
            <a:prstDash val="solid"/>
          </a:ln>
        </p:spPr>
      </p:sp>
      <p:sp>
        <p:nvSpPr>
          <p:cNvPr id="36" name="Text 34"/>
          <p:cNvSpPr txBox="1"/>
          <p:nvPr/>
        </p:nvSpPr>
        <p:spPr>
          <a:xfrm>
            <a:off x="5745175" y="4617720"/>
            <a:ext cx="753466" cy="292608"/>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decision</a:t>
            </a:r>
            <a:endParaRPr lang="en-US" sz="1000" dirty="0"/>
          </a:p>
        </p:txBody>
      </p:sp>
      <p:sp>
        <p:nvSpPr>
          <p:cNvPr id="37" name="Text 35"/>
          <p:cNvSpPr txBox="1"/>
          <p:nvPr/>
        </p:nvSpPr>
        <p:spPr>
          <a:xfrm>
            <a:off x="6629400" y="4544568"/>
            <a:ext cx="1508760" cy="502920"/>
          </a:xfrm>
          <a:prstGeom prst="rect">
            <a:avLst/>
          </a:prstGeom>
          <a:noFill/>
          <a:ln/>
        </p:spPr>
        <p:txBody>
          <a:bodyPr wrap="square" lIns="0" tIns="0" rIns="0" bIns="0" rtlCol="0" anchor="ctr"/>
          <a:lstStyle/>
          <a:p>
            <a:pPr marL="0" indent="0">
              <a:buNone/>
            </a:pPr>
            <a:r>
              <a:rPr lang="en-US" sz="1200" dirty="0">
                <a:solidFill>
                  <a:schemeClr val="tx1"/>
                </a:solidFill>
                <a:latin typeface="Consolas" pitchFamily="34" charset="0"/>
                <a:ea typeface="Consolas" pitchFamily="34" charset="-122"/>
                <a:cs typeface="Consolas" pitchFamily="34" charset="-120"/>
              </a:rPr>
              <a:t>Fully</a:t>
            </a:r>
            <a:endParaRPr lang="en-US" sz="1200" dirty="0"/>
          </a:p>
          <a:p>
            <a:pPr marL="0" indent="0">
              <a:buNone/>
            </a:pPr>
            <a:r>
              <a:rPr lang="en-US" sz="1200" dirty="0">
                <a:solidFill>
                  <a:schemeClr val="tx1"/>
                </a:solidFill>
                <a:latin typeface="Consolas" pitchFamily="34" charset="0"/>
                <a:ea typeface="Consolas" pitchFamily="34" charset="-122"/>
                <a:cs typeface="Consolas" pitchFamily="34" charset="-120"/>
              </a:rPr>
              <a:t>adaptive</a:t>
            </a:r>
            <a:endParaRPr lang="en-US" sz="1200" dirty="0"/>
          </a:p>
        </p:txBody>
      </p:sp>
      <p:sp>
        <p:nvSpPr>
          <p:cNvPr id="38" name="Text 36"/>
          <p:cNvSpPr txBox="1"/>
          <p:nvPr/>
        </p:nvSpPr>
        <p:spPr>
          <a:xfrm>
            <a:off x="8275320" y="4544568"/>
            <a:ext cx="3367735" cy="50292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Operational review, executive summary, strategy or decision</a:t>
            </a:r>
            <a:endParaRPr lang="en-US" sz="1400" dirty="0"/>
          </a:p>
        </p:txBody>
      </p:sp>
      <p:sp>
        <p:nvSpPr>
          <p:cNvPr id="39" name="hairline"/>
          <p:cNvSpPr/>
          <p:nvPr/>
        </p:nvSpPr>
        <p:spPr>
          <a:xfrm>
            <a:off x="548640" y="5111496"/>
            <a:ext cx="11094415" cy="0"/>
          </a:xfrm>
          <a:prstGeom prst="line">
            <a:avLst/>
          </a:prstGeom>
          <a:noFill/>
          <a:ln w="9525">
            <a:solidFill>
              <a:srgbClr val="DAD5C9"/>
            </a:solidFill>
            <a:prstDash val="solid"/>
          </a:ln>
        </p:spPr>
      </p:sp>
      <p:sp>
        <p:nvSpPr>
          <p:cNvPr id="40" name="Text 38"/>
          <p:cNvSpPr txBox="1"/>
          <p:nvPr/>
        </p:nvSpPr>
        <p:spPr>
          <a:xfrm>
            <a:off x="548640" y="5294376"/>
            <a:ext cx="2834640" cy="36576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Variant #11 vs #12</a:t>
            </a:r>
            <a:endParaRPr lang="en-US" sz="1700" dirty="0"/>
          </a:p>
        </p:txBody>
      </p:sp>
      <p:sp>
        <p:nvSpPr>
          <p:cNvPr id="41" name="chip"/>
          <p:cNvSpPr/>
          <p:nvPr/>
        </p:nvSpPr>
        <p:spPr>
          <a:xfrm>
            <a:off x="3520440" y="5312664"/>
            <a:ext cx="1132942" cy="292608"/>
          </a:xfrm>
          <a:prstGeom prst="roundRect">
            <a:avLst>
              <a:gd name="adj" fmla="val 18750"/>
            </a:avLst>
          </a:prstGeom>
          <a:solidFill>
            <a:schemeClr val="bg1"/>
          </a:solidFill>
          <a:ln w="9525">
            <a:solidFill>
              <a:srgbClr val="DAD5C9"/>
            </a:solidFill>
            <a:prstDash val="solid"/>
          </a:ln>
        </p:spPr>
      </p:sp>
      <p:sp>
        <p:nvSpPr>
          <p:cNvPr id="42" name="Text 40"/>
          <p:cNvSpPr txBox="1"/>
          <p:nvPr/>
        </p:nvSpPr>
        <p:spPr>
          <a:xfrm>
            <a:off x="3520440" y="5312664"/>
            <a:ext cx="1132942" cy="292608"/>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#11 Editorial</a:t>
            </a:r>
            <a:endParaRPr lang="en-US" sz="1000" dirty="0"/>
          </a:p>
        </p:txBody>
      </p:sp>
      <p:sp>
        <p:nvSpPr>
          <p:cNvPr id="43" name="chip"/>
          <p:cNvSpPr/>
          <p:nvPr/>
        </p:nvSpPr>
        <p:spPr>
          <a:xfrm>
            <a:off x="4717390" y="5312664"/>
            <a:ext cx="1284732" cy="292608"/>
          </a:xfrm>
          <a:prstGeom prst="roundRect">
            <a:avLst>
              <a:gd name="adj" fmla="val 18750"/>
            </a:avLst>
          </a:prstGeom>
          <a:solidFill>
            <a:schemeClr val="bg1"/>
          </a:solidFill>
          <a:ln w="9525">
            <a:solidFill>
              <a:srgbClr val="DAD5C9"/>
            </a:solidFill>
            <a:prstDash val="solid"/>
          </a:ln>
        </p:spPr>
      </p:sp>
      <p:sp>
        <p:nvSpPr>
          <p:cNvPr id="44" name="Text 42"/>
          <p:cNvSpPr txBox="1"/>
          <p:nvPr/>
        </p:nvSpPr>
        <p:spPr>
          <a:xfrm>
            <a:off x="4717390" y="5312664"/>
            <a:ext cx="1284732" cy="292608"/>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#12 Operational</a:t>
            </a:r>
            <a:endParaRPr lang="en-US" sz="1000" dirty="0"/>
          </a:p>
        </p:txBody>
      </p:sp>
      <p:sp>
        <p:nvSpPr>
          <p:cNvPr id="45" name="Text 43"/>
          <p:cNvSpPr txBox="1"/>
          <p:nvPr/>
        </p:nvSpPr>
        <p:spPr>
          <a:xfrm>
            <a:off x="6629400" y="5239512"/>
            <a:ext cx="1508760" cy="502920"/>
          </a:xfrm>
          <a:prstGeom prst="rect">
            <a:avLst/>
          </a:prstGeom>
          <a:noFill/>
          <a:ln/>
        </p:spPr>
        <p:txBody>
          <a:bodyPr wrap="square" lIns="0" tIns="0" rIns="0" bIns="0" rtlCol="0" anchor="ctr"/>
          <a:lstStyle/>
          <a:p>
            <a:pPr marL="0" indent="0">
              <a:buNone/>
            </a:pPr>
            <a:r>
              <a:rPr lang="en-US" sz="1200" dirty="0">
                <a:solidFill>
                  <a:schemeClr val="tx1"/>
                </a:solidFill>
                <a:latin typeface="Consolas" pitchFamily="34" charset="0"/>
                <a:ea typeface="Consolas" pitchFamily="34" charset="-122"/>
                <a:cs typeface="Consolas" pitchFamily="34" charset="-120"/>
              </a:rPr>
              <a:t>Distinct</a:t>
            </a:r>
            <a:endParaRPr lang="en-US" sz="1200" dirty="0"/>
          </a:p>
          <a:p>
            <a:pPr marL="0" indent="0">
              <a:buNone/>
            </a:pPr>
            <a:r>
              <a:rPr lang="en-US" sz="1200" dirty="0">
                <a:solidFill>
                  <a:schemeClr val="tx1"/>
                </a:solidFill>
                <a:latin typeface="Consolas" pitchFamily="34" charset="0"/>
                <a:ea typeface="Consolas" pitchFamily="34" charset="-122"/>
                <a:cs typeface="Consolas" pitchFamily="34" charset="-120"/>
              </a:rPr>
              <a:t>treatment</a:t>
            </a:r>
            <a:endParaRPr lang="en-US" sz="1200" dirty="0"/>
          </a:p>
        </p:txBody>
      </p:sp>
      <p:sp>
        <p:nvSpPr>
          <p:cNvPr id="46" name="Text 44"/>
          <p:cNvSpPr txBox="1"/>
          <p:nvPr/>
        </p:nvSpPr>
        <p:spPr>
          <a:xfrm>
            <a:off x="8275320" y="5239512"/>
            <a:ext cx="3367735" cy="50292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Editorial reporting versus operational intelligence</a:t>
            </a:r>
            <a:endParaRPr lang="en-US" sz="1400" dirty="0"/>
          </a:p>
        </p:txBody>
      </p:sp>
      <p:sp>
        <p:nvSpPr>
          <p:cNvPr id="47" name="hairline"/>
          <p:cNvSpPr/>
          <p:nvPr/>
        </p:nvSpPr>
        <p:spPr>
          <a:xfrm>
            <a:off x="548640" y="5806440"/>
            <a:ext cx="11094415" cy="0"/>
          </a:xfrm>
          <a:prstGeom prst="line">
            <a:avLst/>
          </a:prstGeom>
          <a:noFill/>
          <a:ln w="9525">
            <a:solidFill>
              <a:srgbClr val="DAD5C9"/>
            </a:solidFill>
            <a:prstDash val="solid"/>
          </a:ln>
        </p:spPr>
      </p:sp>
      <p:sp>
        <p:nvSpPr>
          <p:cNvPr id="48" name="Text 46"/>
          <p:cNvSpPr txBox="1"/>
          <p:nvPr/>
        </p:nvSpPr>
        <p:spPr>
          <a:xfrm>
            <a:off x="548640" y="5925312"/>
            <a:ext cx="11094415" cy="274320"/>
          </a:xfrm>
          <a:prstGeom prst="rect">
            <a:avLst/>
          </a:prstGeom>
          <a:noFill/>
          <a:ln/>
        </p:spPr>
        <p:txBody>
          <a:bodyPr wrap="square" lIns="0" tIns="0" rIns="0" bIns="0" rtlCol="0" anchor="t"/>
          <a:lstStyle/>
          <a:p>
            <a:pPr marL="0" indent="0">
              <a:buNone/>
            </a:pPr>
            <a:r>
              <a:rPr lang="en-US" sz="1200" b="1" i="1" dirty="0">
                <a:solidFill>
                  <a:schemeClr val="accent3"/>
                </a:solidFill>
                <a:latin typeface="Calibri" pitchFamily="34" charset="0"/>
                <a:ea typeface="Calibri" pitchFamily="34" charset="-122"/>
                <a:cs typeface="Calibri" pitchFamily="34" charset="-120"/>
              </a:rPr>
              <a:t>Midnight = shared, turquoise = differentiated. </a:t>
            </a:r>
            <a:r>
              <a:rPr lang="en-US" sz="1200" i="1" dirty="0">
                <a:solidFill>
                  <a:schemeClr val="accent3"/>
                </a:solidFill>
                <a:latin typeface="Calibri" pitchFamily="34" charset="0"/>
                <a:ea typeface="Calibri" pitchFamily="34" charset="-122"/>
                <a:cs typeface="Calibri" pitchFamily="34" charset="-120"/>
              </a:rPr>
              <a:t>Percentages are design targets, not measured properties of the existing skills.</a:t>
            </a:r>
            <a:endParaRPr lang="en-US" sz="1200" dirty="0"/>
          </a:p>
        </p:txBody>
      </p:sp>
      <p:sp>
        <p:nvSpPr>
          <p:cNvPr id="49" name="Slide Number Placeholder 0"/>
          <p:cNvSpPr>
            <a:spLocks noGrp="1"/>
          </p:cNvSpPr>
          <p:nvPr>
            <p:ph type="sldNum" sz="quarter" idx="4294967295"/>
          </p:nvPr>
        </p:nvSpPr>
        <p:spPr>
          <a:xfrm>
            <a:off x="10911535" y="6382512"/>
            <a:ext cx="73152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t"/>
          <a:lstStyle/>
          <a:p>
            <a:pPr marL="0" indent="0">
              <a:buNone/>
            </a:pPr>
            <a:r>
              <a:rPr lang="en-US" sz="1000" kern="0" spc="100" dirty="0">
                <a:solidFill>
                  <a:schemeClr val="accent3"/>
                </a:solidFill>
                <a:latin typeface="Consolas" pitchFamily="34" charset="0"/>
                <a:ea typeface="Consolas" pitchFamily="34" charset="-122"/>
                <a:cs typeface="Consolas" pitchFamily="34" charset="-120"/>
              </a:rPr>
              <a:t>03 — DEPARTMENTS</a:t>
            </a:r>
            <a:endParaRPr lang="en-US" sz="1000" dirty="0"/>
          </a:p>
        </p:txBody>
      </p:sp>
      <p:sp>
        <p:nvSpPr>
          <p:cNvPr id="3" name="Text 0"/>
          <p:cNvSpPr>
            <a:spLocks noGrp="1"/>
          </p:cNvSpPr>
          <p:nvPr>
            <p:ph type="title" idx="101" hasCustomPrompt="1"/>
          </p:nvPr>
        </p:nvSpPr>
        <p:spPr>
          <a:xfrm>
            <a:off x="548640" y="749808"/>
            <a:ext cx="10607040" cy="1097280"/>
          </a:xfrm>
          <a:prstGeom prst="rect">
            <a:avLst/>
          </a:prstGeom>
          <a:noFill/>
          <a:ln/>
        </p:spPr>
        <p:txBody>
          <a:bodyPr wrap="square" lIns="0" tIns="0" rIns="0" bIns="0" rtlCol="0" anchor="t"/>
          <a:lstStyle/>
          <a:p>
            <a:pPr marL="0" indent="0" algn="l">
              <a:buNone/>
            </a:pPr>
            <a:r>
              <a:rPr lang="en-US" sz="3000" b="1" dirty="0">
                <a:solidFill>
                  <a:schemeClr val="tx2"/>
                </a:solidFill>
              </a:rPr>
              <a:t>Each department gets a design personality, not just a colour</a:t>
            </a:r>
            <a:endParaRPr lang="en-US" sz="3000" dirty="0"/>
          </a:p>
        </p:txBody>
      </p:sp>
      <p:sp>
        <p:nvSpPr>
          <p:cNvPr id="4" name="card-CTS"/>
          <p:cNvSpPr/>
          <p:nvPr/>
        </p:nvSpPr>
        <p:spPr>
          <a:xfrm>
            <a:off x="548640" y="2011680"/>
            <a:ext cx="2615184" cy="1874520"/>
          </a:xfrm>
          <a:prstGeom prst="rect">
            <a:avLst/>
          </a:prstGeom>
          <a:solidFill>
            <a:schemeClr val="bg1"/>
          </a:solidFill>
          <a:ln w="9525">
            <a:solidFill>
              <a:srgbClr val="DAD5C9"/>
            </a:solidFill>
            <a:prstDash val="solid"/>
          </a:ln>
        </p:spPr>
      </p:sp>
      <p:sp>
        <p:nvSpPr>
          <p:cNvPr id="5" name="swatch-CTS-0"/>
          <p:cNvSpPr/>
          <p:nvPr/>
        </p:nvSpPr>
        <p:spPr>
          <a:xfrm>
            <a:off x="731520" y="2194560"/>
            <a:ext cx="384048" cy="384048"/>
          </a:xfrm>
          <a:prstGeom prst="rect">
            <a:avLst/>
          </a:prstGeom>
          <a:solidFill>
            <a:srgbClr val="14191D"/>
          </a:solidFill>
          <a:ln w="6350">
            <a:solidFill>
              <a:srgbClr val="D3CEC2"/>
            </a:solidFill>
            <a:prstDash val="solid"/>
          </a:ln>
        </p:spPr>
      </p:sp>
      <p:sp>
        <p:nvSpPr>
          <p:cNvPr id="6" name="swatch-CTS-1"/>
          <p:cNvSpPr/>
          <p:nvPr/>
        </p:nvSpPr>
        <p:spPr>
          <a:xfrm>
            <a:off x="1170432" y="2194560"/>
            <a:ext cx="384048" cy="384048"/>
          </a:xfrm>
          <a:prstGeom prst="rect">
            <a:avLst/>
          </a:prstGeom>
          <a:solidFill>
            <a:srgbClr val="38B8AD"/>
          </a:solidFill>
          <a:ln w="6350">
            <a:solidFill>
              <a:srgbClr val="D3CEC2"/>
            </a:solidFill>
            <a:prstDash val="solid"/>
          </a:ln>
        </p:spPr>
      </p:sp>
      <p:sp>
        <p:nvSpPr>
          <p:cNvPr id="7" name="swatch-CTS-2"/>
          <p:cNvSpPr/>
          <p:nvPr/>
        </p:nvSpPr>
        <p:spPr>
          <a:xfrm>
            <a:off x="1609344" y="2194560"/>
            <a:ext cx="384048" cy="384048"/>
          </a:xfrm>
          <a:prstGeom prst="rect">
            <a:avLst/>
          </a:prstGeom>
          <a:solidFill>
            <a:srgbClr val="537C91"/>
          </a:solidFill>
          <a:ln w="6350">
            <a:solidFill>
              <a:srgbClr val="D3CEC2"/>
            </a:solidFill>
            <a:prstDash val="solid"/>
          </a:ln>
        </p:spPr>
      </p:sp>
      <p:sp>
        <p:nvSpPr>
          <p:cNvPr id="8" name="Text 6"/>
          <p:cNvSpPr txBox="1"/>
          <p:nvPr/>
        </p:nvSpPr>
        <p:spPr>
          <a:xfrm>
            <a:off x="2523744" y="2212848"/>
            <a:ext cx="457200" cy="274320"/>
          </a:xfrm>
          <a:prstGeom prst="rect">
            <a:avLst/>
          </a:prstGeom>
          <a:noFill/>
          <a:ln/>
        </p:spPr>
        <p:txBody>
          <a:bodyPr wrap="square" lIns="0" tIns="0" rIns="0" bIns="0" rtlCol="0" anchor="t"/>
          <a:lstStyle/>
          <a:p>
            <a:pPr marL="0" indent="0" algn="r">
              <a:buNone/>
            </a:pPr>
            <a:r>
              <a:rPr lang="en-US" sz="1200" dirty="0">
                <a:solidFill>
                  <a:schemeClr val="accent3"/>
                </a:solidFill>
                <a:latin typeface="Consolas" pitchFamily="34" charset="0"/>
                <a:ea typeface="Consolas" pitchFamily="34" charset="-122"/>
                <a:cs typeface="Consolas" pitchFamily="34" charset="-120"/>
              </a:rPr>
              <a:t>01</a:t>
            </a:r>
            <a:endParaRPr lang="en-US" sz="1200" dirty="0"/>
          </a:p>
        </p:txBody>
      </p:sp>
      <p:sp>
        <p:nvSpPr>
          <p:cNvPr id="9" name="Text 7"/>
          <p:cNvSpPr txBox="1"/>
          <p:nvPr/>
        </p:nvSpPr>
        <p:spPr>
          <a:xfrm>
            <a:off x="731520" y="2724912"/>
            <a:ext cx="2249424" cy="292608"/>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CTS</a:t>
            </a:r>
            <a:endParaRPr lang="en-US" sz="1500" dirty="0"/>
          </a:p>
        </p:txBody>
      </p:sp>
      <p:sp>
        <p:nvSpPr>
          <p:cNvPr id="10" name="Text 8"/>
          <p:cNvSpPr txBox="1"/>
          <p:nvPr/>
        </p:nvSpPr>
        <p:spPr>
          <a:xfrm>
            <a:off x="731520" y="3017520"/>
            <a:ext cx="2249424" cy="274320"/>
          </a:xfrm>
          <a:prstGeom prst="rect">
            <a:avLst/>
          </a:prstGeom>
          <a:noFill/>
          <a:ln/>
        </p:spPr>
        <p:txBody>
          <a:bodyPr wrap="square" lIns="0" tIns="0" rIns="0" bIns="0" rtlCol="0" anchor="t"/>
          <a:lstStyle/>
          <a:p>
            <a:pPr marL="0" indent="0">
              <a:buNone/>
            </a:pPr>
            <a:r>
              <a:rPr lang="en-US" sz="1300" i="1" dirty="0">
                <a:solidFill>
                  <a:srgbClr val="14191D"/>
                </a:solidFill>
                <a:latin typeface="Calibri" pitchFamily="34" charset="0"/>
                <a:ea typeface="Calibri" pitchFamily="34" charset="-122"/>
                <a:cs typeface="Calibri" pitchFamily="34" charset="-120"/>
              </a:rPr>
              <a:t>Mission Control</a:t>
            </a:r>
            <a:endParaRPr lang="en-US" sz="1300" dirty="0"/>
          </a:p>
        </p:txBody>
      </p:sp>
      <p:sp>
        <p:nvSpPr>
          <p:cNvPr id="11" name="Text 9"/>
          <p:cNvSpPr txBox="1"/>
          <p:nvPr/>
        </p:nvSpPr>
        <p:spPr>
          <a:xfrm>
            <a:off x="731520" y="3337560"/>
            <a:ext cx="2249424" cy="457200"/>
          </a:xfrm>
          <a:prstGeom prst="rect">
            <a:avLst/>
          </a:prstGeom>
          <a:noFill/>
          <a:ln/>
        </p:spPr>
        <p:txBody>
          <a:bodyPr wrap="square" lIns="0" tIns="0" rIns="0" bIns="0" rtlCol="0" anchor="t"/>
          <a:lstStyle/>
          <a:p>
            <a:pPr marL="0" indent="0">
              <a:buNone/>
            </a:pPr>
            <a:r>
              <a:rPr lang="en-US" sz="1100" dirty="0">
                <a:solidFill>
                  <a:schemeClr val="accent3"/>
                </a:solidFill>
                <a:latin typeface="Calibri" pitchFamily="34" charset="0"/>
                <a:ea typeface="Calibri" pitchFamily="34" charset="-122"/>
                <a:cs typeface="Calibri" pitchFamily="34" charset="-120"/>
              </a:rPr>
              <a:t>Thin network signal line</a:t>
            </a:r>
            <a:endParaRPr lang="en-US" sz="1100" dirty="0"/>
          </a:p>
        </p:txBody>
      </p:sp>
      <p:sp>
        <p:nvSpPr>
          <p:cNvPr id="12" name="card-PMO"/>
          <p:cNvSpPr/>
          <p:nvPr/>
        </p:nvSpPr>
        <p:spPr>
          <a:xfrm>
            <a:off x="3375050" y="2011680"/>
            <a:ext cx="2615184" cy="1874520"/>
          </a:xfrm>
          <a:prstGeom prst="rect">
            <a:avLst/>
          </a:prstGeom>
          <a:solidFill>
            <a:schemeClr val="bg1"/>
          </a:solidFill>
          <a:ln w="9525">
            <a:solidFill>
              <a:srgbClr val="DAD5C9"/>
            </a:solidFill>
            <a:prstDash val="solid"/>
          </a:ln>
        </p:spPr>
      </p:sp>
      <p:sp>
        <p:nvSpPr>
          <p:cNvPr id="13" name="swatch-PMO-0"/>
          <p:cNvSpPr/>
          <p:nvPr/>
        </p:nvSpPr>
        <p:spPr>
          <a:xfrm>
            <a:off x="3557930" y="2194560"/>
            <a:ext cx="384048" cy="384048"/>
          </a:xfrm>
          <a:prstGeom prst="rect">
            <a:avLst/>
          </a:prstGeom>
          <a:solidFill>
            <a:srgbClr val="182C42"/>
          </a:solidFill>
          <a:ln w="6350">
            <a:solidFill>
              <a:srgbClr val="D3CEC2"/>
            </a:solidFill>
            <a:prstDash val="solid"/>
          </a:ln>
        </p:spPr>
      </p:sp>
      <p:sp>
        <p:nvSpPr>
          <p:cNvPr id="14" name="swatch-PMO-1"/>
          <p:cNvSpPr/>
          <p:nvPr/>
        </p:nvSpPr>
        <p:spPr>
          <a:xfrm>
            <a:off x="3996842" y="2194560"/>
            <a:ext cx="384048" cy="384048"/>
          </a:xfrm>
          <a:prstGeom prst="rect">
            <a:avLst/>
          </a:prstGeom>
          <a:solidFill>
            <a:srgbClr val="4777B8"/>
          </a:solidFill>
          <a:ln w="6350">
            <a:solidFill>
              <a:srgbClr val="D3CEC2"/>
            </a:solidFill>
            <a:prstDash val="solid"/>
          </a:ln>
        </p:spPr>
      </p:sp>
      <p:sp>
        <p:nvSpPr>
          <p:cNvPr id="15" name="swatch-PMO-2"/>
          <p:cNvSpPr/>
          <p:nvPr/>
        </p:nvSpPr>
        <p:spPr>
          <a:xfrm>
            <a:off x="4435754" y="2194560"/>
            <a:ext cx="384048" cy="384048"/>
          </a:xfrm>
          <a:prstGeom prst="rect">
            <a:avLst/>
          </a:prstGeom>
          <a:solidFill>
            <a:srgbClr val="D8D5CD"/>
          </a:solidFill>
          <a:ln w="6350">
            <a:solidFill>
              <a:srgbClr val="D3CEC2"/>
            </a:solidFill>
            <a:prstDash val="solid"/>
          </a:ln>
        </p:spPr>
      </p:sp>
      <p:sp>
        <p:nvSpPr>
          <p:cNvPr id="16" name="Text 14"/>
          <p:cNvSpPr txBox="1"/>
          <p:nvPr/>
        </p:nvSpPr>
        <p:spPr>
          <a:xfrm>
            <a:off x="5350154" y="2212848"/>
            <a:ext cx="457200" cy="274320"/>
          </a:xfrm>
          <a:prstGeom prst="rect">
            <a:avLst/>
          </a:prstGeom>
          <a:noFill/>
          <a:ln/>
        </p:spPr>
        <p:txBody>
          <a:bodyPr wrap="square" lIns="0" tIns="0" rIns="0" bIns="0" rtlCol="0" anchor="t"/>
          <a:lstStyle/>
          <a:p>
            <a:pPr marL="0" indent="0" algn="r">
              <a:buNone/>
            </a:pPr>
            <a:r>
              <a:rPr lang="en-US" sz="1200" dirty="0">
                <a:solidFill>
                  <a:schemeClr val="accent3"/>
                </a:solidFill>
                <a:latin typeface="Consolas" pitchFamily="34" charset="0"/>
                <a:ea typeface="Consolas" pitchFamily="34" charset="-122"/>
                <a:cs typeface="Consolas" pitchFamily="34" charset="-120"/>
              </a:rPr>
              <a:t>02</a:t>
            </a:r>
            <a:endParaRPr lang="en-US" sz="1200" dirty="0"/>
          </a:p>
        </p:txBody>
      </p:sp>
      <p:sp>
        <p:nvSpPr>
          <p:cNvPr id="17" name="Text 15"/>
          <p:cNvSpPr txBox="1"/>
          <p:nvPr/>
        </p:nvSpPr>
        <p:spPr>
          <a:xfrm>
            <a:off x="3557930" y="2724912"/>
            <a:ext cx="2249424" cy="292608"/>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PMO</a:t>
            </a:r>
            <a:endParaRPr lang="en-US" sz="1500" dirty="0"/>
          </a:p>
        </p:txBody>
      </p:sp>
      <p:sp>
        <p:nvSpPr>
          <p:cNvPr id="18" name="Text 16"/>
          <p:cNvSpPr txBox="1"/>
          <p:nvPr/>
        </p:nvSpPr>
        <p:spPr>
          <a:xfrm>
            <a:off x="3557930" y="3017520"/>
            <a:ext cx="2249424" cy="274320"/>
          </a:xfrm>
          <a:prstGeom prst="rect">
            <a:avLst/>
          </a:prstGeom>
          <a:noFill/>
          <a:ln/>
        </p:spPr>
        <p:txBody>
          <a:bodyPr wrap="square" lIns="0" tIns="0" rIns="0" bIns="0" rtlCol="0" anchor="t"/>
          <a:lstStyle/>
          <a:p>
            <a:pPr marL="0" indent="0">
              <a:buNone/>
            </a:pPr>
            <a:r>
              <a:rPr lang="en-US" sz="1300" i="1" dirty="0">
                <a:solidFill>
                  <a:srgbClr val="182C42"/>
                </a:solidFill>
                <a:latin typeface="Calibri" pitchFamily="34" charset="0"/>
                <a:ea typeface="Calibri" pitchFamily="34" charset="-122"/>
                <a:cs typeface="Calibri" pitchFamily="34" charset="-120"/>
              </a:rPr>
              <a:t>Precision in Motion</a:t>
            </a:r>
            <a:endParaRPr lang="en-US" sz="1300" dirty="0"/>
          </a:p>
        </p:txBody>
      </p:sp>
      <p:sp>
        <p:nvSpPr>
          <p:cNvPr id="19" name="Text 17"/>
          <p:cNvSpPr txBox="1"/>
          <p:nvPr/>
        </p:nvSpPr>
        <p:spPr>
          <a:xfrm>
            <a:off x="3557930" y="3337560"/>
            <a:ext cx="2249424" cy="457200"/>
          </a:xfrm>
          <a:prstGeom prst="rect">
            <a:avLst/>
          </a:prstGeom>
          <a:noFill/>
          <a:ln/>
        </p:spPr>
        <p:txBody>
          <a:bodyPr wrap="square" lIns="0" tIns="0" rIns="0" bIns="0" rtlCol="0" anchor="t"/>
          <a:lstStyle/>
          <a:p>
            <a:pPr marL="0" indent="0">
              <a:buNone/>
            </a:pPr>
            <a:r>
              <a:rPr lang="en-US" sz="1100" dirty="0">
                <a:solidFill>
                  <a:schemeClr val="accent3"/>
                </a:solidFill>
                <a:latin typeface="Calibri" pitchFamily="34" charset="0"/>
                <a:ea typeface="Calibri" pitchFamily="34" charset="-122"/>
                <a:cs typeface="Calibri" pitchFamily="34" charset="-120"/>
              </a:rPr>
              <a:t>Architectural guide lines, milestone markers</a:t>
            </a:r>
            <a:endParaRPr lang="en-US" sz="1100" dirty="0"/>
          </a:p>
        </p:txBody>
      </p:sp>
      <p:sp>
        <p:nvSpPr>
          <p:cNvPr id="20" name="card-S&amp;M"/>
          <p:cNvSpPr/>
          <p:nvPr/>
        </p:nvSpPr>
        <p:spPr>
          <a:xfrm>
            <a:off x="6201461" y="2011680"/>
            <a:ext cx="2615184" cy="1874520"/>
          </a:xfrm>
          <a:prstGeom prst="rect">
            <a:avLst/>
          </a:prstGeom>
          <a:solidFill>
            <a:schemeClr val="bg1"/>
          </a:solidFill>
          <a:ln w="9525">
            <a:solidFill>
              <a:srgbClr val="DAD5C9"/>
            </a:solidFill>
            <a:prstDash val="solid"/>
          </a:ln>
        </p:spPr>
      </p:sp>
      <p:sp>
        <p:nvSpPr>
          <p:cNvPr id="21" name="swatch-S&amp;M-0"/>
          <p:cNvSpPr/>
          <p:nvPr/>
        </p:nvSpPr>
        <p:spPr>
          <a:xfrm>
            <a:off x="6384341" y="2194560"/>
            <a:ext cx="384048" cy="384048"/>
          </a:xfrm>
          <a:prstGeom prst="rect">
            <a:avLst/>
          </a:prstGeom>
          <a:solidFill>
            <a:srgbClr val="252525"/>
          </a:solidFill>
          <a:ln w="6350">
            <a:solidFill>
              <a:srgbClr val="D3CEC2"/>
            </a:solidFill>
            <a:prstDash val="solid"/>
          </a:ln>
        </p:spPr>
      </p:sp>
      <p:sp>
        <p:nvSpPr>
          <p:cNvPr id="22" name="swatch-S&amp;M-1"/>
          <p:cNvSpPr/>
          <p:nvPr/>
        </p:nvSpPr>
        <p:spPr>
          <a:xfrm>
            <a:off x="6823253" y="2194560"/>
            <a:ext cx="384048" cy="384048"/>
          </a:xfrm>
          <a:prstGeom prst="rect">
            <a:avLst/>
          </a:prstGeom>
          <a:solidFill>
            <a:srgbClr val="D97845"/>
          </a:solidFill>
          <a:ln w="6350">
            <a:solidFill>
              <a:srgbClr val="D3CEC2"/>
            </a:solidFill>
            <a:prstDash val="solid"/>
          </a:ln>
        </p:spPr>
      </p:sp>
      <p:sp>
        <p:nvSpPr>
          <p:cNvPr id="23" name="swatch-S&amp;M-2"/>
          <p:cNvSpPr/>
          <p:nvPr/>
        </p:nvSpPr>
        <p:spPr>
          <a:xfrm>
            <a:off x="7262165" y="2194560"/>
            <a:ext cx="384048" cy="384048"/>
          </a:xfrm>
          <a:prstGeom prst="rect">
            <a:avLst/>
          </a:prstGeom>
          <a:solidFill>
            <a:srgbClr val="E8D9BF"/>
          </a:solidFill>
          <a:ln w="6350">
            <a:solidFill>
              <a:srgbClr val="D3CEC2"/>
            </a:solidFill>
            <a:prstDash val="solid"/>
          </a:ln>
        </p:spPr>
      </p:sp>
      <p:sp>
        <p:nvSpPr>
          <p:cNvPr id="24" name="Text 22"/>
          <p:cNvSpPr txBox="1"/>
          <p:nvPr/>
        </p:nvSpPr>
        <p:spPr>
          <a:xfrm>
            <a:off x="8176565" y="2212848"/>
            <a:ext cx="457200" cy="274320"/>
          </a:xfrm>
          <a:prstGeom prst="rect">
            <a:avLst/>
          </a:prstGeom>
          <a:noFill/>
          <a:ln/>
        </p:spPr>
        <p:txBody>
          <a:bodyPr wrap="square" lIns="0" tIns="0" rIns="0" bIns="0" rtlCol="0" anchor="t"/>
          <a:lstStyle/>
          <a:p>
            <a:pPr marL="0" indent="0" algn="r">
              <a:buNone/>
            </a:pPr>
            <a:r>
              <a:rPr lang="en-US" sz="1200" dirty="0">
                <a:solidFill>
                  <a:schemeClr val="accent3"/>
                </a:solidFill>
                <a:latin typeface="Consolas" pitchFamily="34" charset="0"/>
                <a:ea typeface="Consolas" pitchFamily="34" charset="-122"/>
                <a:cs typeface="Consolas" pitchFamily="34" charset="-120"/>
              </a:rPr>
              <a:t>03</a:t>
            </a:r>
            <a:endParaRPr lang="en-US" sz="1200" dirty="0"/>
          </a:p>
        </p:txBody>
      </p:sp>
      <p:sp>
        <p:nvSpPr>
          <p:cNvPr id="25" name="Text 23"/>
          <p:cNvSpPr txBox="1"/>
          <p:nvPr/>
        </p:nvSpPr>
        <p:spPr>
          <a:xfrm>
            <a:off x="6384341" y="2724912"/>
            <a:ext cx="2249424" cy="292608"/>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Sales &amp; Marketing</a:t>
            </a:r>
            <a:endParaRPr lang="en-US" sz="1500" dirty="0"/>
          </a:p>
        </p:txBody>
      </p:sp>
      <p:sp>
        <p:nvSpPr>
          <p:cNvPr id="26" name="Text 24"/>
          <p:cNvSpPr txBox="1"/>
          <p:nvPr/>
        </p:nvSpPr>
        <p:spPr>
          <a:xfrm>
            <a:off x="6384341" y="3017520"/>
            <a:ext cx="2249424" cy="274320"/>
          </a:xfrm>
          <a:prstGeom prst="rect">
            <a:avLst/>
          </a:prstGeom>
          <a:noFill/>
          <a:ln/>
        </p:spPr>
        <p:txBody>
          <a:bodyPr wrap="square" lIns="0" tIns="0" rIns="0" bIns="0" rtlCol="0" anchor="t"/>
          <a:lstStyle/>
          <a:p>
            <a:pPr marL="0" indent="0">
              <a:buNone/>
            </a:pPr>
            <a:r>
              <a:rPr lang="en-US" sz="1300" i="1" dirty="0">
                <a:solidFill>
                  <a:srgbClr val="252525"/>
                </a:solidFill>
                <a:latin typeface="Calibri" pitchFamily="34" charset="0"/>
                <a:ea typeface="Calibri" pitchFamily="34" charset="-122"/>
                <a:cs typeface="Calibri" pitchFamily="34" charset="-120"/>
              </a:rPr>
              <a:t>Growth in Focus</a:t>
            </a:r>
            <a:endParaRPr lang="en-US" sz="1300" dirty="0"/>
          </a:p>
        </p:txBody>
      </p:sp>
      <p:sp>
        <p:nvSpPr>
          <p:cNvPr id="27" name="Text 25"/>
          <p:cNvSpPr txBox="1"/>
          <p:nvPr/>
        </p:nvSpPr>
        <p:spPr>
          <a:xfrm>
            <a:off x="6384341" y="3337560"/>
            <a:ext cx="2249424" cy="457200"/>
          </a:xfrm>
          <a:prstGeom prst="rect">
            <a:avLst/>
          </a:prstGeom>
          <a:noFill/>
          <a:ln/>
        </p:spPr>
        <p:txBody>
          <a:bodyPr wrap="square" lIns="0" tIns="0" rIns="0" bIns="0" rtlCol="0" anchor="t"/>
          <a:lstStyle/>
          <a:p>
            <a:pPr marL="0" indent="0">
              <a:buNone/>
            </a:pPr>
            <a:r>
              <a:rPr lang="en-US" sz="1100" dirty="0">
                <a:solidFill>
                  <a:schemeClr val="accent3"/>
                </a:solidFill>
                <a:latin typeface="Calibri" pitchFamily="34" charset="0"/>
                <a:ea typeface="Calibri" pitchFamily="34" charset="-122"/>
                <a:cs typeface="Calibri" pitchFamily="34" charset="-120"/>
              </a:rPr>
              <a:t>Large editorial numerals, orange highlights</a:t>
            </a:r>
            <a:endParaRPr lang="en-US" sz="1100" dirty="0"/>
          </a:p>
        </p:txBody>
      </p:sp>
      <p:sp>
        <p:nvSpPr>
          <p:cNvPr id="28" name="card-HR/GA"/>
          <p:cNvSpPr/>
          <p:nvPr/>
        </p:nvSpPr>
        <p:spPr>
          <a:xfrm>
            <a:off x="9027871" y="2011680"/>
            <a:ext cx="2615184" cy="1874520"/>
          </a:xfrm>
          <a:prstGeom prst="rect">
            <a:avLst/>
          </a:prstGeom>
          <a:solidFill>
            <a:schemeClr val="bg1"/>
          </a:solidFill>
          <a:ln w="9525">
            <a:solidFill>
              <a:srgbClr val="DAD5C9"/>
            </a:solidFill>
            <a:prstDash val="solid"/>
          </a:ln>
        </p:spPr>
      </p:sp>
      <p:sp>
        <p:nvSpPr>
          <p:cNvPr id="29" name="swatch-HR/GA-0"/>
          <p:cNvSpPr/>
          <p:nvPr/>
        </p:nvSpPr>
        <p:spPr>
          <a:xfrm>
            <a:off x="9210751" y="2194560"/>
            <a:ext cx="384048" cy="384048"/>
          </a:xfrm>
          <a:prstGeom prst="rect">
            <a:avLst/>
          </a:prstGeom>
          <a:solidFill>
            <a:srgbClr val="294D45"/>
          </a:solidFill>
          <a:ln w="6350">
            <a:solidFill>
              <a:srgbClr val="D3CEC2"/>
            </a:solidFill>
            <a:prstDash val="solid"/>
          </a:ln>
        </p:spPr>
      </p:sp>
      <p:sp>
        <p:nvSpPr>
          <p:cNvPr id="30" name="swatch-HR/GA-1"/>
          <p:cNvSpPr/>
          <p:nvPr/>
        </p:nvSpPr>
        <p:spPr>
          <a:xfrm>
            <a:off x="9649663" y="2194560"/>
            <a:ext cx="384048" cy="384048"/>
          </a:xfrm>
          <a:prstGeom prst="rect">
            <a:avLst/>
          </a:prstGeom>
          <a:solidFill>
            <a:srgbClr val="8BAE9B"/>
          </a:solidFill>
          <a:ln w="6350">
            <a:solidFill>
              <a:srgbClr val="D3CEC2"/>
            </a:solidFill>
            <a:prstDash val="solid"/>
          </a:ln>
        </p:spPr>
      </p:sp>
      <p:sp>
        <p:nvSpPr>
          <p:cNvPr id="31" name="swatch-HR/GA-2"/>
          <p:cNvSpPr/>
          <p:nvPr/>
        </p:nvSpPr>
        <p:spPr>
          <a:xfrm>
            <a:off x="10088575" y="2194560"/>
            <a:ext cx="384048" cy="384048"/>
          </a:xfrm>
          <a:prstGeom prst="rect">
            <a:avLst/>
          </a:prstGeom>
          <a:solidFill>
            <a:srgbClr val="E7DED0"/>
          </a:solidFill>
          <a:ln w="6350">
            <a:solidFill>
              <a:srgbClr val="D3CEC2"/>
            </a:solidFill>
            <a:prstDash val="solid"/>
          </a:ln>
        </p:spPr>
      </p:sp>
      <p:sp>
        <p:nvSpPr>
          <p:cNvPr id="32" name="Text 30"/>
          <p:cNvSpPr txBox="1"/>
          <p:nvPr/>
        </p:nvSpPr>
        <p:spPr>
          <a:xfrm>
            <a:off x="11002975" y="2212848"/>
            <a:ext cx="457200" cy="274320"/>
          </a:xfrm>
          <a:prstGeom prst="rect">
            <a:avLst/>
          </a:prstGeom>
          <a:noFill/>
          <a:ln/>
        </p:spPr>
        <p:txBody>
          <a:bodyPr wrap="square" lIns="0" tIns="0" rIns="0" bIns="0" rtlCol="0" anchor="t"/>
          <a:lstStyle/>
          <a:p>
            <a:pPr marL="0" indent="0" algn="r">
              <a:buNone/>
            </a:pPr>
            <a:r>
              <a:rPr lang="en-US" sz="1200" dirty="0">
                <a:solidFill>
                  <a:schemeClr val="accent3"/>
                </a:solidFill>
                <a:latin typeface="Consolas" pitchFamily="34" charset="0"/>
                <a:ea typeface="Consolas" pitchFamily="34" charset="-122"/>
                <a:cs typeface="Consolas" pitchFamily="34" charset="-120"/>
              </a:rPr>
              <a:t>04</a:t>
            </a:r>
            <a:endParaRPr lang="en-US" sz="1200" dirty="0"/>
          </a:p>
        </p:txBody>
      </p:sp>
      <p:sp>
        <p:nvSpPr>
          <p:cNvPr id="33" name="Text 31"/>
          <p:cNvSpPr txBox="1"/>
          <p:nvPr/>
        </p:nvSpPr>
        <p:spPr>
          <a:xfrm>
            <a:off x="9210751" y="2724912"/>
            <a:ext cx="2249424" cy="292608"/>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HR/GA</a:t>
            </a:r>
            <a:endParaRPr lang="en-US" sz="1500" dirty="0"/>
          </a:p>
        </p:txBody>
      </p:sp>
      <p:sp>
        <p:nvSpPr>
          <p:cNvPr id="34" name="Text 32"/>
          <p:cNvSpPr txBox="1"/>
          <p:nvPr/>
        </p:nvSpPr>
        <p:spPr>
          <a:xfrm>
            <a:off x="9210751" y="3017520"/>
            <a:ext cx="2249424" cy="274320"/>
          </a:xfrm>
          <a:prstGeom prst="rect">
            <a:avLst/>
          </a:prstGeom>
          <a:noFill/>
          <a:ln/>
        </p:spPr>
        <p:txBody>
          <a:bodyPr wrap="square" lIns="0" tIns="0" rIns="0" bIns="0" rtlCol="0" anchor="t"/>
          <a:lstStyle/>
          <a:p>
            <a:pPr marL="0" indent="0">
              <a:buNone/>
            </a:pPr>
            <a:r>
              <a:rPr lang="en-US" sz="1300" i="1" dirty="0">
                <a:solidFill>
                  <a:srgbClr val="294D45"/>
                </a:solidFill>
                <a:latin typeface="Calibri" pitchFamily="34" charset="0"/>
                <a:ea typeface="Calibri" pitchFamily="34" charset="-122"/>
                <a:cs typeface="Calibri" pitchFamily="34" charset="-120"/>
              </a:rPr>
              <a:t>Human Capital</a:t>
            </a:r>
            <a:endParaRPr lang="en-US" sz="1300" dirty="0"/>
          </a:p>
        </p:txBody>
      </p:sp>
      <p:sp>
        <p:nvSpPr>
          <p:cNvPr id="35" name="Text 33"/>
          <p:cNvSpPr txBox="1"/>
          <p:nvPr/>
        </p:nvSpPr>
        <p:spPr>
          <a:xfrm>
            <a:off x="9210751" y="3337560"/>
            <a:ext cx="2249424" cy="457200"/>
          </a:xfrm>
          <a:prstGeom prst="rect">
            <a:avLst/>
          </a:prstGeom>
          <a:noFill/>
          <a:ln/>
        </p:spPr>
        <p:txBody>
          <a:bodyPr wrap="square" lIns="0" tIns="0" rIns="0" bIns="0" rtlCol="0" anchor="t"/>
          <a:lstStyle/>
          <a:p>
            <a:pPr marL="0" indent="0">
              <a:buNone/>
            </a:pPr>
            <a:r>
              <a:rPr lang="en-US" sz="1100" dirty="0">
                <a:solidFill>
                  <a:schemeClr val="accent3"/>
                </a:solidFill>
                <a:latin typeface="Calibri" pitchFamily="34" charset="0"/>
                <a:ea typeface="Calibri" pitchFamily="34" charset="-122"/>
                <a:cs typeface="Calibri" pitchFamily="34" charset="-120"/>
              </a:rPr>
              <a:t>Soft geometric divisions</a:t>
            </a:r>
            <a:endParaRPr lang="en-US" sz="1100" dirty="0"/>
          </a:p>
        </p:txBody>
      </p:sp>
      <p:sp>
        <p:nvSpPr>
          <p:cNvPr id="36" name="card-FIN"/>
          <p:cNvSpPr/>
          <p:nvPr/>
        </p:nvSpPr>
        <p:spPr>
          <a:xfrm>
            <a:off x="548640" y="4069080"/>
            <a:ext cx="2615184" cy="1874520"/>
          </a:xfrm>
          <a:prstGeom prst="rect">
            <a:avLst/>
          </a:prstGeom>
          <a:solidFill>
            <a:schemeClr val="bg1"/>
          </a:solidFill>
          <a:ln w="9525">
            <a:solidFill>
              <a:srgbClr val="DAD5C9"/>
            </a:solidFill>
            <a:prstDash val="solid"/>
          </a:ln>
        </p:spPr>
      </p:sp>
      <p:sp>
        <p:nvSpPr>
          <p:cNvPr id="37" name="swatch-FIN-0"/>
          <p:cNvSpPr/>
          <p:nvPr/>
        </p:nvSpPr>
        <p:spPr>
          <a:xfrm>
            <a:off x="731520" y="4251960"/>
            <a:ext cx="384048" cy="384048"/>
          </a:xfrm>
          <a:prstGeom prst="rect">
            <a:avLst/>
          </a:prstGeom>
          <a:solidFill>
            <a:srgbClr val="17263B"/>
          </a:solidFill>
          <a:ln w="6350">
            <a:solidFill>
              <a:srgbClr val="D3CEC2"/>
            </a:solidFill>
            <a:prstDash val="solid"/>
          </a:ln>
        </p:spPr>
      </p:sp>
      <p:sp>
        <p:nvSpPr>
          <p:cNvPr id="38" name="swatch-FIN-1"/>
          <p:cNvSpPr/>
          <p:nvPr/>
        </p:nvSpPr>
        <p:spPr>
          <a:xfrm>
            <a:off x="1170432" y="4251960"/>
            <a:ext cx="384048" cy="384048"/>
          </a:xfrm>
          <a:prstGeom prst="rect">
            <a:avLst/>
          </a:prstGeom>
          <a:solidFill>
            <a:srgbClr val="B79A61"/>
          </a:solidFill>
          <a:ln w="6350">
            <a:solidFill>
              <a:srgbClr val="D3CEC2"/>
            </a:solidFill>
            <a:prstDash val="solid"/>
          </a:ln>
        </p:spPr>
      </p:sp>
      <p:sp>
        <p:nvSpPr>
          <p:cNvPr id="39" name="swatch-FIN-2"/>
          <p:cNvSpPr/>
          <p:nvPr/>
        </p:nvSpPr>
        <p:spPr>
          <a:xfrm>
            <a:off x="1609344" y="4251960"/>
            <a:ext cx="384048" cy="384048"/>
          </a:xfrm>
          <a:prstGeom prst="rect">
            <a:avLst/>
          </a:prstGeom>
          <a:solidFill>
            <a:srgbClr val="66717D"/>
          </a:solidFill>
          <a:ln w="6350">
            <a:solidFill>
              <a:srgbClr val="D3CEC2"/>
            </a:solidFill>
            <a:prstDash val="solid"/>
          </a:ln>
        </p:spPr>
      </p:sp>
      <p:sp>
        <p:nvSpPr>
          <p:cNvPr id="40" name="Text 38"/>
          <p:cNvSpPr txBox="1"/>
          <p:nvPr/>
        </p:nvSpPr>
        <p:spPr>
          <a:xfrm>
            <a:off x="2523744" y="4270248"/>
            <a:ext cx="457200" cy="274320"/>
          </a:xfrm>
          <a:prstGeom prst="rect">
            <a:avLst/>
          </a:prstGeom>
          <a:noFill/>
          <a:ln/>
        </p:spPr>
        <p:txBody>
          <a:bodyPr wrap="square" lIns="0" tIns="0" rIns="0" bIns="0" rtlCol="0" anchor="t"/>
          <a:lstStyle/>
          <a:p>
            <a:pPr marL="0" indent="0" algn="r">
              <a:buNone/>
            </a:pPr>
            <a:r>
              <a:rPr lang="en-US" sz="1200" dirty="0">
                <a:solidFill>
                  <a:schemeClr val="accent3"/>
                </a:solidFill>
                <a:latin typeface="Consolas" pitchFamily="34" charset="0"/>
                <a:ea typeface="Consolas" pitchFamily="34" charset="-122"/>
                <a:cs typeface="Consolas" pitchFamily="34" charset="-120"/>
              </a:rPr>
              <a:t>05</a:t>
            </a:r>
            <a:endParaRPr lang="en-US" sz="1200" dirty="0"/>
          </a:p>
        </p:txBody>
      </p:sp>
      <p:sp>
        <p:nvSpPr>
          <p:cNvPr id="41" name="Text 39"/>
          <p:cNvSpPr txBox="1"/>
          <p:nvPr/>
        </p:nvSpPr>
        <p:spPr>
          <a:xfrm>
            <a:off x="731520" y="4782312"/>
            <a:ext cx="2249424" cy="292608"/>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Finance</a:t>
            </a:r>
            <a:endParaRPr lang="en-US" sz="1500" dirty="0"/>
          </a:p>
        </p:txBody>
      </p:sp>
      <p:sp>
        <p:nvSpPr>
          <p:cNvPr id="42" name="Text 40"/>
          <p:cNvSpPr txBox="1"/>
          <p:nvPr/>
        </p:nvSpPr>
        <p:spPr>
          <a:xfrm>
            <a:off x="731520" y="5074920"/>
            <a:ext cx="2249424" cy="274320"/>
          </a:xfrm>
          <a:prstGeom prst="rect">
            <a:avLst/>
          </a:prstGeom>
          <a:noFill/>
          <a:ln/>
        </p:spPr>
        <p:txBody>
          <a:bodyPr wrap="square" lIns="0" tIns="0" rIns="0" bIns="0" rtlCol="0" anchor="t"/>
          <a:lstStyle/>
          <a:p>
            <a:pPr marL="0" indent="0">
              <a:buNone/>
            </a:pPr>
            <a:r>
              <a:rPr lang="en-US" sz="1300" i="1" dirty="0">
                <a:solidFill>
                  <a:srgbClr val="17263B"/>
                </a:solidFill>
                <a:latin typeface="Calibri" pitchFamily="34" charset="0"/>
                <a:ea typeface="Calibri" pitchFamily="34" charset="-122"/>
                <a:cs typeface="Calibri" pitchFamily="34" charset="-120"/>
              </a:rPr>
              <a:t>Clarity of Capital</a:t>
            </a:r>
            <a:endParaRPr lang="en-US" sz="1300" dirty="0"/>
          </a:p>
        </p:txBody>
      </p:sp>
      <p:sp>
        <p:nvSpPr>
          <p:cNvPr id="43" name="Text 41"/>
          <p:cNvSpPr txBox="1"/>
          <p:nvPr/>
        </p:nvSpPr>
        <p:spPr>
          <a:xfrm>
            <a:off x="731520" y="5394960"/>
            <a:ext cx="2249424" cy="457200"/>
          </a:xfrm>
          <a:prstGeom prst="rect">
            <a:avLst/>
          </a:prstGeom>
          <a:noFill/>
          <a:ln/>
        </p:spPr>
        <p:txBody>
          <a:bodyPr wrap="square" lIns="0" tIns="0" rIns="0" bIns="0" rtlCol="0" anchor="t"/>
          <a:lstStyle/>
          <a:p>
            <a:pPr marL="0" indent="0">
              <a:buNone/>
            </a:pPr>
            <a:r>
              <a:rPr lang="en-US" sz="1100" dirty="0">
                <a:solidFill>
                  <a:schemeClr val="accent3"/>
                </a:solidFill>
                <a:latin typeface="Calibri" pitchFamily="34" charset="0"/>
                <a:ea typeface="Calibri" pitchFamily="34" charset="-122"/>
                <a:cs typeface="Calibri" pitchFamily="34" charset="-120"/>
              </a:rPr>
              <a:t>Fine gold rules, tabular numerals</a:t>
            </a:r>
            <a:endParaRPr lang="en-US" sz="1100" dirty="0"/>
          </a:p>
        </p:txBody>
      </p:sp>
      <p:sp>
        <p:nvSpPr>
          <p:cNvPr id="44" name="card-CON"/>
          <p:cNvSpPr/>
          <p:nvPr/>
        </p:nvSpPr>
        <p:spPr>
          <a:xfrm>
            <a:off x="3375050" y="4069080"/>
            <a:ext cx="2615184" cy="1874520"/>
          </a:xfrm>
          <a:prstGeom prst="rect">
            <a:avLst/>
          </a:prstGeom>
          <a:solidFill>
            <a:schemeClr val="bg1"/>
          </a:solidFill>
          <a:ln w="9525">
            <a:solidFill>
              <a:srgbClr val="DAD5C9"/>
            </a:solidFill>
            <a:prstDash val="solid"/>
          </a:ln>
        </p:spPr>
      </p:sp>
      <p:sp>
        <p:nvSpPr>
          <p:cNvPr id="45" name="swatch-CON-0"/>
          <p:cNvSpPr/>
          <p:nvPr/>
        </p:nvSpPr>
        <p:spPr>
          <a:xfrm>
            <a:off x="3557930" y="4251960"/>
            <a:ext cx="384048" cy="384048"/>
          </a:xfrm>
          <a:prstGeom prst="rect">
            <a:avLst/>
          </a:prstGeom>
          <a:solidFill>
            <a:srgbClr val="512D38"/>
          </a:solidFill>
          <a:ln w="6350">
            <a:solidFill>
              <a:srgbClr val="D3CEC2"/>
            </a:solidFill>
            <a:prstDash val="solid"/>
          </a:ln>
        </p:spPr>
      </p:sp>
      <p:sp>
        <p:nvSpPr>
          <p:cNvPr id="46" name="swatch-CON-1"/>
          <p:cNvSpPr/>
          <p:nvPr/>
        </p:nvSpPr>
        <p:spPr>
          <a:xfrm>
            <a:off x="3996842" y="4251960"/>
            <a:ext cx="384048" cy="384048"/>
          </a:xfrm>
          <a:prstGeom prst="rect">
            <a:avLst/>
          </a:prstGeom>
          <a:solidFill>
            <a:srgbClr val="B17B65"/>
          </a:solidFill>
          <a:ln w="6350">
            <a:solidFill>
              <a:srgbClr val="D3CEC2"/>
            </a:solidFill>
            <a:prstDash val="solid"/>
          </a:ln>
        </p:spPr>
      </p:sp>
      <p:sp>
        <p:nvSpPr>
          <p:cNvPr id="47" name="swatch-CON-2"/>
          <p:cNvSpPr/>
          <p:nvPr/>
        </p:nvSpPr>
        <p:spPr>
          <a:xfrm>
            <a:off x="4435754" y="4251960"/>
            <a:ext cx="384048" cy="384048"/>
          </a:xfrm>
          <a:prstGeom prst="rect">
            <a:avLst/>
          </a:prstGeom>
          <a:solidFill>
            <a:srgbClr val="C9C2B8"/>
          </a:solidFill>
          <a:ln w="6350">
            <a:solidFill>
              <a:srgbClr val="D3CEC2"/>
            </a:solidFill>
            <a:prstDash val="solid"/>
          </a:ln>
        </p:spPr>
      </p:sp>
      <p:sp>
        <p:nvSpPr>
          <p:cNvPr id="48" name="Text 46"/>
          <p:cNvSpPr txBox="1"/>
          <p:nvPr/>
        </p:nvSpPr>
        <p:spPr>
          <a:xfrm>
            <a:off x="5350154" y="4270248"/>
            <a:ext cx="457200" cy="274320"/>
          </a:xfrm>
          <a:prstGeom prst="rect">
            <a:avLst/>
          </a:prstGeom>
          <a:noFill/>
          <a:ln/>
        </p:spPr>
        <p:txBody>
          <a:bodyPr wrap="square" lIns="0" tIns="0" rIns="0" bIns="0" rtlCol="0" anchor="t"/>
          <a:lstStyle/>
          <a:p>
            <a:pPr marL="0" indent="0" algn="r">
              <a:buNone/>
            </a:pPr>
            <a:r>
              <a:rPr lang="en-US" sz="1200" dirty="0">
                <a:solidFill>
                  <a:schemeClr val="accent3"/>
                </a:solidFill>
                <a:latin typeface="Consolas" pitchFamily="34" charset="0"/>
                <a:ea typeface="Consolas" pitchFamily="34" charset="-122"/>
                <a:cs typeface="Consolas" pitchFamily="34" charset="-120"/>
              </a:rPr>
              <a:t>06</a:t>
            </a:r>
            <a:endParaRPr lang="en-US" sz="1200" dirty="0"/>
          </a:p>
        </p:txBody>
      </p:sp>
      <p:sp>
        <p:nvSpPr>
          <p:cNvPr id="49" name="Text 47"/>
          <p:cNvSpPr txBox="1"/>
          <p:nvPr/>
        </p:nvSpPr>
        <p:spPr>
          <a:xfrm>
            <a:off x="3557930" y="4782312"/>
            <a:ext cx="2249424" cy="292608"/>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Contract</a:t>
            </a:r>
            <a:endParaRPr lang="en-US" sz="1500" dirty="0"/>
          </a:p>
        </p:txBody>
      </p:sp>
      <p:sp>
        <p:nvSpPr>
          <p:cNvPr id="50" name="Text 48"/>
          <p:cNvSpPr txBox="1"/>
          <p:nvPr/>
        </p:nvSpPr>
        <p:spPr>
          <a:xfrm>
            <a:off x="3557930" y="5074920"/>
            <a:ext cx="2249424" cy="274320"/>
          </a:xfrm>
          <a:prstGeom prst="rect">
            <a:avLst/>
          </a:prstGeom>
          <a:noFill/>
          <a:ln/>
        </p:spPr>
        <p:txBody>
          <a:bodyPr wrap="square" lIns="0" tIns="0" rIns="0" bIns="0" rtlCol="0" anchor="t"/>
          <a:lstStyle/>
          <a:p>
            <a:pPr marL="0" indent="0">
              <a:buNone/>
            </a:pPr>
            <a:r>
              <a:rPr lang="en-US" sz="1300" i="1" dirty="0">
                <a:solidFill>
                  <a:srgbClr val="512D38"/>
                </a:solidFill>
                <a:latin typeface="Calibri" pitchFamily="34" charset="0"/>
                <a:ea typeface="Calibri" pitchFamily="34" charset="-122"/>
                <a:cs typeface="Calibri" pitchFamily="34" charset="-120"/>
              </a:rPr>
              <a:t>Structured Trust</a:t>
            </a:r>
            <a:endParaRPr lang="en-US" sz="1300" dirty="0"/>
          </a:p>
        </p:txBody>
      </p:sp>
      <p:sp>
        <p:nvSpPr>
          <p:cNvPr id="51" name="Text 49"/>
          <p:cNvSpPr txBox="1"/>
          <p:nvPr/>
        </p:nvSpPr>
        <p:spPr>
          <a:xfrm>
            <a:off x="3557930" y="5394960"/>
            <a:ext cx="2249424" cy="457200"/>
          </a:xfrm>
          <a:prstGeom prst="rect">
            <a:avLst/>
          </a:prstGeom>
          <a:noFill/>
          <a:ln/>
        </p:spPr>
        <p:txBody>
          <a:bodyPr wrap="square" lIns="0" tIns="0" rIns="0" bIns="0" rtlCol="0" anchor="t"/>
          <a:lstStyle/>
          <a:p>
            <a:pPr marL="0" indent="0">
              <a:buNone/>
            </a:pPr>
            <a:r>
              <a:rPr lang="en-US" sz="1100" dirty="0">
                <a:solidFill>
                  <a:schemeClr val="accent3"/>
                </a:solidFill>
                <a:latin typeface="Calibri" pitchFamily="34" charset="0"/>
                <a:ea typeface="Calibri" pitchFamily="34" charset="-122"/>
                <a:cs typeface="Calibri" pitchFamily="34" charset="-120"/>
              </a:rPr>
              <a:t>Document-margin lines, section numbers</a:t>
            </a:r>
            <a:endParaRPr lang="en-US" sz="1100" dirty="0"/>
          </a:p>
        </p:txBody>
      </p:sp>
      <p:sp>
        <p:nvSpPr>
          <p:cNvPr id="52" name="card-BD"/>
          <p:cNvSpPr/>
          <p:nvPr/>
        </p:nvSpPr>
        <p:spPr>
          <a:xfrm>
            <a:off x="6201461" y="4069080"/>
            <a:ext cx="2615184" cy="1874520"/>
          </a:xfrm>
          <a:prstGeom prst="rect">
            <a:avLst/>
          </a:prstGeom>
          <a:solidFill>
            <a:schemeClr val="bg1"/>
          </a:solidFill>
          <a:ln w="9525">
            <a:solidFill>
              <a:srgbClr val="DAD5C9"/>
            </a:solidFill>
            <a:prstDash val="solid"/>
          </a:ln>
        </p:spPr>
      </p:sp>
      <p:sp>
        <p:nvSpPr>
          <p:cNvPr id="53" name="swatch-BD-0"/>
          <p:cNvSpPr/>
          <p:nvPr/>
        </p:nvSpPr>
        <p:spPr>
          <a:xfrm>
            <a:off x="6384341" y="4251960"/>
            <a:ext cx="384048" cy="384048"/>
          </a:xfrm>
          <a:prstGeom prst="rect">
            <a:avLst/>
          </a:prstGeom>
          <a:solidFill>
            <a:srgbClr val="172D40"/>
          </a:solidFill>
          <a:ln w="6350">
            <a:solidFill>
              <a:srgbClr val="D3CEC2"/>
            </a:solidFill>
            <a:prstDash val="solid"/>
          </a:ln>
        </p:spPr>
      </p:sp>
      <p:sp>
        <p:nvSpPr>
          <p:cNvPr id="54" name="swatch-BD-1"/>
          <p:cNvSpPr/>
          <p:nvPr/>
        </p:nvSpPr>
        <p:spPr>
          <a:xfrm>
            <a:off x="6823253" y="4251960"/>
            <a:ext cx="384048" cy="384048"/>
          </a:xfrm>
          <a:prstGeom prst="rect">
            <a:avLst/>
          </a:prstGeom>
          <a:solidFill>
            <a:srgbClr val="36A9A1"/>
          </a:solidFill>
          <a:ln w="6350">
            <a:solidFill>
              <a:srgbClr val="D3CEC2"/>
            </a:solidFill>
            <a:prstDash val="solid"/>
          </a:ln>
        </p:spPr>
      </p:sp>
      <p:sp>
        <p:nvSpPr>
          <p:cNvPr id="55" name="swatch-BD-2"/>
          <p:cNvSpPr/>
          <p:nvPr/>
        </p:nvSpPr>
        <p:spPr>
          <a:xfrm>
            <a:off x="7262165" y="4251960"/>
            <a:ext cx="384048" cy="384048"/>
          </a:xfrm>
          <a:prstGeom prst="rect">
            <a:avLst/>
          </a:prstGeom>
          <a:solidFill>
            <a:srgbClr val="CBD7D8"/>
          </a:solidFill>
          <a:ln w="6350">
            <a:solidFill>
              <a:srgbClr val="D3CEC2"/>
            </a:solidFill>
            <a:prstDash val="solid"/>
          </a:ln>
        </p:spPr>
      </p:sp>
      <p:sp>
        <p:nvSpPr>
          <p:cNvPr id="56" name="Text 54"/>
          <p:cNvSpPr txBox="1"/>
          <p:nvPr/>
        </p:nvSpPr>
        <p:spPr>
          <a:xfrm>
            <a:off x="8176565" y="4270248"/>
            <a:ext cx="457200" cy="274320"/>
          </a:xfrm>
          <a:prstGeom prst="rect">
            <a:avLst/>
          </a:prstGeom>
          <a:noFill/>
          <a:ln/>
        </p:spPr>
        <p:txBody>
          <a:bodyPr wrap="square" lIns="0" tIns="0" rIns="0" bIns="0" rtlCol="0" anchor="t"/>
          <a:lstStyle/>
          <a:p>
            <a:pPr marL="0" indent="0" algn="r">
              <a:buNone/>
            </a:pPr>
            <a:r>
              <a:rPr lang="en-US" sz="1200" dirty="0">
                <a:solidFill>
                  <a:schemeClr val="accent3"/>
                </a:solidFill>
                <a:latin typeface="Consolas" pitchFamily="34" charset="0"/>
                <a:ea typeface="Consolas" pitchFamily="34" charset="-122"/>
                <a:cs typeface="Consolas" pitchFamily="34" charset="-120"/>
              </a:rPr>
              <a:t>07</a:t>
            </a:r>
            <a:endParaRPr lang="en-US" sz="1200" dirty="0"/>
          </a:p>
        </p:txBody>
      </p:sp>
      <p:sp>
        <p:nvSpPr>
          <p:cNvPr id="57" name="Text 55"/>
          <p:cNvSpPr txBox="1"/>
          <p:nvPr/>
        </p:nvSpPr>
        <p:spPr>
          <a:xfrm>
            <a:off x="6384341" y="4782312"/>
            <a:ext cx="2249424" cy="292608"/>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Business Development</a:t>
            </a:r>
            <a:endParaRPr lang="en-US" sz="1500" dirty="0"/>
          </a:p>
        </p:txBody>
      </p:sp>
      <p:sp>
        <p:nvSpPr>
          <p:cNvPr id="58" name="Text 56"/>
          <p:cNvSpPr txBox="1"/>
          <p:nvPr/>
        </p:nvSpPr>
        <p:spPr>
          <a:xfrm>
            <a:off x="6384341" y="5074920"/>
            <a:ext cx="2249424" cy="274320"/>
          </a:xfrm>
          <a:prstGeom prst="rect">
            <a:avLst/>
          </a:prstGeom>
          <a:noFill/>
          <a:ln/>
        </p:spPr>
        <p:txBody>
          <a:bodyPr wrap="square" lIns="0" tIns="0" rIns="0" bIns="0" rtlCol="0" anchor="t"/>
          <a:lstStyle/>
          <a:p>
            <a:pPr marL="0" indent="0">
              <a:buNone/>
            </a:pPr>
            <a:r>
              <a:rPr lang="en-US" sz="1300" i="1" dirty="0">
                <a:solidFill>
                  <a:srgbClr val="172D40"/>
                </a:solidFill>
                <a:latin typeface="Calibri" pitchFamily="34" charset="0"/>
                <a:ea typeface="Calibri" pitchFamily="34" charset="-122"/>
                <a:cs typeface="Calibri" pitchFamily="34" charset="-120"/>
              </a:rPr>
              <a:t>Beyond the Horizon</a:t>
            </a:r>
            <a:endParaRPr lang="en-US" sz="1300" dirty="0"/>
          </a:p>
        </p:txBody>
      </p:sp>
      <p:sp>
        <p:nvSpPr>
          <p:cNvPr id="59" name="Text 57"/>
          <p:cNvSpPr txBox="1"/>
          <p:nvPr/>
        </p:nvSpPr>
        <p:spPr>
          <a:xfrm>
            <a:off x="6384341" y="5394960"/>
            <a:ext cx="2249424" cy="457200"/>
          </a:xfrm>
          <a:prstGeom prst="rect">
            <a:avLst/>
          </a:prstGeom>
          <a:noFill/>
          <a:ln/>
        </p:spPr>
        <p:txBody>
          <a:bodyPr wrap="square" lIns="0" tIns="0" rIns="0" bIns="0" rtlCol="0" anchor="t"/>
          <a:lstStyle/>
          <a:p>
            <a:pPr marL="0" indent="0">
              <a:buNone/>
            </a:pPr>
            <a:r>
              <a:rPr lang="en-US" sz="1100" dirty="0">
                <a:solidFill>
                  <a:schemeClr val="accent3"/>
                </a:solidFill>
                <a:latin typeface="Calibri" pitchFamily="34" charset="0"/>
                <a:ea typeface="Calibri" pitchFamily="34" charset="-122"/>
                <a:cs typeface="Calibri" pitchFamily="34" charset="-120"/>
              </a:rPr>
              <a:t>Horizon lines, open negative space</a:t>
            </a:r>
            <a:endParaRPr lang="en-US" sz="1100" dirty="0"/>
          </a:p>
        </p:txBody>
      </p:sp>
      <p:sp>
        <p:nvSpPr>
          <p:cNvPr id="60" name="card-PROC"/>
          <p:cNvSpPr/>
          <p:nvPr/>
        </p:nvSpPr>
        <p:spPr>
          <a:xfrm>
            <a:off x="9027871" y="4069080"/>
            <a:ext cx="2615184" cy="1874520"/>
          </a:xfrm>
          <a:prstGeom prst="rect">
            <a:avLst/>
          </a:prstGeom>
          <a:solidFill>
            <a:schemeClr val="bg1"/>
          </a:solidFill>
          <a:ln w="9525">
            <a:solidFill>
              <a:srgbClr val="DAD5C9"/>
            </a:solidFill>
            <a:prstDash val="solid"/>
          </a:ln>
        </p:spPr>
      </p:sp>
      <p:sp>
        <p:nvSpPr>
          <p:cNvPr id="61" name="swatch-PROC-0"/>
          <p:cNvSpPr/>
          <p:nvPr/>
        </p:nvSpPr>
        <p:spPr>
          <a:xfrm>
            <a:off x="9210751" y="4251960"/>
            <a:ext cx="384048" cy="384048"/>
          </a:xfrm>
          <a:prstGeom prst="rect">
            <a:avLst/>
          </a:prstGeom>
          <a:solidFill>
            <a:srgbClr val="3E4B39"/>
          </a:solidFill>
          <a:ln w="6350">
            <a:solidFill>
              <a:srgbClr val="D3CEC2"/>
            </a:solidFill>
            <a:prstDash val="solid"/>
          </a:ln>
        </p:spPr>
      </p:sp>
      <p:sp>
        <p:nvSpPr>
          <p:cNvPr id="62" name="swatch-PROC-1"/>
          <p:cNvSpPr/>
          <p:nvPr/>
        </p:nvSpPr>
        <p:spPr>
          <a:xfrm>
            <a:off x="9649663" y="4251960"/>
            <a:ext cx="384048" cy="384048"/>
          </a:xfrm>
          <a:prstGeom prst="rect">
            <a:avLst/>
          </a:prstGeom>
          <a:solidFill>
            <a:srgbClr val="A6A06A"/>
          </a:solidFill>
          <a:ln w="6350">
            <a:solidFill>
              <a:srgbClr val="D3CEC2"/>
            </a:solidFill>
            <a:prstDash val="solid"/>
          </a:ln>
        </p:spPr>
      </p:sp>
      <p:sp>
        <p:nvSpPr>
          <p:cNvPr id="63" name="swatch-PROC-2"/>
          <p:cNvSpPr/>
          <p:nvPr/>
        </p:nvSpPr>
        <p:spPr>
          <a:xfrm>
            <a:off x="10088575" y="4251960"/>
            <a:ext cx="384048" cy="384048"/>
          </a:xfrm>
          <a:prstGeom prst="rect">
            <a:avLst/>
          </a:prstGeom>
          <a:solidFill>
            <a:srgbClr val="D3D0C6"/>
          </a:solidFill>
          <a:ln w="6350">
            <a:solidFill>
              <a:srgbClr val="D3CEC2"/>
            </a:solidFill>
            <a:prstDash val="solid"/>
          </a:ln>
        </p:spPr>
      </p:sp>
      <p:sp>
        <p:nvSpPr>
          <p:cNvPr id="64" name="Text 62"/>
          <p:cNvSpPr txBox="1"/>
          <p:nvPr/>
        </p:nvSpPr>
        <p:spPr>
          <a:xfrm>
            <a:off x="11002975" y="4270248"/>
            <a:ext cx="457200" cy="274320"/>
          </a:xfrm>
          <a:prstGeom prst="rect">
            <a:avLst/>
          </a:prstGeom>
          <a:noFill/>
          <a:ln/>
        </p:spPr>
        <p:txBody>
          <a:bodyPr wrap="square" lIns="0" tIns="0" rIns="0" bIns="0" rtlCol="0" anchor="t"/>
          <a:lstStyle/>
          <a:p>
            <a:pPr marL="0" indent="0" algn="r">
              <a:buNone/>
            </a:pPr>
            <a:r>
              <a:rPr lang="en-US" sz="1200" dirty="0">
                <a:solidFill>
                  <a:schemeClr val="accent3"/>
                </a:solidFill>
                <a:latin typeface="Consolas" pitchFamily="34" charset="0"/>
                <a:ea typeface="Consolas" pitchFamily="34" charset="-122"/>
                <a:cs typeface="Consolas" pitchFamily="34" charset="-120"/>
              </a:rPr>
              <a:t>08</a:t>
            </a:r>
            <a:endParaRPr lang="en-US" sz="1200" dirty="0"/>
          </a:p>
        </p:txBody>
      </p:sp>
      <p:sp>
        <p:nvSpPr>
          <p:cNvPr id="65" name="Text 63"/>
          <p:cNvSpPr txBox="1"/>
          <p:nvPr/>
        </p:nvSpPr>
        <p:spPr>
          <a:xfrm>
            <a:off x="9210751" y="4782312"/>
            <a:ext cx="2249424" cy="292608"/>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Procurement</a:t>
            </a:r>
            <a:endParaRPr lang="en-US" sz="1500" dirty="0"/>
          </a:p>
        </p:txBody>
      </p:sp>
      <p:sp>
        <p:nvSpPr>
          <p:cNvPr id="66" name="Text 64"/>
          <p:cNvSpPr txBox="1"/>
          <p:nvPr/>
        </p:nvSpPr>
        <p:spPr>
          <a:xfrm>
            <a:off x="9210751" y="5074920"/>
            <a:ext cx="2249424" cy="274320"/>
          </a:xfrm>
          <a:prstGeom prst="rect">
            <a:avLst/>
          </a:prstGeom>
          <a:noFill/>
          <a:ln/>
        </p:spPr>
        <p:txBody>
          <a:bodyPr wrap="square" lIns="0" tIns="0" rIns="0" bIns="0" rtlCol="0" anchor="t"/>
          <a:lstStyle/>
          <a:p>
            <a:pPr marL="0" indent="0">
              <a:buNone/>
            </a:pPr>
            <a:r>
              <a:rPr lang="en-US" sz="1300" i="1" dirty="0">
                <a:solidFill>
                  <a:srgbClr val="3E4B39"/>
                </a:solidFill>
                <a:latin typeface="Calibri" pitchFamily="34" charset="0"/>
                <a:ea typeface="Calibri" pitchFamily="34" charset="-122"/>
                <a:cs typeface="Calibri" pitchFamily="34" charset="-120"/>
              </a:rPr>
              <a:t>Connected Value</a:t>
            </a:r>
            <a:endParaRPr lang="en-US" sz="1300" dirty="0"/>
          </a:p>
        </p:txBody>
      </p:sp>
      <p:sp>
        <p:nvSpPr>
          <p:cNvPr id="67" name="Text 65"/>
          <p:cNvSpPr txBox="1"/>
          <p:nvPr/>
        </p:nvSpPr>
        <p:spPr>
          <a:xfrm>
            <a:off x="9210751" y="5394960"/>
            <a:ext cx="2249424" cy="457200"/>
          </a:xfrm>
          <a:prstGeom prst="rect">
            <a:avLst/>
          </a:prstGeom>
          <a:noFill/>
          <a:ln/>
        </p:spPr>
        <p:txBody>
          <a:bodyPr wrap="square" lIns="0" tIns="0" rIns="0" bIns="0" rtlCol="0" anchor="t"/>
          <a:lstStyle/>
          <a:p>
            <a:pPr marL="0" indent="0">
              <a:buNone/>
            </a:pPr>
            <a:r>
              <a:rPr lang="en-US" sz="1100" dirty="0">
                <a:solidFill>
                  <a:schemeClr val="accent3"/>
                </a:solidFill>
                <a:latin typeface="Calibri" pitchFamily="34" charset="0"/>
                <a:ea typeface="Calibri" pitchFamily="34" charset="-122"/>
                <a:cs typeface="Calibri" pitchFamily="34" charset="-120"/>
              </a:rPr>
              <a:t>Fine connecting lines</a:t>
            </a:r>
            <a:endParaRPr lang="en-US" sz="1100" dirty="0"/>
          </a:p>
        </p:txBody>
      </p:sp>
      <p:sp>
        <p:nvSpPr>
          <p:cNvPr id="68" name="Text 66"/>
          <p:cNvSpPr txBox="1"/>
          <p:nvPr/>
        </p:nvSpPr>
        <p:spPr>
          <a:xfrm>
            <a:off x="548640" y="5989320"/>
            <a:ext cx="11094415" cy="274320"/>
          </a:xfrm>
          <a:prstGeom prst="rect">
            <a:avLst/>
          </a:prstGeom>
          <a:noFill/>
          <a:ln/>
        </p:spPr>
        <p:txBody>
          <a:bodyPr wrap="square" lIns="0" tIns="0" rIns="0" bIns="0" rtlCol="0" anchor="t"/>
          <a:lstStyle/>
          <a:p>
            <a:pPr marL="0" indent="0">
              <a:buNone/>
            </a:pPr>
            <a:r>
              <a:rPr lang="en-US" sz="1200" i="1" dirty="0">
                <a:solidFill>
                  <a:schemeClr val="accent3"/>
                </a:solidFill>
                <a:latin typeface="Calibri" pitchFamily="34" charset="0"/>
                <a:ea typeface="Calibri" pitchFamily="34" charset="-122"/>
                <a:cs typeface="Calibri" pitchFamily="34" charset="-120"/>
              </a:rPr>
              <a:t>Swatches: primary, accent, secondary. These are proposed identities, not verified Lintas brand standards; existing brand guidelines take precedence.</a:t>
            </a:r>
            <a:endParaRPr lang="en-US" sz="1200" dirty="0"/>
          </a:p>
        </p:txBody>
      </p:sp>
      <p:sp>
        <p:nvSpPr>
          <p:cNvPr id="69" name="Slide Number Placeholder 0"/>
          <p:cNvSpPr>
            <a:spLocks noGrp="1"/>
          </p:cNvSpPr>
          <p:nvPr>
            <p:ph type="sldNum" sz="quarter" idx="4294967295"/>
          </p:nvPr>
        </p:nvSpPr>
        <p:spPr>
          <a:xfrm>
            <a:off x="10911535" y="6382512"/>
            <a:ext cx="73152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t"/>
          <a:lstStyle/>
          <a:p>
            <a:pPr marL="0" indent="0">
              <a:buNone/>
            </a:pPr>
            <a:r>
              <a:rPr lang="en-US" sz="1000" kern="0" spc="100" dirty="0">
                <a:solidFill>
                  <a:schemeClr val="accent3"/>
                </a:solidFill>
                <a:latin typeface="Consolas" pitchFamily="34" charset="0"/>
                <a:ea typeface="Consolas" pitchFamily="34" charset="-122"/>
                <a:cs typeface="Consolas" pitchFamily="34" charset="-120"/>
              </a:rPr>
              <a:t>04 — WHAT MAKES AN IDENTITY</a:t>
            </a:r>
            <a:endParaRPr lang="en-US" sz="1000" dirty="0"/>
          </a:p>
        </p:txBody>
      </p:sp>
      <p:sp>
        <p:nvSpPr>
          <p:cNvPr id="3" name="Text 0"/>
          <p:cNvSpPr>
            <a:spLocks noGrp="1"/>
          </p:cNvSpPr>
          <p:nvPr>
            <p:ph type="title" idx="101" hasCustomPrompt="1"/>
          </p:nvPr>
        </p:nvSpPr>
        <p:spPr>
          <a:xfrm>
            <a:off x="548640" y="749808"/>
            <a:ext cx="10607040" cy="1097280"/>
          </a:xfrm>
          <a:prstGeom prst="rect">
            <a:avLst/>
          </a:prstGeom>
          <a:noFill/>
          <a:ln/>
        </p:spPr>
        <p:txBody>
          <a:bodyPr wrap="square" lIns="0" tIns="0" rIns="0" bIns="0" rtlCol="0" anchor="t"/>
          <a:lstStyle/>
          <a:p>
            <a:pPr marL="0" indent="0" algn="l">
              <a:buNone/>
            </a:pPr>
            <a:r>
              <a:rPr lang="en-US" sz="3000" b="1" dirty="0">
                <a:solidFill>
                  <a:schemeClr val="tx2"/>
                </a:solidFill>
              </a:rPr>
              <a:t>Colour alone gives eight recolours; four variables give eight identities</a:t>
            </a:r>
            <a:endParaRPr lang="en-US" sz="3000" dirty="0"/>
          </a:p>
        </p:txBody>
      </p:sp>
      <p:graphicFrame>
        <p:nvGraphicFramePr>
          <p:cNvPr id="6" name="identity-matrix"/>
          <p:cNvGraphicFramePr>
            <a:graphicFrameLocks noGrp="1"/>
          </p:cNvGraphicFramePr>
          <p:nvPr>
            <p:extLst>
              <p:ext uri="{D42A27DB-BD31-4B8C-83A1-F6EECF244321}">
                <p14:modId xmlns:p14="http://schemas.microsoft.com/office/powerpoint/2010/main" val="1579011935"/>
              </p:ext>
            </p:extLst>
          </p:nvPr>
        </p:nvGraphicFramePr>
        <p:xfrm>
          <a:off x="548640" y="2103120"/>
          <a:ext cx="11094416" cy="3977640"/>
        </p:xfrm>
        <a:graphic>
          <a:graphicData uri="http://schemas.openxmlformats.org/drawingml/2006/table">
            <a:tbl>
              <a:tblPr/>
              <a:tblGrid>
                <a:gridCol w="2423160">
                  <a:extLst>
                    <a:ext uri="{9D8B030D-6E8A-4147-A177-3AD203B41FA5}">
                      <a16:colId xmlns:a16="http://schemas.microsoft.com/office/drawing/2014/main" val="20000"/>
                    </a:ext>
                  </a:extLst>
                </a:gridCol>
                <a:gridCol w="2167814">
                  <a:extLst>
                    <a:ext uri="{9D8B030D-6E8A-4147-A177-3AD203B41FA5}">
                      <a16:colId xmlns:a16="http://schemas.microsoft.com/office/drawing/2014/main" val="20001"/>
                    </a:ext>
                  </a:extLst>
                </a:gridCol>
                <a:gridCol w="2167814">
                  <a:extLst>
                    <a:ext uri="{9D8B030D-6E8A-4147-A177-3AD203B41FA5}">
                      <a16:colId xmlns:a16="http://schemas.microsoft.com/office/drawing/2014/main" val="20002"/>
                    </a:ext>
                  </a:extLst>
                </a:gridCol>
                <a:gridCol w="2167814">
                  <a:extLst>
                    <a:ext uri="{9D8B030D-6E8A-4147-A177-3AD203B41FA5}">
                      <a16:colId xmlns:a16="http://schemas.microsoft.com/office/drawing/2014/main" val="20003"/>
                    </a:ext>
                  </a:extLst>
                </a:gridCol>
                <a:gridCol w="2167814">
                  <a:extLst>
                    <a:ext uri="{9D8B030D-6E8A-4147-A177-3AD203B41FA5}">
                      <a16:colId xmlns:a16="http://schemas.microsoft.com/office/drawing/2014/main" val="20004"/>
                    </a:ext>
                  </a:extLst>
                </a:gridCol>
              </a:tblGrid>
              <a:tr h="502920">
                <a:tc>
                  <a:txBody>
                    <a:bodyPr/>
                    <a:lstStyle/>
                    <a:p>
                      <a:pPr marL="0" indent="0">
                        <a:buNone/>
                      </a:pPr>
                      <a:endParaRPr lang="en-US" sz="1200" dirty="0">
                        <a:latin typeface="Calibri" charset="0"/>
                        <a:ea typeface="Calibri" charset="0"/>
                        <a:cs typeface="Calibri" charset="0"/>
                      </a:endParaRPr>
                    </a:p>
                  </a:txBody>
                  <a:tcPr>
                    <a:lnL w="0" cap="flat" cmpd="sng" algn="ctr">
                      <a:noFill/>
                    </a:lnL>
                    <a:lnR w="0" cap="flat" cmpd="sng" algn="ctr">
                      <a:noFill/>
                    </a:lnR>
                    <a:lnT w="0" cap="flat" cmpd="sng" algn="ctr">
                      <a:noFill/>
                    </a:lnT>
                    <a:lnB w="9525" cap="flat" cmpd="sng" algn="ctr">
                      <a:solidFill>
                        <a:srgbClr val="DAD5C9"/>
                      </a:solidFill>
                      <a:prstDash val="solid"/>
                      <a:round/>
                      <a:headEnd type="none" w="med" len="med"/>
                      <a:tailEnd type="none" w="med" len="med"/>
                    </a:lnB>
                  </a:tcPr>
                </a:tc>
                <a:tc>
                  <a:txBody>
                    <a:bodyPr/>
                    <a:lstStyle/>
                    <a:p>
                      <a:pPr marL="0" indent="0">
                        <a:buNone/>
                      </a:pPr>
                      <a:r>
                        <a:rPr lang="en-US" sz="1500" b="1" dirty="0">
                          <a:solidFill>
                            <a:srgbClr val="171A1D"/>
                          </a:solidFill>
                          <a:latin typeface="Calibri" pitchFamily="34" charset="0"/>
                          <a:ea typeface="Calibri" pitchFamily="34" charset="-122"/>
                          <a:cs typeface="Calibri" pitchFamily="34" charset="-120"/>
                        </a:rPr>
                        <a:t>CTS</a:t>
                      </a:r>
                      <a:endParaRPr lang="en-US" sz="1500" dirty="0">
                        <a:latin typeface="Calibri" charset="0"/>
                        <a:ea typeface="Calibri" charset="0"/>
                        <a:cs typeface="Calibri" charset="0"/>
                      </a:endParaRPr>
                    </a:p>
                  </a:txBody>
                  <a:tcPr marL="365760" marR="45720" anchor="ctr">
                    <a:lnL w="0" cap="flat" cmpd="sng" algn="ctr">
                      <a:noFill/>
                    </a:lnL>
                    <a:lnR w="0" cap="flat" cmpd="sng" algn="ctr">
                      <a:noFill/>
                    </a:lnR>
                    <a:lnT w="0" cap="flat" cmpd="sng" algn="ctr">
                      <a:noFill/>
                    </a:lnT>
                    <a:lnB w="9525" cap="flat" cmpd="sng" algn="ctr">
                      <a:solidFill>
                        <a:srgbClr val="DAD5C9"/>
                      </a:solidFill>
                      <a:prstDash val="solid"/>
                      <a:round/>
                      <a:headEnd type="none" w="med" len="med"/>
                      <a:tailEnd type="none" w="med" len="med"/>
                    </a:lnB>
                  </a:tcPr>
                </a:tc>
                <a:tc>
                  <a:txBody>
                    <a:bodyPr/>
                    <a:lstStyle/>
                    <a:p>
                      <a:pPr marL="0" indent="0">
                        <a:buNone/>
                      </a:pPr>
                      <a:r>
                        <a:rPr lang="en-US" sz="1500" b="1" dirty="0">
                          <a:solidFill>
                            <a:srgbClr val="171A1D"/>
                          </a:solidFill>
                          <a:latin typeface="Calibri" pitchFamily="34" charset="0"/>
                          <a:ea typeface="Calibri" pitchFamily="34" charset="-122"/>
                          <a:cs typeface="Calibri" pitchFamily="34" charset="-120"/>
                        </a:rPr>
                        <a:t>Finance</a:t>
                      </a:r>
                      <a:endParaRPr lang="en-US" sz="1500" dirty="0">
                        <a:latin typeface="Calibri" charset="0"/>
                        <a:ea typeface="Calibri" charset="0"/>
                        <a:cs typeface="Calibri" charset="0"/>
                      </a:endParaRPr>
                    </a:p>
                  </a:txBody>
                  <a:tcPr marL="365760" marR="45720" anchor="ctr">
                    <a:lnL w="0" cap="flat" cmpd="sng" algn="ctr">
                      <a:noFill/>
                    </a:lnL>
                    <a:lnR w="0" cap="flat" cmpd="sng" algn="ctr">
                      <a:noFill/>
                    </a:lnR>
                    <a:lnT w="0" cap="flat" cmpd="sng" algn="ctr">
                      <a:noFill/>
                    </a:lnT>
                    <a:lnB w="9525" cap="flat" cmpd="sng" algn="ctr">
                      <a:solidFill>
                        <a:srgbClr val="DAD5C9"/>
                      </a:solidFill>
                      <a:prstDash val="solid"/>
                      <a:round/>
                      <a:headEnd type="none" w="med" len="med"/>
                      <a:tailEnd type="none" w="med" len="med"/>
                    </a:lnB>
                  </a:tcPr>
                </a:tc>
                <a:tc>
                  <a:txBody>
                    <a:bodyPr/>
                    <a:lstStyle/>
                    <a:p>
                      <a:pPr marL="0" indent="0">
                        <a:buNone/>
                      </a:pPr>
                      <a:r>
                        <a:rPr lang="en-US" sz="1500" b="1" dirty="0">
                          <a:solidFill>
                            <a:srgbClr val="171A1D"/>
                          </a:solidFill>
                          <a:latin typeface="Calibri" pitchFamily="34" charset="0"/>
                          <a:ea typeface="Calibri" pitchFamily="34" charset="-122"/>
                          <a:cs typeface="Calibri" pitchFamily="34" charset="-120"/>
                        </a:rPr>
                        <a:t>HR/GA</a:t>
                      </a:r>
                      <a:endParaRPr lang="en-US" sz="1500" dirty="0">
                        <a:latin typeface="Calibri" charset="0"/>
                        <a:ea typeface="Calibri" charset="0"/>
                        <a:cs typeface="Calibri" charset="0"/>
                      </a:endParaRPr>
                    </a:p>
                  </a:txBody>
                  <a:tcPr marL="365760" marR="45720" anchor="ctr">
                    <a:lnL w="0" cap="flat" cmpd="sng" algn="ctr">
                      <a:noFill/>
                    </a:lnL>
                    <a:lnR w="0" cap="flat" cmpd="sng" algn="ctr">
                      <a:noFill/>
                    </a:lnR>
                    <a:lnT w="0" cap="flat" cmpd="sng" algn="ctr">
                      <a:noFill/>
                    </a:lnT>
                    <a:lnB w="9525" cap="flat" cmpd="sng" algn="ctr">
                      <a:solidFill>
                        <a:srgbClr val="DAD5C9"/>
                      </a:solidFill>
                      <a:prstDash val="solid"/>
                      <a:round/>
                      <a:headEnd type="none" w="med" len="med"/>
                      <a:tailEnd type="none" w="med" len="med"/>
                    </a:lnB>
                  </a:tcPr>
                </a:tc>
                <a:tc>
                  <a:txBody>
                    <a:bodyPr/>
                    <a:lstStyle/>
                    <a:p>
                      <a:pPr marL="0" indent="0">
                        <a:buNone/>
                      </a:pPr>
                      <a:r>
                        <a:rPr lang="en-US" sz="1500" b="1" dirty="0">
                          <a:solidFill>
                            <a:srgbClr val="171A1D"/>
                          </a:solidFill>
                          <a:latin typeface="Calibri" pitchFamily="34" charset="0"/>
                          <a:ea typeface="Calibri" pitchFamily="34" charset="-122"/>
                          <a:cs typeface="Calibri" pitchFamily="34" charset="-120"/>
                        </a:rPr>
                        <a:t>PMO</a:t>
                      </a:r>
                      <a:endParaRPr lang="en-US" sz="1500" dirty="0">
                        <a:latin typeface="Calibri" charset="0"/>
                        <a:ea typeface="Calibri" charset="0"/>
                        <a:cs typeface="Calibri" charset="0"/>
                      </a:endParaRPr>
                    </a:p>
                  </a:txBody>
                  <a:tcPr marL="365760" marR="45720" anchor="ctr">
                    <a:lnL w="0" cap="flat" cmpd="sng" algn="ctr">
                      <a:noFill/>
                    </a:lnL>
                    <a:lnR w="0" cap="flat" cmpd="sng" algn="ctr">
                      <a:noFill/>
                    </a:lnR>
                    <a:lnT w="0" cap="flat" cmpd="sng" algn="ctr">
                      <a:noFill/>
                    </a:lnT>
                    <a:lnB w="9525" cap="flat" cmpd="sng" algn="ctr">
                      <a:solidFill>
                        <a:srgbClr val="DAD5C9"/>
                      </a:solidFill>
                      <a:prstDash val="solid"/>
                      <a:round/>
                      <a:headEnd type="none" w="med" len="med"/>
                      <a:tailEnd type="none" w="med" len="med"/>
                    </a:lnB>
                  </a:tcPr>
                </a:tc>
                <a:extLst>
                  <a:ext uri="{0D108BD9-81ED-4DB2-BD59-A6C34878D82A}">
                    <a16:rowId xmlns:a16="http://schemas.microsoft.com/office/drawing/2014/main" val="10000"/>
                  </a:ext>
                </a:extLst>
              </a:tr>
              <a:tr h="868680">
                <a:tc>
                  <a:txBody>
                    <a:bodyPr/>
                    <a:lstStyle/>
                    <a:p>
                      <a:pPr marL="0" indent="0">
                        <a:buNone/>
                      </a:pPr>
                      <a:r>
                        <a:rPr lang="en-US" sz="1500" b="1" dirty="0">
                          <a:solidFill>
                            <a:srgbClr val="36A9A1"/>
                          </a:solidFill>
                          <a:latin typeface="Calibri" pitchFamily="34" charset="0"/>
                          <a:ea typeface="Calibri" pitchFamily="34" charset="-122"/>
                          <a:cs typeface="Calibri" pitchFamily="34" charset="-120"/>
                        </a:rPr>
                        <a:t>A   </a:t>
                      </a:r>
                      <a:r>
                        <a:rPr lang="en-US" sz="1500" b="1" dirty="0">
                          <a:solidFill>
                            <a:srgbClr val="172D40"/>
                          </a:solidFill>
                          <a:latin typeface="Calibri" pitchFamily="34" charset="0"/>
                          <a:ea typeface="Calibri" pitchFamily="34" charset="-122"/>
                          <a:cs typeface="Calibri" pitchFamily="34" charset="-120"/>
                        </a:rPr>
                        <a:t>Colour identity</a:t>
                      </a:r>
                      <a:endParaRPr lang="en-US" sz="1500" dirty="0">
                        <a:latin typeface="Calibri" charset="0"/>
                        <a:ea typeface="Calibri" charset="0"/>
                        <a:cs typeface="Calibri" charset="0"/>
                      </a:endParaRPr>
                    </a:p>
                  </a:txBody>
                  <a:tcPr marL="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Graphite with Electric Teal</a:t>
                      </a:r>
                      <a:endParaRPr lang="en-US" sz="1400" dirty="0">
                        <a:latin typeface="Calibri" charset="0"/>
                        <a:ea typeface="Calibri" charset="0"/>
                        <a:cs typeface="Calibri" charset="0"/>
                      </a:endParaRPr>
                    </a:p>
                  </a:txBody>
                  <a:tcPr marL="365760" marR="13716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Deep Navy with Muted Gold</a:t>
                      </a:r>
                      <a:endParaRPr lang="en-US" sz="1400" dirty="0">
                        <a:latin typeface="Calibri" charset="0"/>
                        <a:ea typeface="Calibri" charset="0"/>
                        <a:cs typeface="Calibri" charset="0"/>
                      </a:endParaRPr>
                    </a:p>
                  </a:txBody>
                  <a:tcPr marL="365760" marR="13716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Forest Green with Sage</a:t>
                      </a:r>
                      <a:endParaRPr lang="en-US" sz="1400" dirty="0">
                        <a:latin typeface="Calibri" charset="0"/>
                        <a:ea typeface="Calibri" charset="0"/>
                        <a:cs typeface="Calibri" charset="0"/>
                      </a:endParaRPr>
                    </a:p>
                  </a:txBody>
                  <a:tcPr marL="365760" marR="13716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Midnight Navy with Cobalt</a:t>
                      </a:r>
                      <a:endParaRPr lang="en-US" sz="1400" dirty="0">
                        <a:latin typeface="Calibri" charset="0"/>
                        <a:ea typeface="Calibri" charset="0"/>
                        <a:cs typeface="Calibri" charset="0"/>
                      </a:endParaRPr>
                    </a:p>
                  </a:txBody>
                  <a:tcPr marL="365760" marR="13716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extLst>
                  <a:ext uri="{0D108BD9-81ED-4DB2-BD59-A6C34878D82A}">
                    <a16:rowId xmlns:a16="http://schemas.microsoft.com/office/drawing/2014/main" val="10001"/>
                  </a:ext>
                </a:extLst>
              </a:tr>
              <a:tr h="868680">
                <a:tc>
                  <a:txBody>
                    <a:bodyPr/>
                    <a:lstStyle/>
                    <a:p>
                      <a:pPr marL="0" indent="0">
                        <a:buNone/>
                      </a:pPr>
                      <a:r>
                        <a:rPr lang="en-US" sz="1500" b="1" dirty="0">
                          <a:solidFill>
                            <a:srgbClr val="36A9A1"/>
                          </a:solidFill>
                          <a:latin typeface="Calibri" pitchFamily="34" charset="0"/>
                          <a:ea typeface="Calibri" pitchFamily="34" charset="-122"/>
                          <a:cs typeface="Calibri" pitchFamily="34" charset="-120"/>
                        </a:rPr>
                        <a:t>B   </a:t>
                      </a:r>
                      <a:r>
                        <a:rPr lang="en-US" sz="1500" b="1" dirty="0">
                          <a:solidFill>
                            <a:srgbClr val="172D40"/>
                          </a:solidFill>
                          <a:latin typeface="Calibri" pitchFamily="34" charset="0"/>
                          <a:ea typeface="Calibri" pitchFamily="34" charset="-122"/>
                          <a:cs typeface="Calibri" pitchFamily="34" charset="-120"/>
                        </a:rPr>
                        <a:t>Composition grammar</a:t>
                      </a:r>
                      <a:endParaRPr lang="en-US" sz="1500" dirty="0">
                        <a:latin typeface="Calibri" charset="0"/>
                        <a:ea typeface="Calibri" charset="0"/>
                        <a:cs typeface="Calibri" charset="0"/>
                      </a:endParaRPr>
                    </a:p>
                  </a:txBody>
                  <a:tcPr marL="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Operational sequences, asymmetric panels</a:t>
                      </a:r>
                      <a:endParaRPr lang="en-US" sz="1400" dirty="0">
                        <a:latin typeface="Calibri" charset="0"/>
                        <a:ea typeface="Calibri" charset="0"/>
                        <a:cs typeface="Calibri" charset="0"/>
                      </a:endParaRPr>
                    </a:p>
                  </a:txBody>
                  <a:tcPr marL="365760" marR="13716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Numerical precision, strict alignment</a:t>
                      </a:r>
                      <a:endParaRPr lang="en-US" sz="1400" dirty="0">
                        <a:latin typeface="Calibri" charset="0"/>
                        <a:ea typeface="Calibri" charset="0"/>
                        <a:cs typeface="Calibri" charset="0"/>
                      </a:endParaRPr>
                    </a:p>
                  </a:txBody>
                  <a:tcPr marL="365760" marR="13716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Open layouts, generous whitespace</a:t>
                      </a:r>
                      <a:endParaRPr lang="en-US" sz="1400" dirty="0">
                        <a:latin typeface="Calibri" charset="0"/>
                        <a:ea typeface="Calibri" charset="0"/>
                        <a:cs typeface="Calibri" charset="0"/>
                      </a:endParaRPr>
                    </a:p>
                  </a:txBody>
                  <a:tcPr marL="365760" marR="13716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Structured horizontal progression</a:t>
                      </a:r>
                      <a:endParaRPr lang="en-US" sz="1400" dirty="0">
                        <a:latin typeface="Calibri" charset="0"/>
                        <a:ea typeface="Calibri" charset="0"/>
                        <a:cs typeface="Calibri" charset="0"/>
                      </a:endParaRPr>
                    </a:p>
                  </a:txBody>
                  <a:tcPr marL="365760" marR="13716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extLst>
                  <a:ext uri="{0D108BD9-81ED-4DB2-BD59-A6C34878D82A}">
                    <a16:rowId xmlns:a16="http://schemas.microsoft.com/office/drawing/2014/main" val="10002"/>
                  </a:ext>
                </a:extLst>
              </a:tr>
              <a:tr h="868680">
                <a:tc>
                  <a:txBody>
                    <a:bodyPr/>
                    <a:lstStyle/>
                    <a:p>
                      <a:pPr marL="0" indent="0">
                        <a:buNone/>
                      </a:pPr>
                      <a:r>
                        <a:rPr lang="en-US" sz="1500" b="1" dirty="0">
                          <a:solidFill>
                            <a:srgbClr val="36A9A1"/>
                          </a:solidFill>
                          <a:latin typeface="Calibri" pitchFamily="34" charset="0"/>
                          <a:ea typeface="Calibri" pitchFamily="34" charset="-122"/>
                          <a:cs typeface="Calibri" pitchFamily="34" charset="-120"/>
                        </a:rPr>
                        <a:t>C   </a:t>
                      </a:r>
                      <a:r>
                        <a:rPr lang="en-US" sz="1500" b="1" dirty="0">
                          <a:solidFill>
                            <a:srgbClr val="172D40"/>
                          </a:solidFill>
                          <a:latin typeface="Calibri" pitchFamily="34" charset="0"/>
                          <a:ea typeface="Calibri" pitchFamily="34" charset="-122"/>
                          <a:cs typeface="Calibri" pitchFamily="34" charset="-120"/>
                        </a:rPr>
                        <a:t>Visualization language</a:t>
                      </a:r>
                      <a:endParaRPr lang="en-US" sz="1500" dirty="0">
                        <a:latin typeface="Calibri" charset="0"/>
                        <a:ea typeface="Calibri" charset="0"/>
                        <a:cs typeface="Calibri" charset="0"/>
                      </a:endParaRPr>
                    </a:p>
                  </a:txBody>
                  <a:tcPr marL="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Incident timelines, SLA heatmaps</a:t>
                      </a:r>
                      <a:endParaRPr lang="en-US" sz="1400" dirty="0">
                        <a:latin typeface="Calibri" charset="0"/>
                        <a:ea typeface="Calibri" charset="0"/>
                        <a:cs typeface="Calibri" charset="0"/>
                      </a:endParaRPr>
                    </a:p>
                  </a:txBody>
                  <a:tcPr marL="365760" marR="13716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Waterfalls, variance analysis</a:t>
                      </a:r>
                      <a:endParaRPr lang="en-US" sz="1400" dirty="0">
                        <a:latin typeface="Calibri" charset="0"/>
                        <a:ea typeface="Calibri" charset="0"/>
                        <a:cs typeface="Calibri" charset="0"/>
                      </a:endParaRPr>
                    </a:p>
                  </a:txBody>
                  <a:tcPr marL="365760" marR="13716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Capacity and competency matrices</a:t>
                      </a:r>
                      <a:endParaRPr lang="en-US" sz="1400" dirty="0">
                        <a:latin typeface="Calibri" charset="0"/>
                        <a:ea typeface="Calibri" charset="0"/>
                        <a:cs typeface="Calibri" charset="0"/>
                      </a:endParaRPr>
                    </a:p>
                  </a:txBody>
                  <a:tcPr marL="365760" marR="13716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Milestones, dependencies, gates</a:t>
                      </a:r>
                      <a:endParaRPr lang="en-US" sz="1400" dirty="0">
                        <a:latin typeface="Calibri" charset="0"/>
                        <a:ea typeface="Calibri" charset="0"/>
                        <a:cs typeface="Calibri" charset="0"/>
                      </a:endParaRPr>
                    </a:p>
                  </a:txBody>
                  <a:tcPr marL="365760" marR="13716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extLst>
                  <a:ext uri="{0D108BD9-81ED-4DB2-BD59-A6C34878D82A}">
                    <a16:rowId xmlns:a16="http://schemas.microsoft.com/office/drawing/2014/main" val="10003"/>
                  </a:ext>
                </a:extLst>
              </a:tr>
              <a:tr h="868680">
                <a:tc>
                  <a:txBody>
                    <a:bodyPr/>
                    <a:lstStyle/>
                    <a:p>
                      <a:pPr marL="0" indent="0">
                        <a:buNone/>
                      </a:pPr>
                      <a:r>
                        <a:rPr lang="en-US" sz="1500" b="1" dirty="0">
                          <a:solidFill>
                            <a:srgbClr val="36A9A1"/>
                          </a:solidFill>
                          <a:latin typeface="Calibri" pitchFamily="34" charset="0"/>
                          <a:ea typeface="Calibri" pitchFamily="34" charset="-122"/>
                          <a:cs typeface="Calibri" pitchFamily="34" charset="-120"/>
                        </a:rPr>
                        <a:t>D   </a:t>
                      </a:r>
                      <a:r>
                        <a:rPr lang="en-US" sz="1500" b="1" dirty="0">
                          <a:solidFill>
                            <a:srgbClr val="172D40"/>
                          </a:solidFill>
                          <a:latin typeface="Calibri" pitchFamily="34" charset="0"/>
                          <a:ea typeface="Calibri" pitchFamily="34" charset="-122"/>
                          <a:cs typeface="Calibri" pitchFamily="34" charset="-120"/>
                        </a:rPr>
                        <a:t>Narrative personality</a:t>
                      </a:r>
                      <a:endParaRPr lang="en-US" sz="1500" dirty="0">
                        <a:latin typeface="Calibri" charset="0"/>
                        <a:ea typeface="Calibri" charset="0"/>
                        <a:cs typeface="Calibri" charset="0"/>
                      </a:endParaRPr>
                    </a:p>
                  </a:txBody>
                  <a:tcPr marL="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Operational urgency</a:t>
                      </a:r>
                      <a:endParaRPr lang="en-US" sz="1400" dirty="0">
                        <a:latin typeface="Calibri" charset="0"/>
                        <a:ea typeface="Calibri" charset="0"/>
                        <a:cs typeface="Calibri" charset="0"/>
                      </a:endParaRPr>
                    </a:p>
                  </a:txBody>
                  <a:tcPr marL="365760" marR="13716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Financial discipline</a:t>
                      </a:r>
                      <a:endParaRPr lang="en-US" sz="1400" dirty="0">
                        <a:latin typeface="Calibri" charset="0"/>
                        <a:ea typeface="Calibri" charset="0"/>
                        <a:cs typeface="Calibri" charset="0"/>
                      </a:endParaRPr>
                    </a:p>
                  </a:txBody>
                  <a:tcPr marL="365760" marR="13716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Human-centred, approachable</a:t>
                      </a:r>
                      <a:endParaRPr lang="en-US" sz="1400" dirty="0">
                        <a:latin typeface="Calibri" charset="0"/>
                        <a:ea typeface="Calibri" charset="0"/>
                        <a:cs typeface="Calibri" charset="0"/>
                      </a:endParaRPr>
                    </a:p>
                  </a:txBody>
                  <a:tcPr marL="365760" marR="13716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Disciplined, accountable</a:t>
                      </a:r>
                      <a:endParaRPr lang="en-US" sz="1400" dirty="0">
                        <a:latin typeface="Calibri" charset="0"/>
                        <a:ea typeface="Calibri" charset="0"/>
                        <a:cs typeface="Calibri" charset="0"/>
                      </a:endParaRPr>
                    </a:p>
                  </a:txBody>
                  <a:tcPr marL="365760" marR="13716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owner-chip-CTS"/>
          <p:cNvSpPr/>
          <p:nvPr/>
        </p:nvSpPr>
        <p:spPr>
          <a:xfrm>
            <a:off x="3081528" y="2267712"/>
            <a:ext cx="164592" cy="164592"/>
          </a:xfrm>
          <a:prstGeom prst="rect">
            <a:avLst/>
          </a:prstGeom>
          <a:solidFill>
            <a:srgbClr val="38B8AD"/>
          </a:solidFill>
          <a:ln/>
        </p:spPr>
      </p:sp>
      <p:sp>
        <p:nvSpPr>
          <p:cNvPr id="4" name="owner-chip-FIN"/>
          <p:cNvSpPr/>
          <p:nvPr/>
        </p:nvSpPr>
        <p:spPr>
          <a:xfrm>
            <a:off x="5249342" y="2267712"/>
            <a:ext cx="164592" cy="164592"/>
          </a:xfrm>
          <a:prstGeom prst="rect">
            <a:avLst/>
          </a:prstGeom>
          <a:solidFill>
            <a:srgbClr val="B79A61"/>
          </a:solidFill>
          <a:ln/>
        </p:spPr>
      </p:sp>
      <p:sp>
        <p:nvSpPr>
          <p:cNvPr id="7" name="owner-chip-HR/GA"/>
          <p:cNvSpPr/>
          <p:nvPr/>
        </p:nvSpPr>
        <p:spPr>
          <a:xfrm>
            <a:off x="7417156" y="2267712"/>
            <a:ext cx="164592" cy="164592"/>
          </a:xfrm>
          <a:prstGeom prst="rect">
            <a:avLst/>
          </a:prstGeom>
          <a:solidFill>
            <a:srgbClr val="8BAE9B"/>
          </a:solidFill>
          <a:ln/>
        </p:spPr>
      </p:sp>
      <p:sp>
        <p:nvSpPr>
          <p:cNvPr id="8" name="owner-chip-PMO"/>
          <p:cNvSpPr/>
          <p:nvPr/>
        </p:nvSpPr>
        <p:spPr>
          <a:xfrm>
            <a:off x="9584969" y="2267712"/>
            <a:ext cx="164592" cy="164592"/>
          </a:xfrm>
          <a:prstGeom prst="rect">
            <a:avLst/>
          </a:prstGeom>
          <a:solidFill>
            <a:srgbClr val="4777B8"/>
          </a:solidFill>
          <a:ln/>
        </p:spPr>
      </p:sp>
      <p:sp>
        <p:nvSpPr>
          <p:cNvPr id="9" name="Text 6"/>
          <p:cNvSpPr txBox="1"/>
          <p:nvPr/>
        </p:nvSpPr>
        <p:spPr>
          <a:xfrm>
            <a:off x="548640" y="5989320"/>
            <a:ext cx="11094415" cy="274320"/>
          </a:xfrm>
          <a:prstGeom prst="rect">
            <a:avLst/>
          </a:prstGeom>
          <a:noFill/>
          <a:ln/>
        </p:spPr>
        <p:txBody>
          <a:bodyPr wrap="square" lIns="0" tIns="0" rIns="0" bIns="0" rtlCol="0" anchor="t"/>
          <a:lstStyle/>
          <a:p>
            <a:pPr marL="0" indent="0">
              <a:buNone/>
            </a:pPr>
            <a:r>
              <a:rPr lang="en-US" sz="1200" i="1" dirty="0">
                <a:solidFill>
                  <a:schemeClr val="accent3"/>
                </a:solidFill>
                <a:latin typeface="Calibri" pitchFamily="34" charset="0"/>
                <a:ea typeface="Calibri" pitchFamily="34" charset="-122"/>
                <a:cs typeface="Calibri" pitchFamily="34" charset="-120"/>
              </a:rPr>
              <a:t>Four departments shown for comparison; the same four variables apply to all eight.</a:t>
            </a:r>
            <a:endParaRPr lang="en-US" sz="1200" dirty="0"/>
          </a:p>
        </p:txBody>
      </p:sp>
      <p:sp>
        <p:nvSpPr>
          <p:cNvPr id="25" name="Slide Number Placeholder 0"/>
          <p:cNvSpPr>
            <a:spLocks noGrp="1"/>
          </p:cNvSpPr>
          <p:nvPr>
            <p:ph type="sldNum" sz="quarter" idx="4294967295"/>
          </p:nvPr>
        </p:nvSpPr>
        <p:spPr>
          <a:xfrm>
            <a:off x="10911535" y="6382512"/>
            <a:ext cx="73152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t"/>
          <a:lstStyle/>
          <a:p>
            <a:pPr marL="0" indent="0">
              <a:buNone/>
            </a:pPr>
            <a:r>
              <a:rPr lang="en-US" sz="1000" kern="0" spc="100" dirty="0">
                <a:solidFill>
                  <a:schemeClr val="accent6"/>
                </a:solidFill>
                <a:latin typeface="Consolas" pitchFamily="34" charset="0"/>
                <a:ea typeface="Consolas" pitchFamily="34" charset="-122"/>
                <a:cs typeface="Consolas" pitchFamily="34" charset="-120"/>
              </a:rPr>
              <a:t>05 — TWO TREATMENTS</a:t>
            </a:r>
            <a:endParaRPr lang="en-US" sz="1000" dirty="0"/>
          </a:p>
        </p:txBody>
      </p:sp>
      <p:sp>
        <p:nvSpPr>
          <p:cNvPr id="3" name="Text 0"/>
          <p:cNvSpPr>
            <a:spLocks noGrp="1"/>
          </p:cNvSpPr>
          <p:nvPr>
            <p:ph type="title" idx="101" hasCustomPrompt="1"/>
          </p:nvPr>
        </p:nvSpPr>
        <p:spPr>
          <a:xfrm>
            <a:off x="548640" y="2011680"/>
            <a:ext cx="9144000" cy="1828800"/>
          </a:xfrm>
          <a:prstGeom prst="rect">
            <a:avLst/>
          </a:prstGeom>
          <a:noFill/>
          <a:ln/>
        </p:spPr>
        <p:txBody>
          <a:bodyPr wrap="square" lIns="0" tIns="0" rIns="0" bIns="0" rtlCol="0" anchor="t"/>
          <a:lstStyle/>
          <a:p>
            <a:pPr marL="0" indent="0" algn="l">
              <a:buNone/>
            </a:pPr>
            <a:r>
              <a:rPr lang="en-US" sz="4800" b="1" dirty="0">
                <a:solidFill>
                  <a:schemeClr val="bg2"/>
                </a:solidFill>
              </a:rPr>
              <a:t>Same department.</a:t>
            </a:r>
            <a:endParaRPr lang="en-US" sz="4800" dirty="0"/>
          </a:p>
          <a:p>
            <a:pPr marL="0" indent="0" algn="l">
              <a:buNone/>
            </a:pPr>
            <a:r>
              <a:rPr lang="en-US" sz="4800" b="1" dirty="0">
                <a:solidFill>
                  <a:schemeClr val="bg2"/>
                </a:solidFill>
              </a:rPr>
              <a:t>Different job.</a:t>
            </a:r>
            <a:endParaRPr lang="en-US" sz="48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buNone/>
            </a:pPr>
            <a:r>
              <a:rPr lang="en-US" sz="2200" dirty="0">
                <a:solidFill>
                  <a:schemeClr val="accent2"/>
                </a:solidFill>
                <a:latin typeface="Calibri" pitchFamily="34" charset="0"/>
                <a:ea typeface="Calibri" pitchFamily="34" charset="-122"/>
                <a:cs typeface="Calibri" pitchFamily="34" charset="-120"/>
              </a:rPr>
              <a:t>Variant #11 reports the story. Variant #12 works the problem.</a:t>
            </a:r>
            <a:endParaRPr lang="en-US" sz="2200" dirty="0"/>
          </a:p>
        </p:txBody>
      </p:sp>
      <p:sp>
        <p:nvSpPr>
          <p:cNvPr id="5" name="horizon-line"/>
          <p:cNvSpPr/>
          <p:nvPr/>
        </p:nvSpPr>
        <p:spPr>
          <a:xfrm>
            <a:off x="548640" y="4937760"/>
            <a:ext cx="3840480" cy="0"/>
          </a:xfrm>
          <a:prstGeom prst="line">
            <a:avLst/>
          </a:prstGeom>
          <a:noFill/>
          <a:ln w="9525">
            <a:solidFill>
              <a:srgbClr val="5E6670"/>
            </a:solidFill>
            <a:prstDash val="solid"/>
          </a:ln>
        </p:spPr>
      </p:sp>
      <p:sp>
        <p:nvSpPr>
          <p:cNvPr id="6" name="dot"/>
          <p:cNvSpPr/>
          <p:nvPr/>
        </p:nvSpPr>
        <p:spPr>
          <a:xfrm>
            <a:off x="4325112" y="4873752"/>
            <a:ext cx="128016" cy="128016"/>
          </a:xfrm>
          <a:prstGeom prst="ellipse">
            <a:avLst/>
          </a:prstGeom>
          <a:solidFill>
            <a:srgbClr val="36A9A1"/>
          </a:solidFill>
          <a:ln/>
        </p:spPr>
      </p:sp>
      <p:sp>
        <p:nvSpPr>
          <p:cNvPr id="7" name="dot-grid"/>
          <p:cNvSpPr/>
          <p:nvPr/>
        </p:nvSpPr>
        <p:spPr>
          <a:xfrm>
            <a:off x="9692640" y="4206240"/>
            <a:ext cx="32004" cy="32004"/>
          </a:xfrm>
          <a:prstGeom prst="ellipse">
            <a:avLst/>
          </a:prstGeom>
          <a:solidFill>
            <a:srgbClr val="5E6670">
              <a:alpha val="45000"/>
            </a:srgbClr>
          </a:solidFill>
          <a:ln/>
        </p:spPr>
      </p:sp>
      <p:sp>
        <p:nvSpPr>
          <p:cNvPr id="8" name="dot-grid"/>
          <p:cNvSpPr/>
          <p:nvPr/>
        </p:nvSpPr>
        <p:spPr>
          <a:xfrm>
            <a:off x="9921240" y="4206240"/>
            <a:ext cx="32004" cy="32004"/>
          </a:xfrm>
          <a:prstGeom prst="ellipse">
            <a:avLst/>
          </a:prstGeom>
          <a:solidFill>
            <a:srgbClr val="5E6670">
              <a:alpha val="45000"/>
            </a:srgbClr>
          </a:solidFill>
          <a:ln/>
        </p:spPr>
      </p:sp>
      <p:sp>
        <p:nvSpPr>
          <p:cNvPr id="9" name="dot-grid"/>
          <p:cNvSpPr/>
          <p:nvPr/>
        </p:nvSpPr>
        <p:spPr>
          <a:xfrm>
            <a:off x="10149840" y="4206240"/>
            <a:ext cx="32004" cy="32004"/>
          </a:xfrm>
          <a:prstGeom prst="ellipse">
            <a:avLst/>
          </a:prstGeom>
          <a:solidFill>
            <a:srgbClr val="5E6670">
              <a:alpha val="45000"/>
            </a:srgbClr>
          </a:solidFill>
          <a:ln/>
        </p:spPr>
      </p:sp>
      <p:sp>
        <p:nvSpPr>
          <p:cNvPr id="10" name="dot-grid"/>
          <p:cNvSpPr/>
          <p:nvPr/>
        </p:nvSpPr>
        <p:spPr>
          <a:xfrm>
            <a:off x="10378440" y="4206240"/>
            <a:ext cx="32004" cy="32004"/>
          </a:xfrm>
          <a:prstGeom prst="ellipse">
            <a:avLst/>
          </a:prstGeom>
          <a:solidFill>
            <a:srgbClr val="5E6670">
              <a:alpha val="45000"/>
            </a:srgbClr>
          </a:solidFill>
          <a:ln/>
        </p:spPr>
      </p:sp>
      <p:sp>
        <p:nvSpPr>
          <p:cNvPr id="11" name="dot-grid"/>
          <p:cNvSpPr/>
          <p:nvPr/>
        </p:nvSpPr>
        <p:spPr>
          <a:xfrm>
            <a:off x="10607040" y="4206240"/>
            <a:ext cx="32004" cy="32004"/>
          </a:xfrm>
          <a:prstGeom prst="ellipse">
            <a:avLst/>
          </a:prstGeom>
          <a:solidFill>
            <a:srgbClr val="5E6670">
              <a:alpha val="45000"/>
            </a:srgbClr>
          </a:solidFill>
          <a:ln/>
        </p:spPr>
      </p:sp>
      <p:sp>
        <p:nvSpPr>
          <p:cNvPr id="12" name="dot-grid"/>
          <p:cNvSpPr/>
          <p:nvPr/>
        </p:nvSpPr>
        <p:spPr>
          <a:xfrm>
            <a:off x="10835640" y="4206240"/>
            <a:ext cx="32004" cy="32004"/>
          </a:xfrm>
          <a:prstGeom prst="ellipse">
            <a:avLst/>
          </a:prstGeom>
          <a:solidFill>
            <a:srgbClr val="5E6670">
              <a:alpha val="45000"/>
            </a:srgbClr>
          </a:solidFill>
          <a:ln/>
        </p:spPr>
      </p:sp>
      <p:sp>
        <p:nvSpPr>
          <p:cNvPr id="13" name="dot-grid"/>
          <p:cNvSpPr/>
          <p:nvPr/>
        </p:nvSpPr>
        <p:spPr>
          <a:xfrm>
            <a:off x="11064240" y="4206240"/>
            <a:ext cx="32004" cy="32004"/>
          </a:xfrm>
          <a:prstGeom prst="ellipse">
            <a:avLst/>
          </a:prstGeom>
          <a:solidFill>
            <a:srgbClr val="5E6670">
              <a:alpha val="45000"/>
            </a:srgbClr>
          </a:solidFill>
          <a:ln/>
        </p:spPr>
      </p:sp>
      <p:sp>
        <p:nvSpPr>
          <p:cNvPr id="14" name="dot-grid"/>
          <p:cNvSpPr/>
          <p:nvPr/>
        </p:nvSpPr>
        <p:spPr>
          <a:xfrm>
            <a:off x="11292840" y="4206240"/>
            <a:ext cx="32004" cy="32004"/>
          </a:xfrm>
          <a:prstGeom prst="ellipse">
            <a:avLst/>
          </a:prstGeom>
          <a:solidFill>
            <a:srgbClr val="5E6670">
              <a:alpha val="45000"/>
            </a:srgbClr>
          </a:solidFill>
          <a:ln/>
        </p:spPr>
      </p:sp>
      <p:sp>
        <p:nvSpPr>
          <p:cNvPr id="15" name="dot-grid"/>
          <p:cNvSpPr/>
          <p:nvPr/>
        </p:nvSpPr>
        <p:spPr>
          <a:xfrm>
            <a:off x="11521440" y="4206240"/>
            <a:ext cx="32004" cy="32004"/>
          </a:xfrm>
          <a:prstGeom prst="ellipse">
            <a:avLst/>
          </a:prstGeom>
          <a:solidFill>
            <a:srgbClr val="5E6670">
              <a:alpha val="45000"/>
            </a:srgbClr>
          </a:solidFill>
          <a:ln/>
        </p:spPr>
      </p:sp>
      <p:sp>
        <p:nvSpPr>
          <p:cNvPr id="16" name="dot-grid"/>
          <p:cNvSpPr/>
          <p:nvPr/>
        </p:nvSpPr>
        <p:spPr>
          <a:xfrm>
            <a:off x="9692640" y="4434840"/>
            <a:ext cx="32004" cy="32004"/>
          </a:xfrm>
          <a:prstGeom prst="ellipse">
            <a:avLst/>
          </a:prstGeom>
          <a:solidFill>
            <a:srgbClr val="5E6670">
              <a:alpha val="45000"/>
            </a:srgbClr>
          </a:solidFill>
          <a:ln/>
        </p:spPr>
      </p:sp>
      <p:sp>
        <p:nvSpPr>
          <p:cNvPr id="17" name="dot-grid"/>
          <p:cNvSpPr/>
          <p:nvPr/>
        </p:nvSpPr>
        <p:spPr>
          <a:xfrm>
            <a:off x="9921240" y="4434840"/>
            <a:ext cx="32004" cy="32004"/>
          </a:xfrm>
          <a:prstGeom prst="ellipse">
            <a:avLst/>
          </a:prstGeom>
          <a:solidFill>
            <a:srgbClr val="5E6670">
              <a:alpha val="45000"/>
            </a:srgbClr>
          </a:solidFill>
          <a:ln/>
        </p:spPr>
      </p:sp>
      <p:sp>
        <p:nvSpPr>
          <p:cNvPr id="18" name="dot-grid"/>
          <p:cNvSpPr/>
          <p:nvPr/>
        </p:nvSpPr>
        <p:spPr>
          <a:xfrm>
            <a:off x="10149840" y="4434840"/>
            <a:ext cx="32004" cy="32004"/>
          </a:xfrm>
          <a:prstGeom prst="ellipse">
            <a:avLst/>
          </a:prstGeom>
          <a:solidFill>
            <a:srgbClr val="5E6670">
              <a:alpha val="45000"/>
            </a:srgbClr>
          </a:solidFill>
          <a:ln/>
        </p:spPr>
      </p:sp>
      <p:sp>
        <p:nvSpPr>
          <p:cNvPr id="19" name="dot-grid"/>
          <p:cNvSpPr/>
          <p:nvPr/>
        </p:nvSpPr>
        <p:spPr>
          <a:xfrm>
            <a:off x="10378440" y="4434840"/>
            <a:ext cx="32004" cy="32004"/>
          </a:xfrm>
          <a:prstGeom prst="ellipse">
            <a:avLst/>
          </a:prstGeom>
          <a:solidFill>
            <a:srgbClr val="5E6670">
              <a:alpha val="45000"/>
            </a:srgbClr>
          </a:solidFill>
          <a:ln/>
        </p:spPr>
      </p:sp>
      <p:sp>
        <p:nvSpPr>
          <p:cNvPr id="20" name="dot-grid"/>
          <p:cNvSpPr/>
          <p:nvPr/>
        </p:nvSpPr>
        <p:spPr>
          <a:xfrm>
            <a:off x="10607040" y="4434840"/>
            <a:ext cx="32004" cy="32004"/>
          </a:xfrm>
          <a:prstGeom prst="ellipse">
            <a:avLst/>
          </a:prstGeom>
          <a:solidFill>
            <a:srgbClr val="5E6670">
              <a:alpha val="45000"/>
            </a:srgbClr>
          </a:solidFill>
          <a:ln/>
        </p:spPr>
      </p:sp>
      <p:sp>
        <p:nvSpPr>
          <p:cNvPr id="21" name="dot-grid"/>
          <p:cNvSpPr/>
          <p:nvPr/>
        </p:nvSpPr>
        <p:spPr>
          <a:xfrm>
            <a:off x="10835640" y="4434840"/>
            <a:ext cx="32004" cy="32004"/>
          </a:xfrm>
          <a:prstGeom prst="ellipse">
            <a:avLst/>
          </a:prstGeom>
          <a:solidFill>
            <a:srgbClr val="5E6670">
              <a:alpha val="45000"/>
            </a:srgbClr>
          </a:solidFill>
          <a:ln/>
        </p:spPr>
      </p:sp>
      <p:sp>
        <p:nvSpPr>
          <p:cNvPr id="22" name="dot-grid"/>
          <p:cNvSpPr/>
          <p:nvPr/>
        </p:nvSpPr>
        <p:spPr>
          <a:xfrm>
            <a:off x="11064240" y="4434840"/>
            <a:ext cx="32004" cy="32004"/>
          </a:xfrm>
          <a:prstGeom prst="ellipse">
            <a:avLst/>
          </a:prstGeom>
          <a:solidFill>
            <a:srgbClr val="5E6670">
              <a:alpha val="45000"/>
            </a:srgbClr>
          </a:solidFill>
          <a:ln/>
        </p:spPr>
      </p:sp>
      <p:sp>
        <p:nvSpPr>
          <p:cNvPr id="23" name="dot-grid"/>
          <p:cNvSpPr/>
          <p:nvPr/>
        </p:nvSpPr>
        <p:spPr>
          <a:xfrm>
            <a:off x="11292840" y="4434840"/>
            <a:ext cx="32004" cy="32004"/>
          </a:xfrm>
          <a:prstGeom prst="ellipse">
            <a:avLst/>
          </a:prstGeom>
          <a:solidFill>
            <a:srgbClr val="5E6670">
              <a:alpha val="45000"/>
            </a:srgbClr>
          </a:solidFill>
          <a:ln/>
        </p:spPr>
      </p:sp>
      <p:sp>
        <p:nvSpPr>
          <p:cNvPr id="24" name="dot-grid"/>
          <p:cNvSpPr/>
          <p:nvPr/>
        </p:nvSpPr>
        <p:spPr>
          <a:xfrm>
            <a:off x="11521440" y="4434840"/>
            <a:ext cx="32004" cy="32004"/>
          </a:xfrm>
          <a:prstGeom prst="ellipse">
            <a:avLst/>
          </a:prstGeom>
          <a:solidFill>
            <a:srgbClr val="5E6670">
              <a:alpha val="45000"/>
            </a:srgbClr>
          </a:solidFill>
          <a:ln/>
        </p:spPr>
      </p:sp>
      <p:sp>
        <p:nvSpPr>
          <p:cNvPr id="25" name="dot-grid"/>
          <p:cNvSpPr/>
          <p:nvPr/>
        </p:nvSpPr>
        <p:spPr>
          <a:xfrm>
            <a:off x="9692640" y="4663440"/>
            <a:ext cx="32004" cy="32004"/>
          </a:xfrm>
          <a:prstGeom prst="ellipse">
            <a:avLst/>
          </a:prstGeom>
          <a:solidFill>
            <a:srgbClr val="5E6670">
              <a:alpha val="45000"/>
            </a:srgbClr>
          </a:solidFill>
          <a:ln/>
        </p:spPr>
      </p:sp>
      <p:sp>
        <p:nvSpPr>
          <p:cNvPr id="26" name="dot-grid"/>
          <p:cNvSpPr/>
          <p:nvPr/>
        </p:nvSpPr>
        <p:spPr>
          <a:xfrm>
            <a:off x="9921240" y="4663440"/>
            <a:ext cx="32004" cy="32004"/>
          </a:xfrm>
          <a:prstGeom prst="ellipse">
            <a:avLst/>
          </a:prstGeom>
          <a:solidFill>
            <a:srgbClr val="5E6670">
              <a:alpha val="45000"/>
            </a:srgbClr>
          </a:solidFill>
          <a:ln/>
        </p:spPr>
      </p:sp>
      <p:sp>
        <p:nvSpPr>
          <p:cNvPr id="27" name="dot-grid"/>
          <p:cNvSpPr/>
          <p:nvPr/>
        </p:nvSpPr>
        <p:spPr>
          <a:xfrm>
            <a:off x="10149840" y="4663440"/>
            <a:ext cx="32004" cy="32004"/>
          </a:xfrm>
          <a:prstGeom prst="ellipse">
            <a:avLst/>
          </a:prstGeom>
          <a:solidFill>
            <a:srgbClr val="5E6670">
              <a:alpha val="45000"/>
            </a:srgbClr>
          </a:solidFill>
          <a:ln/>
        </p:spPr>
      </p:sp>
      <p:sp>
        <p:nvSpPr>
          <p:cNvPr id="28" name="dot-grid"/>
          <p:cNvSpPr/>
          <p:nvPr/>
        </p:nvSpPr>
        <p:spPr>
          <a:xfrm>
            <a:off x="10378440" y="4663440"/>
            <a:ext cx="32004" cy="32004"/>
          </a:xfrm>
          <a:prstGeom prst="ellipse">
            <a:avLst/>
          </a:prstGeom>
          <a:solidFill>
            <a:srgbClr val="5E6670">
              <a:alpha val="45000"/>
            </a:srgbClr>
          </a:solidFill>
          <a:ln/>
        </p:spPr>
      </p:sp>
      <p:sp>
        <p:nvSpPr>
          <p:cNvPr id="29" name="dot-grid"/>
          <p:cNvSpPr/>
          <p:nvPr/>
        </p:nvSpPr>
        <p:spPr>
          <a:xfrm>
            <a:off x="10607040" y="4663440"/>
            <a:ext cx="32004" cy="32004"/>
          </a:xfrm>
          <a:prstGeom prst="ellipse">
            <a:avLst/>
          </a:prstGeom>
          <a:solidFill>
            <a:srgbClr val="5E6670">
              <a:alpha val="45000"/>
            </a:srgbClr>
          </a:solidFill>
          <a:ln/>
        </p:spPr>
      </p:sp>
      <p:sp>
        <p:nvSpPr>
          <p:cNvPr id="30" name="dot-grid"/>
          <p:cNvSpPr/>
          <p:nvPr/>
        </p:nvSpPr>
        <p:spPr>
          <a:xfrm>
            <a:off x="10835640" y="4663440"/>
            <a:ext cx="32004" cy="32004"/>
          </a:xfrm>
          <a:prstGeom prst="ellipse">
            <a:avLst/>
          </a:prstGeom>
          <a:solidFill>
            <a:srgbClr val="5E6670">
              <a:alpha val="45000"/>
            </a:srgbClr>
          </a:solidFill>
          <a:ln/>
        </p:spPr>
      </p:sp>
      <p:sp>
        <p:nvSpPr>
          <p:cNvPr id="31" name="dot-grid"/>
          <p:cNvSpPr/>
          <p:nvPr/>
        </p:nvSpPr>
        <p:spPr>
          <a:xfrm>
            <a:off x="11064240" y="4663440"/>
            <a:ext cx="32004" cy="32004"/>
          </a:xfrm>
          <a:prstGeom prst="ellipse">
            <a:avLst/>
          </a:prstGeom>
          <a:solidFill>
            <a:srgbClr val="5E6670">
              <a:alpha val="45000"/>
            </a:srgbClr>
          </a:solidFill>
          <a:ln/>
        </p:spPr>
      </p:sp>
      <p:sp>
        <p:nvSpPr>
          <p:cNvPr id="32" name="dot-grid"/>
          <p:cNvSpPr/>
          <p:nvPr/>
        </p:nvSpPr>
        <p:spPr>
          <a:xfrm>
            <a:off x="11292840" y="4663440"/>
            <a:ext cx="32004" cy="32004"/>
          </a:xfrm>
          <a:prstGeom prst="ellipse">
            <a:avLst/>
          </a:prstGeom>
          <a:solidFill>
            <a:srgbClr val="5E6670">
              <a:alpha val="45000"/>
            </a:srgbClr>
          </a:solidFill>
          <a:ln/>
        </p:spPr>
      </p:sp>
      <p:sp>
        <p:nvSpPr>
          <p:cNvPr id="33" name="dot-grid"/>
          <p:cNvSpPr/>
          <p:nvPr/>
        </p:nvSpPr>
        <p:spPr>
          <a:xfrm>
            <a:off x="11521440" y="4663440"/>
            <a:ext cx="32004" cy="32004"/>
          </a:xfrm>
          <a:prstGeom prst="ellipse">
            <a:avLst/>
          </a:prstGeom>
          <a:solidFill>
            <a:srgbClr val="5E6670">
              <a:alpha val="45000"/>
            </a:srgbClr>
          </a:solidFill>
          <a:ln/>
        </p:spPr>
      </p:sp>
      <p:sp>
        <p:nvSpPr>
          <p:cNvPr id="34" name="dot-grid"/>
          <p:cNvSpPr/>
          <p:nvPr/>
        </p:nvSpPr>
        <p:spPr>
          <a:xfrm>
            <a:off x="9692640" y="4892040"/>
            <a:ext cx="32004" cy="32004"/>
          </a:xfrm>
          <a:prstGeom prst="ellipse">
            <a:avLst/>
          </a:prstGeom>
          <a:solidFill>
            <a:srgbClr val="5E6670">
              <a:alpha val="45000"/>
            </a:srgbClr>
          </a:solidFill>
          <a:ln/>
        </p:spPr>
      </p:sp>
      <p:sp>
        <p:nvSpPr>
          <p:cNvPr id="35" name="dot-grid"/>
          <p:cNvSpPr/>
          <p:nvPr/>
        </p:nvSpPr>
        <p:spPr>
          <a:xfrm>
            <a:off x="9921240" y="4892040"/>
            <a:ext cx="32004" cy="32004"/>
          </a:xfrm>
          <a:prstGeom prst="ellipse">
            <a:avLst/>
          </a:prstGeom>
          <a:solidFill>
            <a:srgbClr val="5E6670">
              <a:alpha val="45000"/>
            </a:srgbClr>
          </a:solidFill>
          <a:ln/>
        </p:spPr>
      </p:sp>
      <p:sp>
        <p:nvSpPr>
          <p:cNvPr id="36" name="dot-grid"/>
          <p:cNvSpPr/>
          <p:nvPr/>
        </p:nvSpPr>
        <p:spPr>
          <a:xfrm>
            <a:off x="10149840" y="4892040"/>
            <a:ext cx="32004" cy="32004"/>
          </a:xfrm>
          <a:prstGeom prst="ellipse">
            <a:avLst/>
          </a:prstGeom>
          <a:solidFill>
            <a:srgbClr val="5E6670">
              <a:alpha val="45000"/>
            </a:srgbClr>
          </a:solidFill>
          <a:ln/>
        </p:spPr>
      </p:sp>
      <p:sp>
        <p:nvSpPr>
          <p:cNvPr id="37" name="dot-grid"/>
          <p:cNvSpPr/>
          <p:nvPr/>
        </p:nvSpPr>
        <p:spPr>
          <a:xfrm>
            <a:off x="10378440" y="4892040"/>
            <a:ext cx="32004" cy="32004"/>
          </a:xfrm>
          <a:prstGeom prst="ellipse">
            <a:avLst/>
          </a:prstGeom>
          <a:solidFill>
            <a:srgbClr val="5E6670">
              <a:alpha val="45000"/>
            </a:srgbClr>
          </a:solidFill>
          <a:ln/>
        </p:spPr>
      </p:sp>
      <p:sp>
        <p:nvSpPr>
          <p:cNvPr id="38" name="dot-grid"/>
          <p:cNvSpPr/>
          <p:nvPr/>
        </p:nvSpPr>
        <p:spPr>
          <a:xfrm>
            <a:off x="10607040" y="4892040"/>
            <a:ext cx="32004" cy="32004"/>
          </a:xfrm>
          <a:prstGeom prst="ellipse">
            <a:avLst/>
          </a:prstGeom>
          <a:solidFill>
            <a:srgbClr val="5E6670">
              <a:alpha val="45000"/>
            </a:srgbClr>
          </a:solidFill>
          <a:ln/>
        </p:spPr>
      </p:sp>
      <p:sp>
        <p:nvSpPr>
          <p:cNvPr id="39" name="dot-grid"/>
          <p:cNvSpPr/>
          <p:nvPr/>
        </p:nvSpPr>
        <p:spPr>
          <a:xfrm>
            <a:off x="10835640" y="4892040"/>
            <a:ext cx="32004" cy="32004"/>
          </a:xfrm>
          <a:prstGeom prst="ellipse">
            <a:avLst/>
          </a:prstGeom>
          <a:solidFill>
            <a:srgbClr val="5E6670">
              <a:alpha val="45000"/>
            </a:srgbClr>
          </a:solidFill>
          <a:ln/>
        </p:spPr>
      </p:sp>
      <p:sp>
        <p:nvSpPr>
          <p:cNvPr id="40" name="dot-grid"/>
          <p:cNvSpPr/>
          <p:nvPr/>
        </p:nvSpPr>
        <p:spPr>
          <a:xfrm>
            <a:off x="11064240" y="4892040"/>
            <a:ext cx="32004" cy="32004"/>
          </a:xfrm>
          <a:prstGeom prst="ellipse">
            <a:avLst/>
          </a:prstGeom>
          <a:solidFill>
            <a:srgbClr val="5E6670">
              <a:alpha val="45000"/>
            </a:srgbClr>
          </a:solidFill>
          <a:ln/>
        </p:spPr>
      </p:sp>
      <p:sp>
        <p:nvSpPr>
          <p:cNvPr id="41" name="dot-grid"/>
          <p:cNvSpPr/>
          <p:nvPr/>
        </p:nvSpPr>
        <p:spPr>
          <a:xfrm>
            <a:off x="11292840" y="4892040"/>
            <a:ext cx="32004" cy="32004"/>
          </a:xfrm>
          <a:prstGeom prst="ellipse">
            <a:avLst/>
          </a:prstGeom>
          <a:solidFill>
            <a:srgbClr val="5E6670">
              <a:alpha val="45000"/>
            </a:srgbClr>
          </a:solidFill>
          <a:ln/>
        </p:spPr>
      </p:sp>
      <p:sp>
        <p:nvSpPr>
          <p:cNvPr id="42" name="dot-grid"/>
          <p:cNvSpPr/>
          <p:nvPr/>
        </p:nvSpPr>
        <p:spPr>
          <a:xfrm>
            <a:off x="11521440" y="4892040"/>
            <a:ext cx="32004" cy="32004"/>
          </a:xfrm>
          <a:prstGeom prst="ellipse">
            <a:avLst/>
          </a:prstGeom>
          <a:solidFill>
            <a:srgbClr val="5E6670">
              <a:alpha val="45000"/>
            </a:srgbClr>
          </a:solidFill>
          <a:ln/>
        </p:spPr>
      </p:sp>
      <p:sp>
        <p:nvSpPr>
          <p:cNvPr id="43" name="dot-grid"/>
          <p:cNvSpPr/>
          <p:nvPr/>
        </p:nvSpPr>
        <p:spPr>
          <a:xfrm>
            <a:off x="9692640" y="5120640"/>
            <a:ext cx="32004" cy="32004"/>
          </a:xfrm>
          <a:prstGeom prst="ellipse">
            <a:avLst/>
          </a:prstGeom>
          <a:solidFill>
            <a:srgbClr val="5E6670">
              <a:alpha val="45000"/>
            </a:srgbClr>
          </a:solidFill>
          <a:ln/>
        </p:spPr>
      </p:sp>
      <p:sp>
        <p:nvSpPr>
          <p:cNvPr id="44" name="dot-grid"/>
          <p:cNvSpPr/>
          <p:nvPr/>
        </p:nvSpPr>
        <p:spPr>
          <a:xfrm>
            <a:off x="9921240" y="5120640"/>
            <a:ext cx="32004" cy="32004"/>
          </a:xfrm>
          <a:prstGeom prst="ellipse">
            <a:avLst/>
          </a:prstGeom>
          <a:solidFill>
            <a:srgbClr val="5E6670">
              <a:alpha val="45000"/>
            </a:srgbClr>
          </a:solidFill>
          <a:ln/>
        </p:spPr>
      </p:sp>
      <p:sp>
        <p:nvSpPr>
          <p:cNvPr id="45" name="dot-grid"/>
          <p:cNvSpPr/>
          <p:nvPr/>
        </p:nvSpPr>
        <p:spPr>
          <a:xfrm>
            <a:off x="10149840" y="5120640"/>
            <a:ext cx="32004" cy="32004"/>
          </a:xfrm>
          <a:prstGeom prst="ellipse">
            <a:avLst/>
          </a:prstGeom>
          <a:solidFill>
            <a:srgbClr val="5E6670">
              <a:alpha val="45000"/>
            </a:srgbClr>
          </a:solidFill>
          <a:ln/>
        </p:spPr>
      </p:sp>
      <p:sp>
        <p:nvSpPr>
          <p:cNvPr id="46" name="dot-grid"/>
          <p:cNvSpPr/>
          <p:nvPr/>
        </p:nvSpPr>
        <p:spPr>
          <a:xfrm>
            <a:off x="10378440" y="5120640"/>
            <a:ext cx="32004" cy="32004"/>
          </a:xfrm>
          <a:prstGeom prst="ellipse">
            <a:avLst/>
          </a:prstGeom>
          <a:solidFill>
            <a:srgbClr val="5E6670">
              <a:alpha val="45000"/>
            </a:srgbClr>
          </a:solidFill>
          <a:ln/>
        </p:spPr>
      </p:sp>
      <p:sp>
        <p:nvSpPr>
          <p:cNvPr id="47" name="dot-grid"/>
          <p:cNvSpPr/>
          <p:nvPr/>
        </p:nvSpPr>
        <p:spPr>
          <a:xfrm>
            <a:off x="10607040" y="5120640"/>
            <a:ext cx="32004" cy="32004"/>
          </a:xfrm>
          <a:prstGeom prst="ellipse">
            <a:avLst/>
          </a:prstGeom>
          <a:solidFill>
            <a:srgbClr val="5E6670">
              <a:alpha val="45000"/>
            </a:srgbClr>
          </a:solidFill>
          <a:ln/>
        </p:spPr>
      </p:sp>
      <p:sp>
        <p:nvSpPr>
          <p:cNvPr id="48" name="dot-grid"/>
          <p:cNvSpPr/>
          <p:nvPr/>
        </p:nvSpPr>
        <p:spPr>
          <a:xfrm>
            <a:off x="10835640" y="5120640"/>
            <a:ext cx="32004" cy="32004"/>
          </a:xfrm>
          <a:prstGeom prst="ellipse">
            <a:avLst/>
          </a:prstGeom>
          <a:solidFill>
            <a:srgbClr val="5E6670">
              <a:alpha val="45000"/>
            </a:srgbClr>
          </a:solidFill>
          <a:ln/>
        </p:spPr>
      </p:sp>
      <p:sp>
        <p:nvSpPr>
          <p:cNvPr id="49" name="dot-grid"/>
          <p:cNvSpPr/>
          <p:nvPr/>
        </p:nvSpPr>
        <p:spPr>
          <a:xfrm>
            <a:off x="11064240" y="5120640"/>
            <a:ext cx="32004" cy="32004"/>
          </a:xfrm>
          <a:prstGeom prst="ellipse">
            <a:avLst/>
          </a:prstGeom>
          <a:solidFill>
            <a:srgbClr val="5E6670">
              <a:alpha val="45000"/>
            </a:srgbClr>
          </a:solidFill>
          <a:ln/>
        </p:spPr>
      </p:sp>
      <p:sp>
        <p:nvSpPr>
          <p:cNvPr id="50" name="dot-grid"/>
          <p:cNvSpPr/>
          <p:nvPr/>
        </p:nvSpPr>
        <p:spPr>
          <a:xfrm>
            <a:off x="11292840" y="5120640"/>
            <a:ext cx="32004" cy="32004"/>
          </a:xfrm>
          <a:prstGeom prst="ellipse">
            <a:avLst/>
          </a:prstGeom>
          <a:solidFill>
            <a:srgbClr val="5E6670">
              <a:alpha val="45000"/>
            </a:srgbClr>
          </a:solidFill>
          <a:ln/>
        </p:spPr>
      </p:sp>
      <p:sp>
        <p:nvSpPr>
          <p:cNvPr id="51" name="dot-grid"/>
          <p:cNvSpPr/>
          <p:nvPr/>
        </p:nvSpPr>
        <p:spPr>
          <a:xfrm>
            <a:off x="11521440" y="5120640"/>
            <a:ext cx="32004" cy="32004"/>
          </a:xfrm>
          <a:prstGeom prst="ellipse">
            <a:avLst/>
          </a:prstGeom>
          <a:solidFill>
            <a:srgbClr val="5E6670">
              <a:alpha val="45000"/>
            </a:srgbClr>
          </a:solidFill>
          <a:ln/>
        </p:spPr>
      </p:sp>
      <p:sp>
        <p:nvSpPr>
          <p:cNvPr id="52" name="dot-grid"/>
          <p:cNvSpPr/>
          <p:nvPr/>
        </p:nvSpPr>
        <p:spPr>
          <a:xfrm>
            <a:off x="9692640" y="5349240"/>
            <a:ext cx="32004" cy="32004"/>
          </a:xfrm>
          <a:prstGeom prst="ellipse">
            <a:avLst/>
          </a:prstGeom>
          <a:solidFill>
            <a:srgbClr val="5E6670">
              <a:alpha val="45000"/>
            </a:srgbClr>
          </a:solidFill>
          <a:ln/>
        </p:spPr>
      </p:sp>
      <p:sp>
        <p:nvSpPr>
          <p:cNvPr id="53" name="dot-grid"/>
          <p:cNvSpPr/>
          <p:nvPr/>
        </p:nvSpPr>
        <p:spPr>
          <a:xfrm>
            <a:off x="9921240" y="5349240"/>
            <a:ext cx="32004" cy="32004"/>
          </a:xfrm>
          <a:prstGeom prst="ellipse">
            <a:avLst/>
          </a:prstGeom>
          <a:solidFill>
            <a:srgbClr val="5E6670">
              <a:alpha val="45000"/>
            </a:srgbClr>
          </a:solidFill>
          <a:ln/>
        </p:spPr>
      </p:sp>
      <p:sp>
        <p:nvSpPr>
          <p:cNvPr id="54" name="dot-grid"/>
          <p:cNvSpPr/>
          <p:nvPr/>
        </p:nvSpPr>
        <p:spPr>
          <a:xfrm>
            <a:off x="10149840" y="5349240"/>
            <a:ext cx="32004" cy="32004"/>
          </a:xfrm>
          <a:prstGeom prst="ellipse">
            <a:avLst/>
          </a:prstGeom>
          <a:solidFill>
            <a:srgbClr val="5E6670">
              <a:alpha val="45000"/>
            </a:srgbClr>
          </a:solidFill>
          <a:ln/>
        </p:spPr>
      </p:sp>
      <p:sp>
        <p:nvSpPr>
          <p:cNvPr id="55" name="dot-grid"/>
          <p:cNvSpPr/>
          <p:nvPr/>
        </p:nvSpPr>
        <p:spPr>
          <a:xfrm>
            <a:off x="10378440" y="5349240"/>
            <a:ext cx="32004" cy="32004"/>
          </a:xfrm>
          <a:prstGeom prst="ellipse">
            <a:avLst/>
          </a:prstGeom>
          <a:solidFill>
            <a:srgbClr val="5E6670">
              <a:alpha val="45000"/>
            </a:srgbClr>
          </a:solidFill>
          <a:ln/>
        </p:spPr>
      </p:sp>
      <p:sp>
        <p:nvSpPr>
          <p:cNvPr id="56" name="dot-grid"/>
          <p:cNvSpPr/>
          <p:nvPr/>
        </p:nvSpPr>
        <p:spPr>
          <a:xfrm>
            <a:off x="10607040" y="5349240"/>
            <a:ext cx="32004" cy="32004"/>
          </a:xfrm>
          <a:prstGeom prst="ellipse">
            <a:avLst/>
          </a:prstGeom>
          <a:solidFill>
            <a:srgbClr val="5E6670">
              <a:alpha val="45000"/>
            </a:srgbClr>
          </a:solidFill>
          <a:ln/>
        </p:spPr>
      </p:sp>
      <p:sp>
        <p:nvSpPr>
          <p:cNvPr id="57" name="dot-grid"/>
          <p:cNvSpPr/>
          <p:nvPr/>
        </p:nvSpPr>
        <p:spPr>
          <a:xfrm>
            <a:off x="10835640" y="5349240"/>
            <a:ext cx="32004" cy="32004"/>
          </a:xfrm>
          <a:prstGeom prst="ellipse">
            <a:avLst/>
          </a:prstGeom>
          <a:solidFill>
            <a:srgbClr val="5E6670">
              <a:alpha val="45000"/>
            </a:srgbClr>
          </a:solidFill>
          <a:ln/>
        </p:spPr>
      </p:sp>
      <p:sp>
        <p:nvSpPr>
          <p:cNvPr id="58" name="dot-grid"/>
          <p:cNvSpPr/>
          <p:nvPr/>
        </p:nvSpPr>
        <p:spPr>
          <a:xfrm>
            <a:off x="11064240" y="5349240"/>
            <a:ext cx="32004" cy="32004"/>
          </a:xfrm>
          <a:prstGeom prst="ellipse">
            <a:avLst/>
          </a:prstGeom>
          <a:solidFill>
            <a:srgbClr val="5E6670">
              <a:alpha val="45000"/>
            </a:srgbClr>
          </a:solidFill>
          <a:ln/>
        </p:spPr>
      </p:sp>
      <p:sp>
        <p:nvSpPr>
          <p:cNvPr id="59" name="dot-grid"/>
          <p:cNvSpPr/>
          <p:nvPr/>
        </p:nvSpPr>
        <p:spPr>
          <a:xfrm>
            <a:off x="11292840" y="5349240"/>
            <a:ext cx="32004" cy="32004"/>
          </a:xfrm>
          <a:prstGeom prst="ellipse">
            <a:avLst/>
          </a:prstGeom>
          <a:solidFill>
            <a:srgbClr val="5E6670">
              <a:alpha val="45000"/>
            </a:srgbClr>
          </a:solidFill>
          <a:ln/>
        </p:spPr>
      </p:sp>
      <p:sp>
        <p:nvSpPr>
          <p:cNvPr id="60" name="dot-grid"/>
          <p:cNvSpPr/>
          <p:nvPr/>
        </p:nvSpPr>
        <p:spPr>
          <a:xfrm>
            <a:off x="11521440" y="5349240"/>
            <a:ext cx="32004" cy="32004"/>
          </a:xfrm>
          <a:prstGeom prst="ellipse">
            <a:avLst/>
          </a:prstGeom>
          <a:solidFill>
            <a:srgbClr val="5E6670">
              <a:alpha val="45000"/>
            </a:srgbClr>
          </a:solidFill>
          <a:ln/>
        </p:spPr>
      </p:sp>
      <p:sp>
        <p:nvSpPr>
          <p:cNvPr id="61" name="dot-grid"/>
          <p:cNvSpPr/>
          <p:nvPr/>
        </p:nvSpPr>
        <p:spPr>
          <a:xfrm>
            <a:off x="9692640" y="5577840"/>
            <a:ext cx="32004" cy="32004"/>
          </a:xfrm>
          <a:prstGeom prst="ellipse">
            <a:avLst/>
          </a:prstGeom>
          <a:solidFill>
            <a:srgbClr val="5E6670">
              <a:alpha val="45000"/>
            </a:srgbClr>
          </a:solidFill>
          <a:ln/>
        </p:spPr>
      </p:sp>
      <p:sp>
        <p:nvSpPr>
          <p:cNvPr id="62" name="dot-grid"/>
          <p:cNvSpPr/>
          <p:nvPr/>
        </p:nvSpPr>
        <p:spPr>
          <a:xfrm>
            <a:off x="9921240" y="5577840"/>
            <a:ext cx="32004" cy="32004"/>
          </a:xfrm>
          <a:prstGeom prst="ellipse">
            <a:avLst/>
          </a:prstGeom>
          <a:solidFill>
            <a:srgbClr val="5E6670">
              <a:alpha val="45000"/>
            </a:srgbClr>
          </a:solidFill>
          <a:ln/>
        </p:spPr>
      </p:sp>
      <p:sp>
        <p:nvSpPr>
          <p:cNvPr id="63" name="dot-grid"/>
          <p:cNvSpPr/>
          <p:nvPr/>
        </p:nvSpPr>
        <p:spPr>
          <a:xfrm>
            <a:off x="10149840" y="5577840"/>
            <a:ext cx="32004" cy="32004"/>
          </a:xfrm>
          <a:prstGeom prst="ellipse">
            <a:avLst/>
          </a:prstGeom>
          <a:solidFill>
            <a:srgbClr val="5E6670">
              <a:alpha val="45000"/>
            </a:srgbClr>
          </a:solidFill>
          <a:ln/>
        </p:spPr>
      </p:sp>
      <p:sp>
        <p:nvSpPr>
          <p:cNvPr id="64" name="dot-grid"/>
          <p:cNvSpPr/>
          <p:nvPr/>
        </p:nvSpPr>
        <p:spPr>
          <a:xfrm>
            <a:off x="10378440" y="5577840"/>
            <a:ext cx="32004" cy="32004"/>
          </a:xfrm>
          <a:prstGeom prst="ellipse">
            <a:avLst/>
          </a:prstGeom>
          <a:solidFill>
            <a:srgbClr val="5E6670">
              <a:alpha val="45000"/>
            </a:srgbClr>
          </a:solidFill>
          <a:ln/>
        </p:spPr>
      </p:sp>
      <p:sp>
        <p:nvSpPr>
          <p:cNvPr id="65" name="dot-grid"/>
          <p:cNvSpPr/>
          <p:nvPr/>
        </p:nvSpPr>
        <p:spPr>
          <a:xfrm>
            <a:off x="10607040" y="5577840"/>
            <a:ext cx="32004" cy="32004"/>
          </a:xfrm>
          <a:prstGeom prst="ellipse">
            <a:avLst/>
          </a:prstGeom>
          <a:solidFill>
            <a:srgbClr val="5E6670">
              <a:alpha val="45000"/>
            </a:srgbClr>
          </a:solidFill>
          <a:ln/>
        </p:spPr>
      </p:sp>
      <p:sp>
        <p:nvSpPr>
          <p:cNvPr id="66" name="dot-grid"/>
          <p:cNvSpPr/>
          <p:nvPr/>
        </p:nvSpPr>
        <p:spPr>
          <a:xfrm>
            <a:off x="10835640" y="5577840"/>
            <a:ext cx="32004" cy="32004"/>
          </a:xfrm>
          <a:prstGeom prst="ellipse">
            <a:avLst/>
          </a:prstGeom>
          <a:solidFill>
            <a:srgbClr val="5E6670">
              <a:alpha val="45000"/>
            </a:srgbClr>
          </a:solidFill>
          <a:ln/>
        </p:spPr>
      </p:sp>
      <p:sp>
        <p:nvSpPr>
          <p:cNvPr id="67" name="dot-grid"/>
          <p:cNvSpPr/>
          <p:nvPr/>
        </p:nvSpPr>
        <p:spPr>
          <a:xfrm>
            <a:off x="11064240" y="5577840"/>
            <a:ext cx="32004" cy="32004"/>
          </a:xfrm>
          <a:prstGeom prst="ellipse">
            <a:avLst/>
          </a:prstGeom>
          <a:solidFill>
            <a:srgbClr val="5E6670">
              <a:alpha val="45000"/>
            </a:srgbClr>
          </a:solidFill>
          <a:ln/>
        </p:spPr>
      </p:sp>
      <p:sp>
        <p:nvSpPr>
          <p:cNvPr id="68" name="dot-grid"/>
          <p:cNvSpPr/>
          <p:nvPr/>
        </p:nvSpPr>
        <p:spPr>
          <a:xfrm>
            <a:off x="11292840" y="5577840"/>
            <a:ext cx="32004" cy="32004"/>
          </a:xfrm>
          <a:prstGeom prst="ellipse">
            <a:avLst/>
          </a:prstGeom>
          <a:solidFill>
            <a:srgbClr val="5E6670">
              <a:alpha val="45000"/>
            </a:srgbClr>
          </a:solidFill>
          <a:ln/>
        </p:spPr>
      </p:sp>
      <p:sp>
        <p:nvSpPr>
          <p:cNvPr id="69" name="dot-grid"/>
          <p:cNvSpPr/>
          <p:nvPr/>
        </p:nvSpPr>
        <p:spPr>
          <a:xfrm>
            <a:off x="11521440" y="5577840"/>
            <a:ext cx="32004" cy="32004"/>
          </a:xfrm>
          <a:prstGeom prst="ellipse">
            <a:avLst/>
          </a:prstGeom>
          <a:solidFill>
            <a:srgbClr val="5E6670">
              <a:alpha val="45000"/>
            </a:srgbClr>
          </a:solidFill>
          <a:ln/>
        </p:spPr>
      </p:sp>
      <p:sp>
        <p:nvSpPr>
          <p:cNvPr id="70" name="Slide Number Placeholder 0"/>
          <p:cNvSpPr>
            <a:spLocks noGrp="1"/>
          </p:cNvSpPr>
          <p:nvPr>
            <p:ph type="sldNum" sz="quarter" idx="4294967295"/>
          </p:nvPr>
        </p:nvSpPr>
        <p:spPr>
          <a:xfrm>
            <a:off x="10911535" y="6382512"/>
            <a:ext cx="73152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t"/>
          <a:lstStyle/>
          <a:p>
            <a:pPr marL="0" indent="0">
              <a:buNone/>
            </a:pPr>
            <a:r>
              <a:rPr lang="en-US" sz="1000" kern="0" spc="100" dirty="0">
                <a:solidFill>
                  <a:schemeClr val="accent3"/>
                </a:solidFill>
                <a:latin typeface="Consolas" pitchFamily="34" charset="0"/>
                <a:ea typeface="Consolas" pitchFamily="34" charset="-122"/>
                <a:cs typeface="Consolas" pitchFamily="34" charset="-120"/>
              </a:rPr>
              <a:t>05 — TWO TREATMENTS</a:t>
            </a:r>
            <a:endParaRPr lang="en-US" sz="1000" dirty="0"/>
          </a:p>
        </p:txBody>
      </p:sp>
      <p:sp>
        <p:nvSpPr>
          <p:cNvPr id="3" name="Text 0"/>
          <p:cNvSpPr>
            <a:spLocks noGrp="1"/>
          </p:cNvSpPr>
          <p:nvPr>
            <p:ph type="title" idx="101" hasCustomPrompt="1"/>
          </p:nvPr>
        </p:nvSpPr>
        <p:spPr>
          <a:xfrm>
            <a:off x="548640" y="749808"/>
            <a:ext cx="10607040" cy="1097280"/>
          </a:xfrm>
          <a:prstGeom prst="rect">
            <a:avLst/>
          </a:prstGeom>
          <a:noFill/>
          <a:ln/>
        </p:spPr>
        <p:txBody>
          <a:bodyPr wrap="square" lIns="0" tIns="0" rIns="0" bIns="0" rtlCol="0" anchor="t"/>
          <a:lstStyle/>
          <a:p>
            <a:pPr marL="0" indent="0" algn="l">
              <a:buNone/>
            </a:pPr>
            <a:r>
              <a:rPr lang="en-US" sz="3000" b="1" dirty="0">
                <a:solidFill>
                  <a:schemeClr val="tx2"/>
                </a:solidFill>
              </a:rPr>
              <a:t>#11 reads like a boardroom publication; #12 like a management intelligence atlas</a:t>
            </a:r>
            <a:endParaRPr lang="en-US" sz="3000" dirty="0"/>
          </a:p>
        </p:txBody>
      </p:sp>
      <p:graphicFrame>
        <p:nvGraphicFramePr>
          <p:cNvPr id="8" name="treatment-compare"/>
          <p:cNvGraphicFramePr>
            <a:graphicFrameLocks noGrp="1"/>
          </p:cNvGraphicFramePr>
          <p:nvPr>
            <p:extLst>
              <p:ext uri="{D42A27DB-BD31-4B8C-83A1-F6EECF244321}">
                <p14:modId xmlns:p14="http://schemas.microsoft.com/office/powerpoint/2010/main" val="1579011935"/>
              </p:ext>
            </p:extLst>
          </p:nvPr>
        </p:nvGraphicFramePr>
        <p:xfrm>
          <a:off x="548640" y="2057400"/>
          <a:ext cx="11094416" cy="4041648"/>
        </p:xfrm>
        <a:graphic>
          <a:graphicData uri="http://schemas.openxmlformats.org/drawingml/2006/table">
            <a:tbl>
              <a:tblPr/>
              <a:tblGrid>
                <a:gridCol w="2743200">
                  <a:extLst>
                    <a:ext uri="{9D8B030D-6E8A-4147-A177-3AD203B41FA5}">
                      <a16:colId xmlns:a16="http://schemas.microsoft.com/office/drawing/2014/main" val="20000"/>
                    </a:ext>
                  </a:extLst>
                </a:gridCol>
                <a:gridCol w="4175608">
                  <a:extLst>
                    <a:ext uri="{9D8B030D-6E8A-4147-A177-3AD203B41FA5}">
                      <a16:colId xmlns:a16="http://schemas.microsoft.com/office/drawing/2014/main" val="20001"/>
                    </a:ext>
                  </a:extLst>
                </a:gridCol>
                <a:gridCol w="4175608">
                  <a:extLst>
                    <a:ext uri="{9D8B030D-6E8A-4147-A177-3AD203B41FA5}">
                      <a16:colId xmlns:a16="http://schemas.microsoft.com/office/drawing/2014/main" val="20002"/>
                    </a:ext>
                  </a:extLst>
                </a:gridCol>
              </a:tblGrid>
              <a:tr h="457200">
                <a:tc>
                  <a:txBody>
                    <a:bodyPr/>
                    <a:lstStyle/>
                    <a:p>
                      <a:pPr marL="0" indent="0">
                        <a:buNone/>
                      </a:pPr>
                      <a:endParaRPr lang="en-US" sz="12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tc>
                  <a:txBody>
                    <a:bodyPr/>
                    <a:lstStyle/>
                    <a:p>
                      <a:pPr marL="0" indent="0">
                        <a:buNone/>
                      </a:pPr>
                      <a:r>
                        <a:rPr lang="en-US" sz="1500" b="1" dirty="0">
                          <a:solidFill>
                            <a:srgbClr val="F4F1E9"/>
                          </a:solidFill>
                          <a:latin typeface="Calibri" pitchFamily="34" charset="0"/>
                          <a:ea typeface="Calibri" pitchFamily="34" charset="-122"/>
                          <a:cs typeface="Calibri" pitchFamily="34" charset="-120"/>
                        </a:rPr>
                        <a:t>Variant #11</a:t>
                      </a:r>
                      <a:endParaRPr lang="en-US" sz="1500" dirty="0">
                        <a:latin typeface="Calibri" charset="0"/>
                        <a:ea typeface="Calibri" charset="0"/>
                        <a:cs typeface="Calibri" charset="0"/>
                      </a:endParaRPr>
                    </a:p>
                  </a:txBody>
                  <a:tcPr marL="182880" marR="182880" anchor="ctr">
                    <a:lnL w="0" cap="flat" cmpd="sng" algn="ctr">
                      <a:noFill/>
                    </a:lnL>
                    <a:lnR w="0" cap="flat" cmpd="sng" algn="ctr">
                      <a:noFill/>
                    </a:lnR>
                    <a:lnT w="0" cap="flat" cmpd="sng" algn="ctr">
                      <a:noFill/>
                    </a:lnT>
                    <a:lnB w="0" cap="flat" cmpd="sng" algn="ctr">
                      <a:noFill/>
                    </a:lnB>
                    <a:solidFill>
                      <a:srgbClr val="172D40"/>
                    </a:solidFill>
                  </a:tcPr>
                </a:tc>
                <a:tc>
                  <a:txBody>
                    <a:bodyPr/>
                    <a:lstStyle/>
                    <a:p>
                      <a:pPr marL="0" indent="0">
                        <a:buNone/>
                      </a:pPr>
                      <a:r>
                        <a:rPr lang="en-US" sz="1500" b="1" dirty="0">
                          <a:solidFill>
                            <a:srgbClr val="F4F1E9"/>
                          </a:solidFill>
                          <a:latin typeface="Calibri" pitchFamily="34" charset="0"/>
                          <a:ea typeface="Calibri" pitchFamily="34" charset="-122"/>
                          <a:cs typeface="Calibri" pitchFamily="34" charset="-120"/>
                        </a:rPr>
                        <a:t>Variant #12</a:t>
                      </a:r>
                      <a:endParaRPr lang="en-US" sz="1500" dirty="0">
                        <a:latin typeface="Calibri" charset="0"/>
                        <a:ea typeface="Calibri" charset="0"/>
                        <a:cs typeface="Calibri" charset="0"/>
                      </a:endParaRPr>
                    </a:p>
                  </a:txBody>
                  <a:tcPr marL="182880" marR="182880" anchor="ctr">
                    <a:lnL w="0" cap="flat" cmpd="sng" algn="ctr">
                      <a:noFill/>
                    </a:lnL>
                    <a:lnR w="0" cap="flat" cmpd="sng" algn="ctr">
                      <a:noFill/>
                    </a:lnR>
                    <a:lnT w="0" cap="flat" cmpd="sng" algn="ctr">
                      <a:noFill/>
                    </a:lnT>
                    <a:lnB w="0" cap="flat" cmpd="sng" algn="ctr">
                      <a:noFill/>
                    </a:lnB>
                    <a:solidFill>
                      <a:srgbClr val="24435C"/>
                    </a:solidFill>
                  </a:tcPr>
                </a:tc>
                <a:extLst>
                  <a:ext uri="{0D108BD9-81ED-4DB2-BD59-A6C34878D82A}">
                    <a16:rowId xmlns:a16="http://schemas.microsoft.com/office/drawing/2014/main" val="10000"/>
                  </a:ext>
                </a:extLst>
              </a:tr>
              <a:tr h="448056">
                <a:tc>
                  <a:txBody>
                    <a:bodyPr/>
                    <a:lstStyle/>
                    <a:p>
                      <a:pPr marL="0" indent="0">
                        <a:buNone/>
                      </a:pPr>
                      <a:r>
                        <a:rPr lang="en-US" sz="1200" dirty="0">
                          <a:solidFill>
                            <a:srgbClr val="5E6670"/>
                          </a:solidFill>
                          <a:latin typeface="Consolas" pitchFamily="34" charset="0"/>
                          <a:ea typeface="Consolas" pitchFamily="34" charset="-122"/>
                          <a:cs typeface="Consolas" pitchFamily="34" charset="-120"/>
                        </a:rPr>
                        <a:t>Design philosophy</a:t>
                      </a:r>
                      <a:endParaRPr lang="en-US" sz="1200" dirty="0">
                        <a:latin typeface="Consolas" charset="0"/>
                        <a:ea typeface="Consolas" charset="0"/>
                        <a:cs typeface="Consolas" charset="0"/>
                      </a:endParaRPr>
                    </a:p>
                  </a:txBody>
                  <a:tcPr marL="0" anchor="ctr">
                    <a:lnL w="0" cap="flat" cmpd="sng" algn="ctr">
                      <a:noFill/>
                    </a:lnL>
                    <a:lnR w="0" cap="flat" cmpd="sng" algn="ctr">
                      <a:noFill/>
                    </a:lnR>
                    <a:lnT w="0" cap="flat" cmpd="sng" algn="ctr">
                      <a:noFill/>
                    </a:lnT>
                    <a:lnB w="9525" cap="flat" cmpd="sng" algn="ctr">
                      <a:solidFill>
                        <a:srgbClr val="DAD5C9"/>
                      </a:solidFill>
                      <a:prstDash val="solid"/>
                      <a:round/>
                      <a:headEnd type="none" w="med" len="med"/>
                      <a:tailEnd type="none" w="med" len="med"/>
                    </a:lnB>
                  </a:tcPr>
                </a:tc>
                <a:tc>
                  <a:txBody>
                    <a:bodyPr/>
                    <a:lstStyle/>
                    <a:p>
                      <a:pPr marL="0" indent="0">
                        <a:buNone/>
                      </a:pPr>
                      <a:r>
                        <a:rPr lang="en-US" sz="1400" b="1" dirty="0">
                          <a:solidFill>
                            <a:srgbClr val="171A1D"/>
                          </a:solidFill>
                          <a:latin typeface="Calibri" pitchFamily="34" charset="0"/>
                          <a:ea typeface="Calibri" pitchFamily="34" charset="-122"/>
                          <a:cs typeface="Calibri" pitchFamily="34" charset="-120"/>
                        </a:rPr>
                        <a:t>Executive Editorial</a:t>
                      </a:r>
                      <a:endParaRPr lang="en-US" sz="1400" dirty="0">
                        <a:latin typeface="Calibri" charset="0"/>
                        <a:ea typeface="Calibri" charset="0"/>
                        <a:cs typeface="Calibri" charset="0"/>
                      </a:endParaRPr>
                    </a:p>
                  </a:txBody>
                  <a:tcPr marL="182880" marR="182880" anchor="ctr">
                    <a:lnL w="0" cap="flat" cmpd="sng" algn="ctr">
                      <a:noFill/>
                    </a:lnL>
                    <a:lnR w="0" cap="flat" cmpd="sng" algn="ctr">
                      <a:noFill/>
                    </a:lnR>
                    <a:lnT w="0" cap="flat" cmpd="sng" algn="ctr">
                      <a:noFill/>
                    </a:lnT>
                    <a:lnB w="9525" cap="flat" cmpd="sng" algn="ctr">
                      <a:solidFill>
                        <a:srgbClr val="DAD5C9"/>
                      </a:solidFill>
                      <a:prstDash val="solid"/>
                      <a:round/>
                      <a:headEnd type="none" w="med" len="med"/>
                      <a:tailEnd type="none" w="med" len="med"/>
                    </a:lnB>
                  </a:tcPr>
                </a:tc>
                <a:tc>
                  <a:txBody>
                    <a:bodyPr/>
                    <a:lstStyle/>
                    <a:p>
                      <a:pPr marL="0" indent="0">
                        <a:buNone/>
                      </a:pPr>
                      <a:r>
                        <a:rPr lang="en-US" sz="1400" b="1" dirty="0">
                          <a:solidFill>
                            <a:srgbClr val="171A1D"/>
                          </a:solidFill>
                          <a:latin typeface="Calibri" pitchFamily="34" charset="0"/>
                          <a:ea typeface="Calibri" pitchFamily="34" charset="-122"/>
                          <a:cs typeface="Calibri" pitchFamily="34" charset="-120"/>
                        </a:rPr>
                        <a:t>Operational Intelligence</a:t>
                      </a:r>
                      <a:endParaRPr lang="en-US" sz="1400" dirty="0">
                        <a:latin typeface="Calibri" charset="0"/>
                        <a:ea typeface="Calibri" charset="0"/>
                        <a:cs typeface="Calibri" charset="0"/>
                      </a:endParaRPr>
                    </a:p>
                  </a:txBody>
                  <a:tcPr marL="182880" marR="182880" anchor="ctr">
                    <a:lnL w="0" cap="flat" cmpd="sng" algn="ctr">
                      <a:noFill/>
                    </a:lnL>
                    <a:lnR w="0" cap="flat" cmpd="sng" algn="ctr">
                      <a:noFill/>
                    </a:lnR>
                    <a:lnT w="0" cap="flat" cmpd="sng" algn="ctr">
                      <a:noFill/>
                    </a:lnT>
                    <a:lnB w="9525" cap="flat" cmpd="sng" algn="ctr">
                      <a:solidFill>
                        <a:srgbClr val="DAD5C9"/>
                      </a:solidFill>
                      <a:prstDash val="solid"/>
                      <a:round/>
                      <a:headEnd type="none" w="med" len="med"/>
                      <a:tailEnd type="none" w="med" len="med"/>
                    </a:lnB>
                  </a:tcPr>
                </a:tc>
                <a:extLst>
                  <a:ext uri="{0D108BD9-81ED-4DB2-BD59-A6C34878D82A}">
                    <a16:rowId xmlns:a16="http://schemas.microsoft.com/office/drawing/2014/main" val="10001"/>
                  </a:ext>
                </a:extLst>
              </a:tr>
              <a:tr h="448056">
                <a:tc>
                  <a:txBody>
                    <a:bodyPr/>
                    <a:lstStyle/>
                    <a:p>
                      <a:pPr marL="0" indent="0">
                        <a:buNone/>
                      </a:pPr>
                      <a:r>
                        <a:rPr lang="en-US" sz="1200" dirty="0">
                          <a:solidFill>
                            <a:srgbClr val="5E6670"/>
                          </a:solidFill>
                          <a:latin typeface="Consolas" pitchFamily="34" charset="0"/>
                          <a:ea typeface="Consolas" pitchFamily="34" charset="-122"/>
                          <a:cs typeface="Consolas" pitchFamily="34" charset="-120"/>
                        </a:rPr>
                        <a:t>Visual density</a:t>
                      </a:r>
                      <a:endParaRPr lang="en-US" sz="1200" dirty="0">
                        <a:latin typeface="Consolas" charset="0"/>
                        <a:ea typeface="Consolas" charset="0"/>
                        <a:cs typeface="Consolas" charset="0"/>
                      </a:endParaRPr>
                    </a:p>
                  </a:txBody>
                  <a:tcPr marL="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Low to moderate</a:t>
                      </a:r>
                      <a:endParaRPr lang="en-US" sz="1400" dirty="0">
                        <a:latin typeface="Calibri" charset="0"/>
                        <a:ea typeface="Calibri" charset="0"/>
                        <a:cs typeface="Calibri" charset="0"/>
                      </a:endParaRPr>
                    </a:p>
                  </a:txBody>
                  <a:tcPr marL="182880" marR="18288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Moderate</a:t>
                      </a:r>
                      <a:endParaRPr lang="en-US" sz="1400" dirty="0">
                        <a:latin typeface="Calibri" charset="0"/>
                        <a:ea typeface="Calibri" charset="0"/>
                        <a:cs typeface="Calibri" charset="0"/>
                      </a:endParaRPr>
                    </a:p>
                  </a:txBody>
                  <a:tcPr marL="182880" marR="18288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extLst>
                  <a:ext uri="{0D108BD9-81ED-4DB2-BD59-A6C34878D82A}">
                    <a16:rowId xmlns:a16="http://schemas.microsoft.com/office/drawing/2014/main" val="10002"/>
                  </a:ext>
                </a:extLst>
              </a:tr>
              <a:tr h="448056">
                <a:tc>
                  <a:txBody>
                    <a:bodyPr/>
                    <a:lstStyle/>
                    <a:p>
                      <a:pPr marL="0" indent="0">
                        <a:buNone/>
                      </a:pPr>
                      <a:r>
                        <a:rPr lang="en-US" sz="1200" dirty="0">
                          <a:solidFill>
                            <a:srgbClr val="5E6670"/>
                          </a:solidFill>
                          <a:latin typeface="Consolas" pitchFamily="34" charset="0"/>
                          <a:ea typeface="Consolas" pitchFamily="34" charset="-122"/>
                          <a:cs typeface="Consolas" pitchFamily="34" charset="-120"/>
                        </a:rPr>
                        <a:t>Primary emphasis</a:t>
                      </a:r>
                      <a:endParaRPr lang="en-US" sz="1200" dirty="0">
                        <a:latin typeface="Consolas" charset="0"/>
                        <a:ea typeface="Consolas" charset="0"/>
                        <a:cs typeface="Consolas" charset="0"/>
                      </a:endParaRPr>
                    </a:p>
                  </a:txBody>
                  <a:tcPr marL="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Insight and executive communication</a:t>
                      </a:r>
                      <a:endParaRPr lang="en-US" sz="1400" dirty="0">
                        <a:latin typeface="Calibri" charset="0"/>
                        <a:ea typeface="Calibri" charset="0"/>
                        <a:cs typeface="Calibri" charset="0"/>
                      </a:endParaRPr>
                    </a:p>
                  </a:txBody>
                  <a:tcPr marL="182880" marR="18288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Evidence, relationships and decisions</a:t>
                      </a:r>
                      <a:endParaRPr lang="en-US" sz="1400" dirty="0">
                        <a:latin typeface="Calibri" charset="0"/>
                        <a:ea typeface="Calibri" charset="0"/>
                        <a:cs typeface="Calibri" charset="0"/>
                      </a:endParaRPr>
                    </a:p>
                  </a:txBody>
                  <a:tcPr marL="182880" marR="18288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extLst>
                  <a:ext uri="{0D108BD9-81ED-4DB2-BD59-A6C34878D82A}">
                    <a16:rowId xmlns:a16="http://schemas.microsoft.com/office/drawing/2014/main" val="10003"/>
                  </a:ext>
                </a:extLst>
              </a:tr>
              <a:tr h="448056">
                <a:tc>
                  <a:txBody>
                    <a:bodyPr/>
                    <a:lstStyle/>
                    <a:p>
                      <a:pPr marL="0" indent="0">
                        <a:buNone/>
                      </a:pPr>
                      <a:r>
                        <a:rPr lang="en-US" sz="1200" dirty="0">
                          <a:solidFill>
                            <a:srgbClr val="5E6670"/>
                          </a:solidFill>
                          <a:latin typeface="Consolas" pitchFamily="34" charset="0"/>
                          <a:ea typeface="Consolas" pitchFamily="34" charset="-122"/>
                          <a:cs typeface="Consolas" pitchFamily="34" charset="-120"/>
                        </a:rPr>
                        <a:t>Typography</a:t>
                      </a:r>
                      <a:endParaRPr lang="en-US" sz="1200" dirty="0">
                        <a:latin typeface="Consolas" charset="0"/>
                        <a:ea typeface="Consolas" charset="0"/>
                        <a:cs typeface="Consolas" charset="0"/>
                      </a:endParaRPr>
                    </a:p>
                  </a:txBody>
                  <a:tcPr marL="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Larger editorial headlines</a:t>
                      </a:r>
                      <a:endParaRPr lang="en-US" sz="1400" dirty="0">
                        <a:latin typeface="Calibri" charset="0"/>
                        <a:ea typeface="Calibri" charset="0"/>
                        <a:cs typeface="Calibri" charset="0"/>
                      </a:endParaRPr>
                    </a:p>
                  </a:txBody>
                  <a:tcPr marL="182880" marR="18288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Strong headings, compact technical notes</a:t>
                      </a:r>
                      <a:endParaRPr lang="en-US" sz="1400" dirty="0">
                        <a:latin typeface="Calibri" charset="0"/>
                        <a:ea typeface="Calibri" charset="0"/>
                        <a:cs typeface="Calibri" charset="0"/>
                      </a:endParaRPr>
                    </a:p>
                  </a:txBody>
                  <a:tcPr marL="182880" marR="18288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extLst>
                  <a:ext uri="{0D108BD9-81ED-4DB2-BD59-A6C34878D82A}">
                    <a16:rowId xmlns:a16="http://schemas.microsoft.com/office/drawing/2014/main" val="10004"/>
                  </a:ext>
                </a:extLst>
              </a:tr>
              <a:tr h="448056">
                <a:tc>
                  <a:txBody>
                    <a:bodyPr/>
                    <a:lstStyle/>
                    <a:p>
                      <a:pPr marL="0" indent="0">
                        <a:buNone/>
                      </a:pPr>
                      <a:r>
                        <a:rPr lang="en-US" sz="1200" dirty="0">
                          <a:solidFill>
                            <a:srgbClr val="5E6670"/>
                          </a:solidFill>
                          <a:latin typeface="Consolas" pitchFamily="34" charset="0"/>
                          <a:ea typeface="Consolas" pitchFamily="34" charset="-122"/>
                          <a:cs typeface="Consolas" pitchFamily="34" charset="-120"/>
                        </a:rPr>
                        <a:t>Charts</a:t>
                      </a:r>
                      <a:endParaRPr lang="en-US" sz="1200" dirty="0">
                        <a:latin typeface="Consolas" charset="0"/>
                        <a:ea typeface="Consolas" charset="0"/>
                        <a:cs typeface="Consolas" charset="0"/>
                      </a:endParaRPr>
                    </a:p>
                  </a:txBody>
                  <a:tcPr marL="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Minimalist and explanatory</a:t>
                      </a:r>
                      <a:endParaRPr lang="en-US" sz="1400" dirty="0">
                        <a:latin typeface="Calibri" charset="0"/>
                        <a:ea typeface="Calibri" charset="0"/>
                        <a:cs typeface="Calibri" charset="0"/>
                      </a:endParaRPr>
                    </a:p>
                  </a:txBody>
                  <a:tcPr marL="182880" marR="18288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Analytical and diagnostic</a:t>
                      </a:r>
                      <a:endParaRPr lang="en-US" sz="1400" dirty="0">
                        <a:latin typeface="Calibri" charset="0"/>
                        <a:ea typeface="Calibri" charset="0"/>
                        <a:cs typeface="Calibri" charset="0"/>
                      </a:endParaRPr>
                    </a:p>
                  </a:txBody>
                  <a:tcPr marL="182880" marR="18288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extLst>
                  <a:ext uri="{0D108BD9-81ED-4DB2-BD59-A6C34878D82A}">
                    <a16:rowId xmlns:a16="http://schemas.microsoft.com/office/drawing/2014/main" val="10005"/>
                  </a:ext>
                </a:extLst>
              </a:tr>
              <a:tr h="448056">
                <a:tc>
                  <a:txBody>
                    <a:bodyPr/>
                    <a:lstStyle/>
                    <a:p>
                      <a:pPr marL="0" indent="0">
                        <a:buNone/>
                      </a:pPr>
                      <a:r>
                        <a:rPr lang="en-US" sz="1200" dirty="0">
                          <a:solidFill>
                            <a:srgbClr val="5E6670"/>
                          </a:solidFill>
                          <a:latin typeface="Consolas" pitchFamily="34" charset="0"/>
                          <a:ea typeface="Consolas" pitchFamily="34" charset="-122"/>
                          <a:cs typeface="Consolas" pitchFamily="34" charset="-120"/>
                        </a:rPr>
                        <a:t>Diagrams</a:t>
                      </a:r>
                      <a:endParaRPr lang="en-US" sz="1200" dirty="0">
                        <a:latin typeface="Consolas" charset="0"/>
                        <a:ea typeface="Consolas" charset="0"/>
                        <a:cs typeface="Consolas" charset="0"/>
                      </a:endParaRPr>
                    </a:p>
                  </a:txBody>
                  <a:tcPr marL="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Simplified frameworks</a:t>
                      </a:r>
                      <a:endParaRPr lang="en-US" sz="1400" dirty="0">
                        <a:latin typeface="Calibri" charset="0"/>
                        <a:ea typeface="Calibri" charset="0"/>
                        <a:cs typeface="Calibri" charset="0"/>
                      </a:endParaRPr>
                    </a:p>
                  </a:txBody>
                  <a:tcPr marL="182880" marR="18288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Process flows, dependencies, decision paths</a:t>
                      </a:r>
                      <a:endParaRPr lang="en-US" sz="1400" dirty="0">
                        <a:latin typeface="Calibri" charset="0"/>
                        <a:ea typeface="Calibri" charset="0"/>
                        <a:cs typeface="Calibri" charset="0"/>
                      </a:endParaRPr>
                    </a:p>
                  </a:txBody>
                  <a:tcPr marL="182880" marR="18288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extLst>
                  <a:ext uri="{0D108BD9-81ED-4DB2-BD59-A6C34878D82A}">
                    <a16:rowId xmlns:a16="http://schemas.microsoft.com/office/drawing/2014/main" val="10006"/>
                  </a:ext>
                </a:extLst>
              </a:tr>
              <a:tr h="448056">
                <a:tc>
                  <a:txBody>
                    <a:bodyPr/>
                    <a:lstStyle/>
                    <a:p>
                      <a:pPr marL="0" indent="0">
                        <a:buNone/>
                      </a:pPr>
                      <a:r>
                        <a:rPr lang="en-US" sz="1200" dirty="0">
                          <a:solidFill>
                            <a:srgbClr val="5E6670"/>
                          </a:solidFill>
                          <a:latin typeface="Consolas" pitchFamily="34" charset="0"/>
                          <a:ea typeface="Consolas" pitchFamily="34" charset="-122"/>
                          <a:cs typeface="Consolas" pitchFamily="34" charset="-120"/>
                        </a:rPr>
                        <a:t>Background</a:t>
                      </a:r>
                      <a:endParaRPr lang="en-US" sz="1200" dirty="0">
                        <a:latin typeface="Consolas" charset="0"/>
                        <a:ea typeface="Consolas" charset="0"/>
                        <a:cs typeface="Consolas" charset="0"/>
                      </a:endParaRPr>
                    </a:p>
                  </a:txBody>
                  <a:tcPr marL="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Mostly light</a:t>
                      </a:r>
                      <a:endParaRPr lang="en-US" sz="1400" dirty="0">
                        <a:latin typeface="Calibri" charset="0"/>
                        <a:ea typeface="Calibri" charset="0"/>
                        <a:cs typeface="Calibri" charset="0"/>
                      </a:endParaRPr>
                    </a:p>
                  </a:txBody>
                  <a:tcPr marL="182880" marR="18288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More frequent dark sections</a:t>
                      </a:r>
                      <a:endParaRPr lang="en-US" sz="1400" dirty="0">
                        <a:latin typeface="Calibri" charset="0"/>
                        <a:ea typeface="Calibri" charset="0"/>
                        <a:cs typeface="Calibri" charset="0"/>
                      </a:endParaRPr>
                    </a:p>
                  </a:txBody>
                  <a:tcPr marL="182880" marR="18288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extLst>
                  <a:ext uri="{0D108BD9-81ED-4DB2-BD59-A6C34878D82A}">
                    <a16:rowId xmlns:a16="http://schemas.microsoft.com/office/drawing/2014/main" val="10007"/>
                  </a:ext>
                </a:extLst>
              </a:tr>
              <a:tr h="448056">
                <a:tc>
                  <a:txBody>
                    <a:bodyPr/>
                    <a:lstStyle/>
                    <a:p>
                      <a:pPr marL="0" indent="0">
                        <a:buNone/>
                      </a:pPr>
                      <a:r>
                        <a:rPr lang="en-US" sz="1200" dirty="0">
                          <a:solidFill>
                            <a:srgbClr val="5E6670"/>
                          </a:solidFill>
                          <a:latin typeface="Consolas" pitchFamily="34" charset="0"/>
                          <a:ea typeface="Consolas" pitchFamily="34" charset="-122"/>
                          <a:cs typeface="Consolas" pitchFamily="34" charset="-120"/>
                        </a:rPr>
                        <a:t>Character</a:t>
                      </a:r>
                      <a:endParaRPr lang="en-US" sz="1200" dirty="0">
                        <a:latin typeface="Consolas" charset="0"/>
                        <a:ea typeface="Consolas" charset="0"/>
                        <a:cs typeface="Consolas" charset="0"/>
                      </a:endParaRPr>
                    </a:p>
                  </a:txBody>
                  <a:tcPr marL="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Boardroom publication</a:t>
                      </a:r>
                      <a:endParaRPr lang="en-US" sz="1400" dirty="0">
                        <a:latin typeface="Calibri" charset="0"/>
                        <a:ea typeface="Calibri" charset="0"/>
                        <a:cs typeface="Calibri" charset="0"/>
                      </a:endParaRPr>
                    </a:p>
                  </a:txBody>
                  <a:tcPr marL="182880" marR="18288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tc>
                  <a:txBody>
                    <a:bodyPr/>
                    <a:lstStyle/>
                    <a:p>
                      <a:pPr marL="0" indent="0">
                        <a:buNone/>
                      </a:pPr>
                      <a:r>
                        <a:rPr lang="en-US" sz="1400" dirty="0">
                          <a:solidFill>
                            <a:srgbClr val="171A1D"/>
                          </a:solidFill>
                          <a:latin typeface="Calibri" pitchFamily="34" charset="0"/>
                          <a:ea typeface="Calibri" pitchFamily="34" charset="-122"/>
                          <a:cs typeface="Calibri" pitchFamily="34" charset="-120"/>
                        </a:rPr>
                        <a:t>Management intelligence atlas</a:t>
                      </a:r>
                      <a:endParaRPr lang="en-US" sz="1400" dirty="0">
                        <a:latin typeface="Calibri" charset="0"/>
                        <a:ea typeface="Calibri" charset="0"/>
                        <a:cs typeface="Calibri" charset="0"/>
                      </a:endParaRPr>
                    </a:p>
                  </a:txBody>
                  <a:tcPr marL="182880" marR="182880" anchor="ctr">
                    <a:lnL w="0" cap="flat" cmpd="sng" algn="ctr">
                      <a:noFill/>
                    </a:lnL>
                    <a:lnR w="0" cap="flat" cmpd="sng" algn="ctr">
                      <a:noFill/>
                    </a:lnR>
                    <a:lnT w="9525" cap="flat" cmpd="sng" algn="ctr">
                      <a:solidFill>
                        <a:srgbClr val="DAD5C9"/>
                      </a:solidFill>
                      <a:prstDash val="solid"/>
                      <a:round/>
                      <a:headEnd type="none" w="med" len="med"/>
                      <a:tailEnd type="none" w="med" len="med"/>
                    </a:lnT>
                    <a:lnB w="9525" cap="flat" cmpd="sng" algn="ctr">
                      <a:solidFill>
                        <a:srgbClr val="DAD5C9"/>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0911535" y="6382512"/>
            <a:ext cx="73152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t"/>
          <a:lstStyle/>
          <a:p>
            <a:pPr marL="0" indent="0">
              <a:buNone/>
            </a:pPr>
            <a:r>
              <a:rPr lang="en-US" sz="1000" kern="0" spc="100" dirty="0">
                <a:solidFill>
                  <a:schemeClr val="accent3"/>
                </a:solidFill>
                <a:latin typeface="Consolas" pitchFamily="34" charset="0"/>
                <a:ea typeface="Consolas" pitchFamily="34" charset="-122"/>
                <a:cs typeface="Consolas" pitchFamily="34" charset="-120"/>
              </a:rPr>
              <a:t>06 — ILLUSTRATIVE EXAMPLE</a:t>
            </a:r>
            <a:endParaRPr lang="en-US" sz="1000" dirty="0"/>
          </a:p>
        </p:txBody>
      </p:sp>
      <p:sp>
        <p:nvSpPr>
          <p:cNvPr id="3" name="Text 0"/>
          <p:cNvSpPr>
            <a:spLocks noGrp="1"/>
          </p:cNvSpPr>
          <p:nvPr>
            <p:ph type="title" idx="101" hasCustomPrompt="1"/>
          </p:nvPr>
        </p:nvSpPr>
        <p:spPr>
          <a:xfrm>
            <a:off x="548640" y="749808"/>
            <a:ext cx="10607040" cy="1097280"/>
          </a:xfrm>
          <a:prstGeom prst="rect">
            <a:avLst/>
          </a:prstGeom>
          <a:noFill/>
          <a:ln/>
        </p:spPr>
        <p:txBody>
          <a:bodyPr wrap="square" lIns="0" tIns="0" rIns="0" bIns="0" rtlCol="0" anchor="t"/>
          <a:lstStyle/>
          <a:p>
            <a:pPr marL="0" indent="0" algn="l">
              <a:buNone/>
            </a:pPr>
            <a:r>
              <a:rPr lang="en-US" sz="3000" b="1" dirty="0">
                <a:solidFill>
                  <a:schemeClr val="tx2"/>
                </a:solidFill>
              </a:rPr>
              <a:t>A CTS deck should still read as CTS in either treatment</a:t>
            </a:r>
            <a:endParaRPr lang="en-US" sz="3000" dirty="0"/>
          </a:p>
        </p:txBody>
      </p:sp>
      <p:sp>
        <p:nvSpPr>
          <p:cNvPr id="4" name="mock11-frame"/>
          <p:cNvSpPr/>
          <p:nvPr/>
        </p:nvSpPr>
        <p:spPr>
          <a:xfrm>
            <a:off x="548640" y="2011680"/>
            <a:ext cx="5120640" cy="2880360"/>
          </a:xfrm>
          <a:prstGeom prst="rect">
            <a:avLst/>
          </a:prstGeom>
          <a:solidFill>
            <a:srgbClr val="FBFAF6"/>
          </a:solidFill>
          <a:ln w="9525">
            <a:solidFill>
              <a:srgbClr val="C9C4B8"/>
            </a:solidFill>
            <a:prstDash val="solid"/>
          </a:ln>
        </p:spPr>
      </p:sp>
      <p:sp>
        <p:nvSpPr>
          <p:cNvPr id="5" name="mock11-crumb"/>
          <p:cNvSpPr/>
          <p:nvPr/>
        </p:nvSpPr>
        <p:spPr>
          <a:xfrm>
            <a:off x="822960" y="2240280"/>
            <a:ext cx="1005840" cy="45720"/>
          </a:xfrm>
          <a:prstGeom prst="rect">
            <a:avLst/>
          </a:prstGeom>
          <a:solidFill>
            <a:srgbClr val="B9BCBE"/>
          </a:solidFill>
          <a:ln/>
        </p:spPr>
      </p:sp>
      <p:sp>
        <p:nvSpPr>
          <p:cNvPr id="6" name="mock11-head1"/>
          <p:cNvSpPr/>
          <p:nvPr/>
        </p:nvSpPr>
        <p:spPr>
          <a:xfrm>
            <a:off x="822960" y="2450592"/>
            <a:ext cx="3017520" cy="146304"/>
          </a:xfrm>
          <a:prstGeom prst="rect">
            <a:avLst/>
          </a:prstGeom>
          <a:solidFill>
            <a:srgbClr val="14191D"/>
          </a:solidFill>
          <a:ln/>
        </p:spPr>
      </p:sp>
      <p:sp>
        <p:nvSpPr>
          <p:cNvPr id="7" name="mock11-head2"/>
          <p:cNvSpPr/>
          <p:nvPr/>
        </p:nvSpPr>
        <p:spPr>
          <a:xfrm>
            <a:off x="822960" y="2670048"/>
            <a:ext cx="2103120" cy="146304"/>
          </a:xfrm>
          <a:prstGeom prst="rect">
            <a:avLst/>
          </a:prstGeom>
          <a:solidFill>
            <a:srgbClr val="14191D"/>
          </a:solidFill>
          <a:ln/>
        </p:spPr>
      </p:sp>
      <p:sp>
        <p:nvSpPr>
          <p:cNvPr id="8" name="mock11-axis"/>
          <p:cNvSpPr/>
          <p:nvPr/>
        </p:nvSpPr>
        <p:spPr>
          <a:xfrm>
            <a:off x="960120" y="4251960"/>
            <a:ext cx="4297680" cy="0"/>
          </a:xfrm>
          <a:prstGeom prst="line">
            <a:avLst/>
          </a:prstGeom>
          <a:noFill/>
          <a:ln w="9525">
            <a:solidFill>
              <a:srgbClr val="D6D2C8"/>
            </a:solidFill>
            <a:prstDash val="solid"/>
          </a:ln>
        </p:spPr>
      </p:sp>
      <p:sp>
        <p:nvSpPr>
          <p:cNvPr id="9" name="segment"/>
          <p:cNvSpPr/>
          <p:nvPr/>
        </p:nvSpPr>
        <p:spPr>
          <a:xfrm flipV="1">
            <a:off x="960120" y="3977640"/>
            <a:ext cx="594360" cy="137160"/>
          </a:xfrm>
          <a:prstGeom prst="line">
            <a:avLst/>
          </a:prstGeom>
          <a:noFill/>
          <a:ln w="22225">
            <a:solidFill>
              <a:srgbClr val="537C91"/>
            </a:solidFill>
            <a:prstDash val="solid"/>
          </a:ln>
        </p:spPr>
      </p:sp>
      <p:sp>
        <p:nvSpPr>
          <p:cNvPr id="10" name="segment"/>
          <p:cNvSpPr/>
          <p:nvPr/>
        </p:nvSpPr>
        <p:spPr>
          <a:xfrm>
            <a:off x="1554480" y="3977640"/>
            <a:ext cx="594360" cy="45720"/>
          </a:xfrm>
          <a:prstGeom prst="line">
            <a:avLst/>
          </a:prstGeom>
          <a:noFill/>
          <a:ln w="22225">
            <a:solidFill>
              <a:srgbClr val="537C91"/>
            </a:solidFill>
            <a:prstDash val="solid"/>
          </a:ln>
        </p:spPr>
      </p:sp>
      <p:sp>
        <p:nvSpPr>
          <p:cNvPr id="11" name="segment"/>
          <p:cNvSpPr/>
          <p:nvPr/>
        </p:nvSpPr>
        <p:spPr>
          <a:xfrm flipV="1">
            <a:off x="2148840" y="3794760"/>
            <a:ext cx="594360" cy="228600"/>
          </a:xfrm>
          <a:prstGeom prst="line">
            <a:avLst/>
          </a:prstGeom>
          <a:noFill/>
          <a:ln w="22225">
            <a:solidFill>
              <a:srgbClr val="537C91"/>
            </a:solidFill>
            <a:prstDash val="solid"/>
          </a:ln>
        </p:spPr>
      </p:sp>
      <p:sp>
        <p:nvSpPr>
          <p:cNvPr id="12" name="segment"/>
          <p:cNvSpPr/>
          <p:nvPr/>
        </p:nvSpPr>
        <p:spPr>
          <a:xfrm>
            <a:off x="2743200" y="3794760"/>
            <a:ext cx="594360" cy="45720"/>
          </a:xfrm>
          <a:prstGeom prst="line">
            <a:avLst/>
          </a:prstGeom>
          <a:noFill/>
          <a:ln w="22225">
            <a:solidFill>
              <a:srgbClr val="537C91"/>
            </a:solidFill>
            <a:prstDash val="solid"/>
          </a:ln>
        </p:spPr>
      </p:sp>
      <p:sp>
        <p:nvSpPr>
          <p:cNvPr id="13" name="segment"/>
          <p:cNvSpPr/>
          <p:nvPr/>
        </p:nvSpPr>
        <p:spPr>
          <a:xfrm flipV="1">
            <a:off x="3337560" y="3566160"/>
            <a:ext cx="594360" cy="274320"/>
          </a:xfrm>
          <a:prstGeom prst="line">
            <a:avLst/>
          </a:prstGeom>
          <a:noFill/>
          <a:ln w="22225">
            <a:solidFill>
              <a:srgbClr val="537C91"/>
            </a:solidFill>
            <a:prstDash val="solid"/>
          </a:ln>
        </p:spPr>
      </p:sp>
      <p:sp>
        <p:nvSpPr>
          <p:cNvPr id="14" name="segment"/>
          <p:cNvSpPr/>
          <p:nvPr/>
        </p:nvSpPr>
        <p:spPr>
          <a:xfrm>
            <a:off x="3931920" y="3566160"/>
            <a:ext cx="594360" cy="45720"/>
          </a:xfrm>
          <a:prstGeom prst="line">
            <a:avLst/>
          </a:prstGeom>
          <a:noFill/>
          <a:ln w="22225">
            <a:solidFill>
              <a:srgbClr val="537C91"/>
            </a:solidFill>
            <a:prstDash val="solid"/>
          </a:ln>
        </p:spPr>
      </p:sp>
      <p:sp>
        <p:nvSpPr>
          <p:cNvPr id="15" name="segment"/>
          <p:cNvSpPr/>
          <p:nvPr/>
        </p:nvSpPr>
        <p:spPr>
          <a:xfrm flipV="1">
            <a:off x="4526280" y="3383280"/>
            <a:ext cx="594360" cy="228600"/>
          </a:xfrm>
          <a:prstGeom prst="line">
            <a:avLst/>
          </a:prstGeom>
          <a:noFill/>
          <a:ln w="22225">
            <a:solidFill>
              <a:srgbClr val="537C91"/>
            </a:solidFill>
            <a:prstDash val="solid"/>
          </a:ln>
        </p:spPr>
      </p:sp>
      <p:sp>
        <p:nvSpPr>
          <p:cNvPr id="16" name="dot"/>
          <p:cNvSpPr/>
          <p:nvPr/>
        </p:nvSpPr>
        <p:spPr>
          <a:xfrm>
            <a:off x="3867912" y="3502152"/>
            <a:ext cx="128016" cy="128016"/>
          </a:xfrm>
          <a:prstGeom prst="ellipse">
            <a:avLst/>
          </a:prstGeom>
          <a:solidFill>
            <a:srgbClr val="38B8AD"/>
          </a:solidFill>
          <a:ln/>
        </p:spPr>
      </p:sp>
      <p:sp>
        <p:nvSpPr>
          <p:cNvPr id="17" name="segment"/>
          <p:cNvSpPr/>
          <p:nvPr/>
        </p:nvSpPr>
        <p:spPr>
          <a:xfrm>
            <a:off x="3931920" y="3154680"/>
            <a:ext cx="914" cy="338328"/>
          </a:xfrm>
          <a:prstGeom prst="line">
            <a:avLst/>
          </a:prstGeom>
          <a:noFill/>
          <a:ln w="9525">
            <a:solidFill>
              <a:srgbClr val="9AA0A4"/>
            </a:solidFill>
            <a:prstDash val="solid"/>
          </a:ln>
        </p:spPr>
      </p:sp>
      <p:sp>
        <p:nvSpPr>
          <p:cNvPr id="18" name="mock11-annot"/>
          <p:cNvSpPr/>
          <p:nvPr/>
        </p:nvSpPr>
        <p:spPr>
          <a:xfrm>
            <a:off x="3429000" y="3017520"/>
            <a:ext cx="1005840" cy="73152"/>
          </a:xfrm>
          <a:prstGeom prst="rect">
            <a:avLst/>
          </a:prstGeom>
          <a:solidFill>
            <a:srgbClr val="9AA0A4"/>
          </a:solidFill>
          <a:ln/>
        </p:spPr>
      </p:sp>
      <p:sp>
        <p:nvSpPr>
          <p:cNvPr id="19" name="mock11-signal"/>
          <p:cNvSpPr/>
          <p:nvPr/>
        </p:nvSpPr>
        <p:spPr>
          <a:xfrm>
            <a:off x="822960" y="4617720"/>
            <a:ext cx="4572000" cy="0"/>
          </a:xfrm>
          <a:prstGeom prst="line">
            <a:avLst/>
          </a:prstGeom>
          <a:noFill/>
          <a:ln w="15875">
            <a:solidFill>
              <a:srgbClr val="38B8AD"/>
            </a:solidFill>
            <a:prstDash val="solid"/>
          </a:ln>
        </p:spPr>
      </p:sp>
      <p:sp>
        <p:nvSpPr>
          <p:cNvPr id="20" name="mock12-frame"/>
          <p:cNvSpPr/>
          <p:nvPr/>
        </p:nvSpPr>
        <p:spPr>
          <a:xfrm>
            <a:off x="6522415" y="2011680"/>
            <a:ext cx="5120640" cy="2880360"/>
          </a:xfrm>
          <a:prstGeom prst="rect">
            <a:avLst/>
          </a:prstGeom>
          <a:solidFill>
            <a:srgbClr val="14191D"/>
          </a:solidFill>
          <a:ln/>
        </p:spPr>
      </p:sp>
      <p:sp>
        <p:nvSpPr>
          <p:cNvPr id="21" name="mock12-crumb"/>
          <p:cNvSpPr/>
          <p:nvPr/>
        </p:nvSpPr>
        <p:spPr>
          <a:xfrm>
            <a:off x="6796735" y="2240280"/>
            <a:ext cx="1005840" cy="45720"/>
          </a:xfrm>
          <a:prstGeom prst="rect">
            <a:avLst/>
          </a:prstGeom>
          <a:solidFill>
            <a:srgbClr val="5B666D"/>
          </a:solidFill>
          <a:ln/>
        </p:spPr>
      </p:sp>
      <p:sp>
        <p:nvSpPr>
          <p:cNvPr id="22" name="mock12-head"/>
          <p:cNvSpPr/>
          <p:nvPr/>
        </p:nvSpPr>
        <p:spPr>
          <a:xfrm>
            <a:off x="6796735" y="2450592"/>
            <a:ext cx="2560320" cy="146304"/>
          </a:xfrm>
          <a:prstGeom prst="rect">
            <a:avLst/>
          </a:prstGeom>
          <a:solidFill>
            <a:srgbClr val="E9ECEC"/>
          </a:solidFill>
          <a:ln/>
        </p:spPr>
      </p:sp>
      <p:sp>
        <p:nvSpPr>
          <p:cNvPr id="23" name="mock12-lane0"/>
          <p:cNvSpPr/>
          <p:nvPr/>
        </p:nvSpPr>
        <p:spPr>
          <a:xfrm>
            <a:off x="6796735" y="2880360"/>
            <a:ext cx="3291840" cy="384048"/>
          </a:xfrm>
          <a:prstGeom prst="rect">
            <a:avLst/>
          </a:prstGeom>
          <a:solidFill>
            <a:srgbClr val="1F272D"/>
          </a:solidFill>
          <a:ln/>
        </p:spPr>
      </p:sp>
      <p:sp>
        <p:nvSpPr>
          <p:cNvPr id="24" name="mock12-lanelabel0"/>
          <p:cNvSpPr/>
          <p:nvPr/>
        </p:nvSpPr>
        <p:spPr>
          <a:xfrm>
            <a:off x="6796735" y="2880360"/>
            <a:ext cx="457200" cy="384048"/>
          </a:xfrm>
          <a:prstGeom prst="rect">
            <a:avLst/>
          </a:prstGeom>
          <a:solidFill>
            <a:srgbClr val="537C91"/>
          </a:solidFill>
          <a:ln/>
        </p:spPr>
      </p:sp>
      <p:sp>
        <p:nvSpPr>
          <p:cNvPr id="25" name="mock12-lane1"/>
          <p:cNvSpPr/>
          <p:nvPr/>
        </p:nvSpPr>
        <p:spPr>
          <a:xfrm>
            <a:off x="6796735" y="3383280"/>
            <a:ext cx="3291840" cy="384048"/>
          </a:xfrm>
          <a:prstGeom prst="rect">
            <a:avLst/>
          </a:prstGeom>
          <a:solidFill>
            <a:srgbClr val="1F272D"/>
          </a:solidFill>
          <a:ln/>
        </p:spPr>
      </p:sp>
      <p:sp>
        <p:nvSpPr>
          <p:cNvPr id="26" name="mock12-lanelabel1"/>
          <p:cNvSpPr/>
          <p:nvPr/>
        </p:nvSpPr>
        <p:spPr>
          <a:xfrm>
            <a:off x="6796735" y="3383280"/>
            <a:ext cx="457200" cy="384048"/>
          </a:xfrm>
          <a:prstGeom prst="rect">
            <a:avLst/>
          </a:prstGeom>
          <a:solidFill>
            <a:srgbClr val="537C91"/>
          </a:solidFill>
          <a:ln/>
        </p:spPr>
      </p:sp>
      <p:sp>
        <p:nvSpPr>
          <p:cNvPr id="27" name="mock12-lane2"/>
          <p:cNvSpPr/>
          <p:nvPr/>
        </p:nvSpPr>
        <p:spPr>
          <a:xfrm>
            <a:off x="6796735" y="3886200"/>
            <a:ext cx="3291840" cy="384048"/>
          </a:xfrm>
          <a:prstGeom prst="rect">
            <a:avLst/>
          </a:prstGeom>
          <a:solidFill>
            <a:srgbClr val="1F272D"/>
          </a:solidFill>
          <a:ln/>
        </p:spPr>
      </p:sp>
      <p:sp>
        <p:nvSpPr>
          <p:cNvPr id="28" name="mock12-lanelabel2"/>
          <p:cNvSpPr/>
          <p:nvPr/>
        </p:nvSpPr>
        <p:spPr>
          <a:xfrm>
            <a:off x="6796735" y="3886200"/>
            <a:ext cx="457200" cy="384048"/>
          </a:xfrm>
          <a:prstGeom prst="rect">
            <a:avLst/>
          </a:prstGeom>
          <a:solidFill>
            <a:srgbClr val="537C91"/>
          </a:solidFill>
          <a:ln/>
        </p:spPr>
      </p:sp>
      <p:sp>
        <p:nvSpPr>
          <p:cNvPr id="29" name="segment"/>
          <p:cNvSpPr/>
          <p:nvPr/>
        </p:nvSpPr>
        <p:spPr>
          <a:xfrm>
            <a:off x="7573975" y="3072384"/>
            <a:ext cx="548640" cy="502920"/>
          </a:xfrm>
          <a:prstGeom prst="line">
            <a:avLst/>
          </a:prstGeom>
          <a:noFill/>
          <a:ln w="12700">
            <a:solidFill>
              <a:srgbClr val="38B8AD"/>
            </a:solidFill>
            <a:prstDash val="solid"/>
          </a:ln>
        </p:spPr>
      </p:sp>
      <p:sp>
        <p:nvSpPr>
          <p:cNvPr id="30" name="segment"/>
          <p:cNvSpPr/>
          <p:nvPr/>
        </p:nvSpPr>
        <p:spPr>
          <a:xfrm>
            <a:off x="8122615" y="3575304"/>
            <a:ext cx="548640" cy="914"/>
          </a:xfrm>
          <a:prstGeom prst="line">
            <a:avLst/>
          </a:prstGeom>
          <a:noFill/>
          <a:ln w="12700">
            <a:solidFill>
              <a:srgbClr val="38B8AD"/>
            </a:solidFill>
            <a:prstDash val="solid"/>
          </a:ln>
        </p:spPr>
      </p:sp>
      <p:sp>
        <p:nvSpPr>
          <p:cNvPr id="31" name="segment"/>
          <p:cNvSpPr/>
          <p:nvPr/>
        </p:nvSpPr>
        <p:spPr>
          <a:xfrm>
            <a:off x="8671255" y="3575304"/>
            <a:ext cx="457200" cy="502920"/>
          </a:xfrm>
          <a:prstGeom prst="line">
            <a:avLst/>
          </a:prstGeom>
          <a:noFill/>
          <a:ln w="12700">
            <a:solidFill>
              <a:srgbClr val="38B8AD"/>
            </a:solidFill>
            <a:prstDash val="solid"/>
          </a:ln>
        </p:spPr>
      </p:sp>
      <p:sp>
        <p:nvSpPr>
          <p:cNvPr id="32" name="segment"/>
          <p:cNvSpPr/>
          <p:nvPr/>
        </p:nvSpPr>
        <p:spPr>
          <a:xfrm>
            <a:off x="9128455" y="4078224"/>
            <a:ext cx="594360" cy="914"/>
          </a:xfrm>
          <a:prstGeom prst="line">
            <a:avLst/>
          </a:prstGeom>
          <a:noFill/>
          <a:ln w="12700">
            <a:solidFill>
              <a:srgbClr val="38B8AD"/>
            </a:solidFill>
            <a:prstDash val="solid"/>
          </a:ln>
        </p:spPr>
      </p:sp>
      <p:sp>
        <p:nvSpPr>
          <p:cNvPr id="33" name="dot"/>
          <p:cNvSpPr/>
          <p:nvPr/>
        </p:nvSpPr>
        <p:spPr>
          <a:xfrm>
            <a:off x="7505395" y="3003804"/>
            <a:ext cx="137160" cy="137160"/>
          </a:xfrm>
          <a:prstGeom prst="ellipse">
            <a:avLst/>
          </a:prstGeom>
          <a:solidFill>
            <a:srgbClr val="38B8AD"/>
          </a:solidFill>
          <a:ln/>
        </p:spPr>
      </p:sp>
      <p:sp>
        <p:nvSpPr>
          <p:cNvPr id="34" name="dot"/>
          <p:cNvSpPr/>
          <p:nvPr/>
        </p:nvSpPr>
        <p:spPr>
          <a:xfrm>
            <a:off x="8054035" y="3506724"/>
            <a:ext cx="137160" cy="137160"/>
          </a:xfrm>
          <a:prstGeom prst="ellipse">
            <a:avLst/>
          </a:prstGeom>
          <a:solidFill>
            <a:srgbClr val="38B8AD"/>
          </a:solidFill>
          <a:ln/>
        </p:spPr>
      </p:sp>
      <p:sp>
        <p:nvSpPr>
          <p:cNvPr id="35" name="dot"/>
          <p:cNvSpPr/>
          <p:nvPr/>
        </p:nvSpPr>
        <p:spPr>
          <a:xfrm>
            <a:off x="8602675" y="3506724"/>
            <a:ext cx="137160" cy="137160"/>
          </a:xfrm>
          <a:prstGeom prst="ellipse">
            <a:avLst/>
          </a:prstGeom>
          <a:solidFill>
            <a:srgbClr val="38B8AD"/>
          </a:solidFill>
          <a:ln/>
        </p:spPr>
      </p:sp>
      <p:sp>
        <p:nvSpPr>
          <p:cNvPr id="36" name="dot"/>
          <p:cNvSpPr/>
          <p:nvPr/>
        </p:nvSpPr>
        <p:spPr>
          <a:xfrm>
            <a:off x="9059875" y="4009644"/>
            <a:ext cx="137160" cy="137160"/>
          </a:xfrm>
          <a:prstGeom prst="ellipse">
            <a:avLst/>
          </a:prstGeom>
          <a:solidFill>
            <a:srgbClr val="38B8AD"/>
          </a:solidFill>
          <a:ln/>
        </p:spPr>
      </p:sp>
      <p:sp>
        <p:nvSpPr>
          <p:cNvPr id="37" name="dot"/>
          <p:cNvSpPr/>
          <p:nvPr/>
        </p:nvSpPr>
        <p:spPr>
          <a:xfrm>
            <a:off x="9654235" y="4009644"/>
            <a:ext cx="137160" cy="137160"/>
          </a:xfrm>
          <a:prstGeom prst="ellipse">
            <a:avLst/>
          </a:prstGeom>
          <a:solidFill>
            <a:srgbClr val="38B8AD"/>
          </a:solidFill>
          <a:ln/>
        </p:spPr>
      </p:sp>
      <p:sp>
        <p:nvSpPr>
          <p:cNvPr id="38" name="mock12-evidence"/>
          <p:cNvSpPr/>
          <p:nvPr/>
        </p:nvSpPr>
        <p:spPr>
          <a:xfrm>
            <a:off x="10271455" y="2880360"/>
            <a:ext cx="1097280" cy="1389888"/>
          </a:xfrm>
          <a:prstGeom prst="rect">
            <a:avLst/>
          </a:prstGeom>
          <a:solidFill>
            <a:srgbClr val="14191D"/>
          </a:solidFill>
          <a:ln w="12700">
            <a:solidFill>
              <a:srgbClr val="537C91"/>
            </a:solidFill>
            <a:prstDash val="solid"/>
          </a:ln>
        </p:spPr>
      </p:sp>
      <p:sp>
        <p:nvSpPr>
          <p:cNvPr id="39" name="mock12-evline"/>
          <p:cNvSpPr/>
          <p:nvPr/>
        </p:nvSpPr>
        <p:spPr>
          <a:xfrm>
            <a:off x="10408615" y="3063240"/>
            <a:ext cx="822960" cy="64008"/>
          </a:xfrm>
          <a:prstGeom prst="rect">
            <a:avLst/>
          </a:prstGeom>
          <a:solidFill>
            <a:srgbClr val="7E8A90"/>
          </a:solidFill>
          <a:ln/>
        </p:spPr>
      </p:sp>
      <p:sp>
        <p:nvSpPr>
          <p:cNvPr id="40" name="mock12-evline"/>
          <p:cNvSpPr/>
          <p:nvPr/>
        </p:nvSpPr>
        <p:spPr>
          <a:xfrm>
            <a:off x="10408615" y="3429000"/>
            <a:ext cx="640080" cy="64008"/>
          </a:xfrm>
          <a:prstGeom prst="rect">
            <a:avLst/>
          </a:prstGeom>
          <a:solidFill>
            <a:srgbClr val="7E8A90"/>
          </a:solidFill>
          <a:ln/>
        </p:spPr>
      </p:sp>
      <p:sp>
        <p:nvSpPr>
          <p:cNvPr id="41" name="mock12-evline"/>
          <p:cNvSpPr/>
          <p:nvPr/>
        </p:nvSpPr>
        <p:spPr>
          <a:xfrm>
            <a:off x="10408615" y="3794760"/>
            <a:ext cx="731520" cy="64008"/>
          </a:xfrm>
          <a:prstGeom prst="rect">
            <a:avLst/>
          </a:prstGeom>
          <a:solidFill>
            <a:srgbClr val="7E8A90"/>
          </a:solidFill>
          <a:ln/>
        </p:spPr>
      </p:sp>
      <p:sp>
        <p:nvSpPr>
          <p:cNvPr id="42" name="mock12-signal"/>
          <p:cNvSpPr/>
          <p:nvPr/>
        </p:nvSpPr>
        <p:spPr>
          <a:xfrm>
            <a:off x="6796735" y="4617720"/>
            <a:ext cx="4572000" cy="0"/>
          </a:xfrm>
          <a:prstGeom prst="line">
            <a:avLst/>
          </a:prstGeom>
          <a:noFill/>
          <a:ln w="15875">
            <a:solidFill>
              <a:srgbClr val="38B8AD"/>
            </a:solidFill>
            <a:prstDash val="solid"/>
          </a:ln>
        </p:spPr>
      </p:sp>
      <p:sp>
        <p:nvSpPr>
          <p:cNvPr id="43" name="Text 41"/>
          <p:cNvSpPr txBox="1"/>
          <p:nvPr/>
        </p:nvSpPr>
        <p:spPr>
          <a:xfrm>
            <a:off x="548640" y="5047488"/>
            <a:ext cx="5120640" cy="256032"/>
          </a:xfrm>
          <a:prstGeom prst="rect">
            <a:avLst/>
          </a:prstGeom>
          <a:noFill/>
          <a:ln/>
        </p:spPr>
        <p:txBody>
          <a:bodyPr wrap="square" lIns="0" tIns="0" rIns="0" bIns="0" rtlCol="0" anchor="t"/>
          <a:lstStyle/>
          <a:p>
            <a:pPr marL="0" indent="0">
              <a:buNone/>
            </a:pPr>
            <a:r>
              <a:rPr lang="en-US" sz="1100" kern="0" spc="100" dirty="0">
                <a:solidFill>
                  <a:schemeClr val="tx2"/>
                </a:solidFill>
                <a:latin typeface="Consolas" pitchFamily="34" charset="0"/>
                <a:ea typeface="Consolas" pitchFamily="34" charset="-122"/>
                <a:cs typeface="Consolas" pitchFamily="34" charset="-120"/>
              </a:rPr>
              <a:t>#11  ·  EXECUTIVE EDITORIAL</a:t>
            </a:r>
            <a:endParaRPr lang="en-US" sz="1100" dirty="0"/>
          </a:p>
        </p:txBody>
      </p:sp>
      <p:sp>
        <p:nvSpPr>
          <p:cNvPr id="44" name="Text 42"/>
          <p:cNvSpPr txBox="1"/>
          <p:nvPr/>
        </p:nvSpPr>
        <p:spPr>
          <a:xfrm>
            <a:off x="548640" y="5321808"/>
            <a:ext cx="5120640" cy="5486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A premium operational performance publication: light pages, one headline, one annotated trend.</a:t>
            </a:r>
            <a:endParaRPr lang="en-US" sz="1400" dirty="0"/>
          </a:p>
        </p:txBody>
      </p:sp>
      <p:sp>
        <p:nvSpPr>
          <p:cNvPr id="45" name="Text 43"/>
          <p:cNvSpPr txBox="1"/>
          <p:nvPr/>
        </p:nvSpPr>
        <p:spPr>
          <a:xfrm>
            <a:off x="6522415" y="5047488"/>
            <a:ext cx="5120640" cy="256032"/>
          </a:xfrm>
          <a:prstGeom prst="rect">
            <a:avLst/>
          </a:prstGeom>
          <a:noFill/>
          <a:ln/>
        </p:spPr>
        <p:txBody>
          <a:bodyPr wrap="square" lIns="0" tIns="0" rIns="0" bIns="0" rtlCol="0" anchor="t"/>
          <a:lstStyle/>
          <a:p>
            <a:pPr marL="0" indent="0">
              <a:buNone/>
            </a:pPr>
            <a:r>
              <a:rPr lang="en-US" sz="1100" kern="0" spc="100" dirty="0">
                <a:solidFill>
                  <a:schemeClr val="tx2"/>
                </a:solidFill>
                <a:latin typeface="Consolas" pitchFamily="34" charset="0"/>
                <a:ea typeface="Consolas" pitchFamily="34" charset="-122"/>
                <a:cs typeface="Consolas" pitchFamily="34" charset="-120"/>
              </a:rPr>
              <a:t>#12  ·  OPERATIONAL INTELLIGENCE</a:t>
            </a:r>
            <a:endParaRPr lang="en-US" sz="1100" dirty="0"/>
          </a:p>
        </p:txBody>
      </p:sp>
      <p:sp>
        <p:nvSpPr>
          <p:cNvPr id="46" name="Text 44"/>
          <p:cNvSpPr txBox="1"/>
          <p:nvPr/>
        </p:nvSpPr>
        <p:spPr>
          <a:xfrm>
            <a:off x="6522415" y="5321808"/>
            <a:ext cx="5120640" cy="5486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A network assurance command centre: incident correlation, evidence, escalation and remediation.</a:t>
            </a:r>
            <a:endParaRPr lang="en-US" sz="1400" dirty="0"/>
          </a:p>
        </p:txBody>
      </p:sp>
      <p:sp>
        <p:nvSpPr>
          <p:cNvPr id="47" name="Text 45"/>
          <p:cNvSpPr txBox="1"/>
          <p:nvPr/>
        </p:nvSpPr>
        <p:spPr>
          <a:xfrm>
            <a:off x="548640" y="5989320"/>
            <a:ext cx="11094415" cy="274320"/>
          </a:xfrm>
          <a:prstGeom prst="rect">
            <a:avLst/>
          </a:prstGeom>
          <a:noFill/>
          <a:ln/>
        </p:spPr>
        <p:txBody>
          <a:bodyPr wrap="square" lIns="0" tIns="0" rIns="0" bIns="0" rtlCol="0" anchor="t"/>
          <a:lstStyle/>
          <a:p>
            <a:pPr marL="0" indent="0">
              <a:buNone/>
            </a:pPr>
            <a:r>
              <a:rPr lang="en-US" sz="1200" b="1" i="1" dirty="0">
                <a:solidFill>
                  <a:schemeClr val="accent3"/>
                </a:solidFill>
                <a:latin typeface="Calibri" pitchFamily="34" charset="0"/>
                <a:ea typeface="Calibri" pitchFamily="34" charset="-122"/>
                <a:cs typeface="Calibri" pitchFamily="34" charset="-120"/>
              </a:rPr>
              <a:t>Illustrative wireframes, not real CTS slides. </a:t>
            </a:r>
            <a:r>
              <a:rPr lang="en-US" sz="1200" i="1" dirty="0">
                <a:solidFill>
                  <a:schemeClr val="accent3"/>
                </a:solidFill>
                <a:latin typeface="Calibri" pitchFamily="34" charset="0"/>
                <a:ea typeface="Calibri" pitchFamily="34" charset="-122"/>
                <a:cs typeface="Calibri" pitchFamily="34" charset="-120"/>
              </a:rPr>
              <a:t>Kept in both: Graphite and Electric Teal, the thin network signal line, incident-timeline vocabulary.</a:t>
            </a:r>
            <a:endParaRPr lang="en-US" sz="1200" dirty="0"/>
          </a:p>
        </p:txBody>
      </p:sp>
      <p:sp>
        <p:nvSpPr>
          <p:cNvPr id="48" name="Slide Number Placeholder 0"/>
          <p:cNvSpPr>
            <a:spLocks noGrp="1"/>
          </p:cNvSpPr>
          <p:nvPr>
            <p:ph type="sldNum" sz="quarter" idx="4294967295"/>
          </p:nvPr>
        </p:nvSpPr>
        <p:spPr>
          <a:xfrm>
            <a:off x="10911535" y="6382512"/>
            <a:ext cx="73152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t"/>
          <a:lstStyle/>
          <a:p>
            <a:pPr marL="0" indent="0">
              <a:buNone/>
            </a:pPr>
            <a:r>
              <a:rPr lang="en-US" sz="1000" kern="0" spc="100" dirty="0">
                <a:solidFill>
                  <a:schemeClr val="accent3"/>
                </a:solidFill>
                <a:latin typeface="Consolas" pitchFamily="34" charset="0"/>
                <a:ea typeface="Consolas" pitchFamily="34" charset="-122"/>
                <a:cs typeface="Consolas" pitchFamily="34" charset="-120"/>
              </a:rPr>
              <a:t>07 — IDENTITY ENGINE</a:t>
            </a:r>
            <a:endParaRPr lang="en-US" sz="1000" dirty="0"/>
          </a:p>
        </p:txBody>
      </p:sp>
      <p:sp>
        <p:nvSpPr>
          <p:cNvPr id="3" name="Text 0"/>
          <p:cNvSpPr>
            <a:spLocks noGrp="1"/>
          </p:cNvSpPr>
          <p:nvPr>
            <p:ph type="title" idx="101" hasCustomPrompt="1"/>
          </p:nvPr>
        </p:nvSpPr>
        <p:spPr>
          <a:xfrm>
            <a:off x="548640" y="749808"/>
            <a:ext cx="10607040" cy="1097280"/>
          </a:xfrm>
          <a:prstGeom prst="rect">
            <a:avLst/>
          </a:prstGeom>
          <a:noFill/>
          <a:ln/>
        </p:spPr>
        <p:txBody>
          <a:bodyPr wrap="square" lIns="0" tIns="0" rIns="0" bIns="0" rtlCol="0" anchor="t"/>
          <a:lstStyle/>
          <a:p>
            <a:pPr marL="0" indent="0" algn="l">
              <a:buNone/>
            </a:pPr>
            <a:r>
              <a:rPr lang="en-US" sz="3000" b="1" dirty="0">
                <a:solidFill>
                  <a:schemeClr val="tx2"/>
                </a:solidFill>
              </a:rPr>
              <a:t>Both skill files gain one engine that settles eight design choices first</a:t>
            </a:r>
            <a:endParaRPr lang="en-US" sz="3000" dirty="0"/>
          </a:p>
        </p:txBody>
      </p:sp>
      <p:sp>
        <p:nvSpPr>
          <p:cNvPr id="4" name="engine-flow"/>
          <p:cNvSpPr/>
          <p:nvPr/>
        </p:nvSpPr>
        <p:spPr>
          <a:xfrm>
            <a:off x="1242041" y="2331720"/>
            <a:ext cx="9707613" cy="0"/>
          </a:xfrm>
          <a:prstGeom prst="line">
            <a:avLst/>
          </a:prstGeom>
          <a:noFill/>
          <a:ln w="12700">
            <a:solidFill>
              <a:srgbClr val="8FA3AE"/>
            </a:solidFill>
            <a:prstDash val="solid"/>
          </a:ln>
        </p:spPr>
      </p:sp>
      <p:sp>
        <p:nvSpPr>
          <p:cNvPr id="5" name="engine-step-1"/>
          <p:cNvSpPr/>
          <p:nvPr/>
        </p:nvSpPr>
        <p:spPr>
          <a:xfrm>
            <a:off x="1004297" y="2093976"/>
            <a:ext cx="475488" cy="475488"/>
          </a:xfrm>
          <a:prstGeom prst="ellipse">
            <a:avLst/>
          </a:prstGeom>
          <a:solidFill>
            <a:schemeClr val="accent1"/>
          </a:solidFill>
          <a:ln/>
        </p:spPr>
      </p:sp>
      <p:sp>
        <p:nvSpPr>
          <p:cNvPr id="6" name="Text 4"/>
          <p:cNvSpPr txBox="1"/>
          <p:nvPr/>
        </p:nvSpPr>
        <p:spPr>
          <a:xfrm>
            <a:off x="1004297" y="2093976"/>
            <a:ext cx="475488" cy="475488"/>
          </a:xfrm>
          <a:prstGeom prst="rect">
            <a:avLst/>
          </a:prstGeom>
          <a:noFill/>
          <a:ln/>
        </p:spPr>
        <p:txBody>
          <a:bodyPr wrap="square" lIns="0" tIns="0" rIns="0" bIns="0" rtlCol="0" anchor="ctr"/>
          <a:lstStyle/>
          <a:p>
            <a:pPr marL="0" indent="0" algn="ctr">
              <a:buNone/>
            </a:pPr>
            <a:r>
              <a:rPr lang="en-US" sz="1200" b="1" dirty="0">
                <a:solidFill>
                  <a:schemeClr val="bg1"/>
                </a:solidFill>
                <a:latin typeface="Consolas" pitchFamily="34" charset="0"/>
                <a:ea typeface="Consolas" pitchFamily="34" charset="-122"/>
                <a:cs typeface="Consolas" pitchFamily="34" charset="-120"/>
              </a:rPr>
              <a:t>01</a:t>
            </a:r>
            <a:endParaRPr lang="en-US" sz="1200" dirty="0"/>
          </a:p>
        </p:txBody>
      </p:sp>
      <p:sp>
        <p:nvSpPr>
          <p:cNvPr id="7" name="Text 5"/>
          <p:cNvSpPr txBox="1"/>
          <p:nvPr/>
        </p:nvSpPr>
        <p:spPr>
          <a:xfrm>
            <a:off x="603504" y="2715768"/>
            <a:ext cx="1277074" cy="640080"/>
          </a:xfrm>
          <a:prstGeom prst="rect">
            <a:avLst/>
          </a:prstGeom>
          <a:noFill/>
          <a:ln/>
        </p:spPr>
        <p:txBody>
          <a:bodyPr wrap="square" lIns="0" tIns="0" rIns="0" bIns="0" rtlCol="0" anchor="t"/>
          <a:lstStyle/>
          <a:p>
            <a:pPr marL="0" indent="0" algn="ctr">
              <a:buNone/>
            </a:pPr>
            <a:r>
              <a:rPr lang="en-US" sz="1400" dirty="0">
                <a:solidFill>
                  <a:schemeClr val="tx1"/>
                </a:solidFill>
                <a:latin typeface="Calibri" pitchFamily="34" charset="0"/>
                <a:ea typeface="Calibri" pitchFamily="34" charset="-122"/>
                <a:cs typeface="Calibri" pitchFamily="34" charset="-120"/>
              </a:rPr>
              <a:t>Organisational unit</a:t>
            </a:r>
            <a:endParaRPr lang="en-US" sz="1400" dirty="0"/>
          </a:p>
        </p:txBody>
      </p:sp>
      <p:sp>
        <p:nvSpPr>
          <p:cNvPr id="8" name="engine-step-2"/>
          <p:cNvSpPr/>
          <p:nvPr/>
        </p:nvSpPr>
        <p:spPr>
          <a:xfrm>
            <a:off x="2391099" y="2093976"/>
            <a:ext cx="475488" cy="475488"/>
          </a:xfrm>
          <a:prstGeom prst="ellipse">
            <a:avLst/>
          </a:prstGeom>
          <a:solidFill>
            <a:schemeClr val="tx2"/>
          </a:solidFill>
          <a:ln/>
        </p:spPr>
      </p:sp>
      <p:sp>
        <p:nvSpPr>
          <p:cNvPr id="9" name="Text 7"/>
          <p:cNvSpPr txBox="1"/>
          <p:nvPr/>
        </p:nvSpPr>
        <p:spPr>
          <a:xfrm>
            <a:off x="2391099" y="2093976"/>
            <a:ext cx="475488" cy="475488"/>
          </a:xfrm>
          <a:prstGeom prst="rect">
            <a:avLst/>
          </a:prstGeom>
          <a:noFill/>
          <a:ln/>
        </p:spPr>
        <p:txBody>
          <a:bodyPr wrap="square" lIns="0" tIns="0" rIns="0" bIns="0" rtlCol="0" anchor="ctr"/>
          <a:lstStyle/>
          <a:p>
            <a:pPr marL="0" indent="0" algn="ctr">
              <a:buNone/>
            </a:pPr>
            <a:r>
              <a:rPr lang="en-US" sz="1200" b="1" dirty="0">
                <a:solidFill>
                  <a:schemeClr val="bg1"/>
                </a:solidFill>
                <a:latin typeface="Consolas" pitchFamily="34" charset="0"/>
                <a:ea typeface="Consolas" pitchFamily="34" charset="-122"/>
                <a:cs typeface="Consolas" pitchFamily="34" charset="-120"/>
              </a:rPr>
              <a:t>02</a:t>
            </a:r>
            <a:endParaRPr lang="en-US" sz="1200" dirty="0"/>
          </a:p>
        </p:txBody>
      </p:sp>
      <p:sp>
        <p:nvSpPr>
          <p:cNvPr id="10" name="Text 8"/>
          <p:cNvSpPr txBox="1"/>
          <p:nvPr/>
        </p:nvSpPr>
        <p:spPr>
          <a:xfrm>
            <a:off x="1990306" y="2715768"/>
            <a:ext cx="1277074" cy="640080"/>
          </a:xfrm>
          <a:prstGeom prst="rect">
            <a:avLst/>
          </a:prstGeom>
          <a:noFill/>
          <a:ln/>
        </p:spPr>
        <p:txBody>
          <a:bodyPr wrap="square" lIns="0" tIns="0" rIns="0" bIns="0" rtlCol="0" anchor="t"/>
          <a:lstStyle/>
          <a:p>
            <a:pPr marL="0" indent="0" algn="ctr">
              <a:buNone/>
            </a:pPr>
            <a:r>
              <a:rPr lang="en-US" sz="1400" dirty="0">
                <a:solidFill>
                  <a:schemeClr val="tx1"/>
                </a:solidFill>
                <a:latin typeface="Calibri" pitchFamily="34" charset="0"/>
                <a:ea typeface="Calibri" pitchFamily="34" charset="-122"/>
                <a:cs typeface="Calibri" pitchFamily="34" charset="-120"/>
              </a:rPr>
              <a:t>Colour tokens</a:t>
            </a:r>
            <a:endParaRPr lang="en-US" sz="1400" dirty="0"/>
          </a:p>
        </p:txBody>
      </p:sp>
      <p:sp>
        <p:nvSpPr>
          <p:cNvPr id="11" name="engine-step-3"/>
          <p:cNvSpPr/>
          <p:nvPr/>
        </p:nvSpPr>
        <p:spPr>
          <a:xfrm>
            <a:off x="3777901" y="2093976"/>
            <a:ext cx="475488" cy="475488"/>
          </a:xfrm>
          <a:prstGeom prst="ellipse">
            <a:avLst/>
          </a:prstGeom>
          <a:solidFill>
            <a:schemeClr val="tx2"/>
          </a:solidFill>
          <a:ln/>
        </p:spPr>
      </p:sp>
      <p:sp>
        <p:nvSpPr>
          <p:cNvPr id="12" name="Text 10"/>
          <p:cNvSpPr txBox="1"/>
          <p:nvPr/>
        </p:nvSpPr>
        <p:spPr>
          <a:xfrm>
            <a:off x="3777901" y="2093976"/>
            <a:ext cx="475488" cy="475488"/>
          </a:xfrm>
          <a:prstGeom prst="rect">
            <a:avLst/>
          </a:prstGeom>
          <a:noFill/>
          <a:ln/>
        </p:spPr>
        <p:txBody>
          <a:bodyPr wrap="square" lIns="0" tIns="0" rIns="0" bIns="0" rtlCol="0" anchor="ctr"/>
          <a:lstStyle/>
          <a:p>
            <a:pPr marL="0" indent="0" algn="ctr">
              <a:buNone/>
            </a:pPr>
            <a:r>
              <a:rPr lang="en-US" sz="1200" b="1" dirty="0">
                <a:solidFill>
                  <a:schemeClr val="bg1"/>
                </a:solidFill>
                <a:latin typeface="Consolas" pitchFamily="34" charset="0"/>
                <a:ea typeface="Consolas" pitchFamily="34" charset="-122"/>
                <a:cs typeface="Consolas" pitchFamily="34" charset="-120"/>
              </a:rPr>
              <a:t>03</a:t>
            </a:r>
            <a:endParaRPr lang="en-US" sz="1200" dirty="0"/>
          </a:p>
        </p:txBody>
      </p:sp>
      <p:sp>
        <p:nvSpPr>
          <p:cNvPr id="13" name="Text 11"/>
          <p:cNvSpPr txBox="1"/>
          <p:nvPr/>
        </p:nvSpPr>
        <p:spPr>
          <a:xfrm>
            <a:off x="3377108" y="2715768"/>
            <a:ext cx="1277074" cy="640080"/>
          </a:xfrm>
          <a:prstGeom prst="rect">
            <a:avLst/>
          </a:prstGeom>
          <a:noFill/>
          <a:ln/>
        </p:spPr>
        <p:txBody>
          <a:bodyPr wrap="square" lIns="0" tIns="0" rIns="0" bIns="0" rtlCol="0" anchor="t"/>
          <a:lstStyle/>
          <a:p>
            <a:pPr marL="0" indent="0" algn="ctr">
              <a:buNone/>
            </a:pPr>
            <a:r>
              <a:rPr lang="en-US" sz="1400" dirty="0">
                <a:solidFill>
                  <a:schemeClr val="tx1"/>
                </a:solidFill>
                <a:latin typeface="Calibri" pitchFamily="34" charset="0"/>
                <a:ea typeface="Calibri" pitchFamily="34" charset="-122"/>
                <a:cs typeface="Calibri" pitchFamily="34" charset="-120"/>
              </a:rPr>
              <a:t>Typography personality</a:t>
            </a:r>
            <a:endParaRPr lang="en-US" sz="1400" dirty="0"/>
          </a:p>
        </p:txBody>
      </p:sp>
      <p:sp>
        <p:nvSpPr>
          <p:cNvPr id="14" name="engine-step-4"/>
          <p:cNvSpPr/>
          <p:nvPr/>
        </p:nvSpPr>
        <p:spPr>
          <a:xfrm>
            <a:off x="5164703" y="2093976"/>
            <a:ext cx="475488" cy="475488"/>
          </a:xfrm>
          <a:prstGeom prst="ellipse">
            <a:avLst/>
          </a:prstGeom>
          <a:solidFill>
            <a:schemeClr val="tx2"/>
          </a:solidFill>
          <a:ln/>
        </p:spPr>
      </p:sp>
      <p:sp>
        <p:nvSpPr>
          <p:cNvPr id="15" name="Text 13"/>
          <p:cNvSpPr txBox="1"/>
          <p:nvPr/>
        </p:nvSpPr>
        <p:spPr>
          <a:xfrm>
            <a:off x="5164703" y="2093976"/>
            <a:ext cx="475488" cy="475488"/>
          </a:xfrm>
          <a:prstGeom prst="rect">
            <a:avLst/>
          </a:prstGeom>
          <a:noFill/>
          <a:ln/>
        </p:spPr>
        <p:txBody>
          <a:bodyPr wrap="square" lIns="0" tIns="0" rIns="0" bIns="0" rtlCol="0" anchor="ctr"/>
          <a:lstStyle/>
          <a:p>
            <a:pPr marL="0" indent="0" algn="ctr">
              <a:buNone/>
            </a:pPr>
            <a:r>
              <a:rPr lang="en-US" sz="1200" b="1" dirty="0">
                <a:solidFill>
                  <a:schemeClr val="bg1"/>
                </a:solidFill>
                <a:latin typeface="Consolas" pitchFamily="34" charset="0"/>
                <a:ea typeface="Consolas" pitchFamily="34" charset="-122"/>
                <a:cs typeface="Consolas" pitchFamily="34" charset="-120"/>
              </a:rPr>
              <a:t>04</a:t>
            </a:r>
            <a:endParaRPr lang="en-US" sz="1200" dirty="0"/>
          </a:p>
        </p:txBody>
      </p:sp>
      <p:sp>
        <p:nvSpPr>
          <p:cNvPr id="16" name="Text 14"/>
          <p:cNvSpPr txBox="1"/>
          <p:nvPr/>
        </p:nvSpPr>
        <p:spPr>
          <a:xfrm>
            <a:off x="4763910" y="2715768"/>
            <a:ext cx="1277074" cy="640080"/>
          </a:xfrm>
          <a:prstGeom prst="rect">
            <a:avLst/>
          </a:prstGeom>
          <a:noFill/>
          <a:ln/>
        </p:spPr>
        <p:txBody>
          <a:bodyPr wrap="square" lIns="0" tIns="0" rIns="0" bIns="0" rtlCol="0" anchor="t"/>
          <a:lstStyle/>
          <a:p>
            <a:pPr marL="0" indent="0" algn="ctr">
              <a:buNone/>
            </a:pPr>
            <a:r>
              <a:rPr lang="en-US" sz="1400" dirty="0">
                <a:solidFill>
                  <a:schemeClr val="tx1"/>
                </a:solidFill>
                <a:latin typeface="Calibri" pitchFamily="34" charset="0"/>
                <a:ea typeface="Calibri" pitchFamily="34" charset="-122"/>
                <a:cs typeface="Calibri" pitchFamily="34" charset="-120"/>
              </a:rPr>
              <a:t>Layout grammar</a:t>
            </a:r>
            <a:endParaRPr lang="en-US" sz="1400" dirty="0"/>
          </a:p>
        </p:txBody>
      </p:sp>
      <p:sp>
        <p:nvSpPr>
          <p:cNvPr id="17" name="engine-step-5"/>
          <p:cNvSpPr/>
          <p:nvPr/>
        </p:nvSpPr>
        <p:spPr>
          <a:xfrm>
            <a:off x="6551505" y="2093976"/>
            <a:ext cx="475488" cy="475488"/>
          </a:xfrm>
          <a:prstGeom prst="ellipse">
            <a:avLst/>
          </a:prstGeom>
          <a:solidFill>
            <a:schemeClr val="tx2"/>
          </a:solidFill>
          <a:ln/>
        </p:spPr>
      </p:sp>
      <p:sp>
        <p:nvSpPr>
          <p:cNvPr id="18" name="Text 16"/>
          <p:cNvSpPr txBox="1"/>
          <p:nvPr/>
        </p:nvSpPr>
        <p:spPr>
          <a:xfrm>
            <a:off x="6551505" y="2093976"/>
            <a:ext cx="475488" cy="475488"/>
          </a:xfrm>
          <a:prstGeom prst="rect">
            <a:avLst/>
          </a:prstGeom>
          <a:noFill/>
          <a:ln/>
        </p:spPr>
        <p:txBody>
          <a:bodyPr wrap="square" lIns="0" tIns="0" rIns="0" bIns="0" rtlCol="0" anchor="ctr"/>
          <a:lstStyle/>
          <a:p>
            <a:pPr marL="0" indent="0" algn="ctr">
              <a:buNone/>
            </a:pPr>
            <a:r>
              <a:rPr lang="en-US" sz="1200" b="1" dirty="0">
                <a:solidFill>
                  <a:schemeClr val="bg1"/>
                </a:solidFill>
                <a:latin typeface="Consolas" pitchFamily="34" charset="0"/>
                <a:ea typeface="Consolas" pitchFamily="34" charset="-122"/>
                <a:cs typeface="Consolas" pitchFamily="34" charset="-120"/>
              </a:rPr>
              <a:t>05</a:t>
            </a:r>
            <a:endParaRPr lang="en-US" sz="1200" dirty="0"/>
          </a:p>
        </p:txBody>
      </p:sp>
      <p:sp>
        <p:nvSpPr>
          <p:cNvPr id="19" name="Text 17"/>
          <p:cNvSpPr txBox="1"/>
          <p:nvPr/>
        </p:nvSpPr>
        <p:spPr>
          <a:xfrm>
            <a:off x="6150712" y="2715768"/>
            <a:ext cx="1277074" cy="640080"/>
          </a:xfrm>
          <a:prstGeom prst="rect">
            <a:avLst/>
          </a:prstGeom>
          <a:noFill/>
          <a:ln/>
        </p:spPr>
        <p:txBody>
          <a:bodyPr wrap="square" lIns="0" tIns="0" rIns="0" bIns="0" rtlCol="0" anchor="t"/>
          <a:lstStyle/>
          <a:p>
            <a:pPr marL="0" indent="0" algn="ctr">
              <a:buNone/>
            </a:pPr>
            <a:r>
              <a:rPr lang="en-US" sz="1400" dirty="0">
                <a:solidFill>
                  <a:schemeClr val="tx1"/>
                </a:solidFill>
                <a:latin typeface="Calibri" pitchFamily="34" charset="0"/>
                <a:ea typeface="Calibri" pitchFamily="34" charset="-122"/>
                <a:cs typeface="Calibri" pitchFamily="34" charset="-120"/>
              </a:rPr>
              <a:t>Visualization vocabulary</a:t>
            </a:r>
            <a:endParaRPr lang="en-US" sz="1400" dirty="0"/>
          </a:p>
        </p:txBody>
      </p:sp>
      <p:sp>
        <p:nvSpPr>
          <p:cNvPr id="20" name="engine-step-6"/>
          <p:cNvSpPr/>
          <p:nvPr/>
        </p:nvSpPr>
        <p:spPr>
          <a:xfrm>
            <a:off x="7938306" y="2093976"/>
            <a:ext cx="475488" cy="475488"/>
          </a:xfrm>
          <a:prstGeom prst="ellipse">
            <a:avLst/>
          </a:prstGeom>
          <a:solidFill>
            <a:schemeClr val="tx2"/>
          </a:solidFill>
          <a:ln/>
        </p:spPr>
      </p:sp>
      <p:sp>
        <p:nvSpPr>
          <p:cNvPr id="21" name="Text 19"/>
          <p:cNvSpPr txBox="1"/>
          <p:nvPr/>
        </p:nvSpPr>
        <p:spPr>
          <a:xfrm>
            <a:off x="7938306" y="2093976"/>
            <a:ext cx="475488" cy="475488"/>
          </a:xfrm>
          <a:prstGeom prst="rect">
            <a:avLst/>
          </a:prstGeom>
          <a:noFill/>
          <a:ln/>
        </p:spPr>
        <p:txBody>
          <a:bodyPr wrap="square" lIns="0" tIns="0" rIns="0" bIns="0" rtlCol="0" anchor="ctr"/>
          <a:lstStyle/>
          <a:p>
            <a:pPr marL="0" indent="0" algn="ctr">
              <a:buNone/>
            </a:pPr>
            <a:r>
              <a:rPr lang="en-US" sz="1200" b="1" dirty="0">
                <a:solidFill>
                  <a:schemeClr val="bg1"/>
                </a:solidFill>
                <a:latin typeface="Consolas" pitchFamily="34" charset="0"/>
                <a:ea typeface="Consolas" pitchFamily="34" charset="-122"/>
                <a:cs typeface="Consolas" pitchFamily="34" charset="-120"/>
              </a:rPr>
              <a:t>06</a:t>
            </a:r>
            <a:endParaRPr lang="en-US" sz="1200" dirty="0"/>
          </a:p>
        </p:txBody>
      </p:sp>
      <p:sp>
        <p:nvSpPr>
          <p:cNvPr id="22" name="Text 20"/>
          <p:cNvSpPr txBox="1"/>
          <p:nvPr/>
        </p:nvSpPr>
        <p:spPr>
          <a:xfrm>
            <a:off x="7537514" y="2715768"/>
            <a:ext cx="1277074" cy="640080"/>
          </a:xfrm>
          <a:prstGeom prst="rect">
            <a:avLst/>
          </a:prstGeom>
          <a:noFill/>
          <a:ln/>
        </p:spPr>
        <p:txBody>
          <a:bodyPr wrap="square" lIns="0" tIns="0" rIns="0" bIns="0" rtlCol="0" anchor="t"/>
          <a:lstStyle/>
          <a:p>
            <a:pPr marL="0" indent="0" algn="ctr">
              <a:buNone/>
            </a:pPr>
            <a:r>
              <a:rPr lang="en-US" sz="1400" dirty="0">
                <a:solidFill>
                  <a:schemeClr val="tx1"/>
                </a:solidFill>
                <a:latin typeface="Calibri" pitchFamily="34" charset="0"/>
                <a:ea typeface="Calibri" pitchFamily="34" charset="-122"/>
                <a:cs typeface="Calibri" pitchFamily="34" charset="-120"/>
              </a:rPr>
              <a:t>Storytelling approach</a:t>
            </a:r>
            <a:endParaRPr lang="en-US" sz="1400" dirty="0"/>
          </a:p>
        </p:txBody>
      </p:sp>
      <p:sp>
        <p:nvSpPr>
          <p:cNvPr id="23" name="engine-step-7"/>
          <p:cNvSpPr/>
          <p:nvPr/>
        </p:nvSpPr>
        <p:spPr>
          <a:xfrm>
            <a:off x="9325108" y="2093976"/>
            <a:ext cx="475488" cy="475488"/>
          </a:xfrm>
          <a:prstGeom prst="ellipse">
            <a:avLst/>
          </a:prstGeom>
          <a:solidFill>
            <a:schemeClr val="tx2"/>
          </a:solidFill>
          <a:ln/>
        </p:spPr>
      </p:sp>
      <p:sp>
        <p:nvSpPr>
          <p:cNvPr id="24" name="Text 22"/>
          <p:cNvSpPr txBox="1"/>
          <p:nvPr/>
        </p:nvSpPr>
        <p:spPr>
          <a:xfrm>
            <a:off x="9325108" y="2093976"/>
            <a:ext cx="475488" cy="475488"/>
          </a:xfrm>
          <a:prstGeom prst="rect">
            <a:avLst/>
          </a:prstGeom>
          <a:noFill/>
          <a:ln/>
        </p:spPr>
        <p:txBody>
          <a:bodyPr wrap="square" lIns="0" tIns="0" rIns="0" bIns="0" rtlCol="0" anchor="ctr"/>
          <a:lstStyle/>
          <a:p>
            <a:pPr marL="0" indent="0" algn="ctr">
              <a:buNone/>
            </a:pPr>
            <a:r>
              <a:rPr lang="en-US" sz="1200" b="1" dirty="0">
                <a:solidFill>
                  <a:schemeClr val="bg1"/>
                </a:solidFill>
                <a:latin typeface="Consolas" pitchFamily="34" charset="0"/>
                <a:ea typeface="Consolas" pitchFamily="34" charset="-122"/>
                <a:cs typeface="Consolas" pitchFamily="34" charset="-120"/>
              </a:rPr>
              <a:t>07</a:t>
            </a:r>
            <a:endParaRPr lang="en-US" sz="1200" dirty="0"/>
          </a:p>
        </p:txBody>
      </p:sp>
      <p:sp>
        <p:nvSpPr>
          <p:cNvPr id="25" name="Text 23"/>
          <p:cNvSpPr txBox="1"/>
          <p:nvPr/>
        </p:nvSpPr>
        <p:spPr>
          <a:xfrm>
            <a:off x="8924315" y="2715768"/>
            <a:ext cx="1277074" cy="640080"/>
          </a:xfrm>
          <a:prstGeom prst="rect">
            <a:avLst/>
          </a:prstGeom>
          <a:noFill/>
          <a:ln/>
        </p:spPr>
        <p:txBody>
          <a:bodyPr wrap="square" lIns="0" tIns="0" rIns="0" bIns="0" rtlCol="0" anchor="t"/>
          <a:lstStyle/>
          <a:p>
            <a:pPr marL="0" indent="0" algn="ctr">
              <a:buNone/>
            </a:pPr>
            <a:r>
              <a:rPr lang="en-US" sz="1400" dirty="0">
                <a:solidFill>
                  <a:schemeClr val="tx1"/>
                </a:solidFill>
                <a:latin typeface="Calibri" pitchFamily="34" charset="0"/>
                <a:ea typeface="Calibri" pitchFamily="34" charset="-122"/>
                <a:cs typeface="Calibri" pitchFamily="34" charset="-120"/>
              </a:rPr>
              <a:t>Fit with #11 or #12</a:t>
            </a:r>
            <a:endParaRPr lang="en-US" sz="1400" dirty="0"/>
          </a:p>
        </p:txBody>
      </p:sp>
      <p:sp>
        <p:nvSpPr>
          <p:cNvPr id="26" name="engine-step-8"/>
          <p:cNvSpPr/>
          <p:nvPr/>
        </p:nvSpPr>
        <p:spPr>
          <a:xfrm>
            <a:off x="10711910" y="2093976"/>
            <a:ext cx="475488" cy="475488"/>
          </a:xfrm>
          <a:prstGeom prst="ellipse">
            <a:avLst/>
          </a:prstGeom>
          <a:solidFill>
            <a:schemeClr val="tx2"/>
          </a:solidFill>
          <a:ln/>
        </p:spPr>
      </p:sp>
      <p:sp>
        <p:nvSpPr>
          <p:cNvPr id="27" name="Text 25"/>
          <p:cNvSpPr txBox="1"/>
          <p:nvPr/>
        </p:nvSpPr>
        <p:spPr>
          <a:xfrm>
            <a:off x="10711910" y="2093976"/>
            <a:ext cx="475488" cy="475488"/>
          </a:xfrm>
          <a:prstGeom prst="rect">
            <a:avLst/>
          </a:prstGeom>
          <a:noFill/>
          <a:ln/>
        </p:spPr>
        <p:txBody>
          <a:bodyPr wrap="square" lIns="0" tIns="0" rIns="0" bIns="0" rtlCol="0" anchor="ctr"/>
          <a:lstStyle/>
          <a:p>
            <a:pPr marL="0" indent="0" algn="ctr">
              <a:buNone/>
            </a:pPr>
            <a:r>
              <a:rPr lang="en-US" sz="1200" b="1" dirty="0">
                <a:solidFill>
                  <a:schemeClr val="bg1"/>
                </a:solidFill>
                <a:latin typeface="Consolas" pitchFamily="34" charset="0"/>
                <a:ea typeface="Consolas" pitchFamily="34" charset="-122"/>
                <a:cs typeface="Consolas" pitchFamily="34" charset="-120"/>
              </a:rPr>
              <a:t>08</a:t>
            </a:r>
            <a:endParaRPr lang="en-US" sz="1200" dirty="0"/>
          </a:p>
        </p:txBody>
      </p:sp>
      <p:sp>
        <p:nvSpPr>
          <p:cNvPr id="28" name="Text 26"/>
          <p:cNvSpPr txBox="1"/>
          <p:nvPr/>
        </p:nvSpPr>
        <p:spPr>
          <a:xfrm>
            <a:off x="10311117" y="2715768"/>
            <a:ext cx="1277074" cy="640080"/>
          </a:xfrm>
          <a:prstGeom prst="rect">
            <a:avLst/>
          </a:prstGeom>
          <a:noFill/>
          <a:ln/>
        </p:spPr>
        <p:txBody>
          <a:bodyPr wrap="square" lIns="0" tIns="0" rIns="0" bIns="0" rtlCol="0" anchor="t"/>
          <a:lstStyle/>
          <a:p>
            <a:pPr marL="0" indent="0" algn="ctr">
              <a:buNone/>
            </a:pPr>
            <a:r>
              <a:rPr lang="en-US" sz="1400" dirty="0">
                <a:solidFill>
                  <a:schemeClr val="tx1"/>
                </a:solidFill>
                <a:latin typeface="Calibri" pitchFamily="34" charset="0"/>
                <a:ea typeface="Calibri" pitchFamily="34" charset="-122"/>
                <a:cs typeface="Calibri" pitchFamily="34" charset="-120"/>
              </a:rPr>
              <a:t>Visual QA checks</a:t>
            </a:r>
            <a:endParaRPr lang="en-US" sz="1400" dirty="0"/>
          </a:p>
        </p:txBody>
      </p:sp>
      <p:sp>
        <p:nvSpPr>
          <p:cNvPr id="29" name="hairline"/>
          <p:cNvSpPr/>
          <p:nvPr/>
        </p:nvSpPr>
        <p:spPr>
          <a:xfrm>
            <a:off x="548640" y="3749040"/>
            <a:ext cx="6400800" cy="0"/>
          </a:xfrm>
          <a:prstGeom prst="line">
            <a:avLst/>
          </a:prstGeom>
          <a:noFill/>
          <a:ln w="9525">
            <a:solidFill>
              <a:srgbClr val="DAD5C9"/>
            </a:solidFill>
            <a:prstDash val="solid"/>
          </a:ln>
        </p:spPr>
      </p:sp>
      <p:sp>
        <p:nvSpPr>
          <p:cNvPr id="30" name="Text 28"/>
          <p:cNvSpPr txBox="1"/>
          <p:nvPr/>
        </p:nvSpPr>
        <p:spPr>
          <a:xfrm>
            <a:off x="548640" y="3931920"/>
            <a:ext cx="6400800" cy="36576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Cross-department decks</a:t>
            </a:r>
            <a:endParaRPr lang="en-US" sz="1800" dirty="0"/>
          </a:p>
        </p:txBody>
      </p:sp>
      <p:sp>
        <p:nvSpPr>
          <p:cNvPr id="31" name="Text 29"/>
          <p:cNvSpPr txBox="1"/>
          <p:nvPr/>
        </p:nvSpPr>
        <p:spPr>
          <a:xfrm>
            <a:off x="548640" y="4343400"/>
            <a:ext cx="6309360" cy="82296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A group-level review uses the shared corporate palette. Department accents appear only where they mark ownership or separate business functions.</a:t>
            </a:r>
            <a:endParaRPr lang="en-US" sz="1500" dirty="0"/>
          </a:p>
        </p:txBody>
      </p:sp>
      <p:sp>
        <p:nvSpPr>
          <p:cNvPr id="32" name="dot"/>
          <p:cNvSpPr/>
          <p:nvPr/>
        </p:nvSpPr>
        <p:spPr>
          <a:xfrm>
            <a:off x="557784" y="5349240"/>
            <a:ext cx="182880" cy="182880"/>
          </a:xfrm>
          <a:prstGeom prst="ellipse">
            <a:avLst/>
          </a:prstGeom>
          <a:solidFill>
            <a:srgbClr val="38B8AD"/>
          </a:solidFill>
          <a:ln/>
        </p:spPr>
      </p:sp>
      <p:sp>
        <p:nvSpPr>
          <p:cNvPr id="33" name="Text 31"/>
          <p:cNvSpPr txBox="1"/>
          <p:nvPr/>
        </p:nvSpPr>
        <p:spPr>
          <a:xfrm>
            <a:off x="795528" y="5349240"/>
            <a:ext cx="548640" cy="201168"/>
          </a:xfrm>
          <a:prstGeom prst="rect">
            <a:avLst/>
          </a:prstGeom>
          <a:noFill/>
          <a:ln/>
        </p:spPr>
        <p:txBody>
          <a:bodyPr wrap="square" lIns="0" tIns="0" rIns="0" bIns="0" rtlCol="0" anchor="t"/>
          <a:lstStyle/>
          <a:p>
            <a:pPr marL="0" indent="0">
              <a:buNone/>
            </a:pPr>
            <a:r>
              <a:rPr lang="en-US" sz="1000" dirty="0">
                <a:solidFill>
                  <a:schemeClr val="accent3"/>
                </a:solidFill>
                <a:latin typeface="Consolas" pitchFamily="34" charset="0"/>
                <a:ea typeface="Consolas" pitchFamily="34" charset="-122"/>
                <a:cs typeface="Consolas" pitchFamily="34" charset="-120"/>
              </a:rPr>
              <a:t>CTS</a:t>
            </a:r>
            <a:endParaRPr lang="en-US" sz="1000" dirty="0"/>
          </a:p>
        </p:txBody>
      </p:sp>
      <p:sp>
        <p:nvSpPr>
          <p:cNvPr id="34" name="dot"/>
          <p:cNvSpPr/>
          <p:nvPr/>
        </p:nvSpPr>
        <p:spPr>
          <a:xfrm>
            <a:off x="1344168" y="5349240"/>
            <a:ext cx="182880" cy="182880"/>
          </a:xfrm>
          <a:prstGeom prst="ellipse">
            <a:avLst/>
          </a:prstGeom>
          <a:solidFill>
            <a:srgbClr val="4777B8"/>
          </a:solidFill>
          <a:ln/>
        </p:spPr>
      </p:sp>
      <p:sp>
        <p:nvSpPr>
          <p:cNvPr id="35" name="Text 33"/>
          <p:cNvSpPr txBox="1"/>
          <p:nvPr/>
        </p:nvSpPr>
        <p:spPr>
          <a:xfrm>
            <a:off x="1581912" y="5349240"/>
            <a:ext cx="548640" cy="201168"/>
          </a:xfrm>
          <a:prstGeom prst="rect">
            <a:avLst/>
          </a:prstGeom>
          <a:noFill/>
          <a:ln/>
        </p:spPr>
        <p:txBody>
          <a:bodyPr wrap="square" lIns="0" tIns="0" rIns="0" bIns="0" rtlCol="0" anchor="t"/>
          <a:lstStyle/>
          <a:p>
            <a:pPr marL="0" indent="0">
              <a:buNone/>
            </a:pPr>
            <a:r>
              <a:rPr lang="en-US" sz="1000" dirty="0">
                <a:solidFill>
                  <a:schemeClr val="accent3"/>
                </a:solidFill>
                <a:latin typeface="Consolas" pitchFamily="34" charset="0"/>
                <a:ea typeface="Consolas" pitchFamily="34" charset="-122"/>
                <a:cs typeface="Consolas" pitchFamily="34" charset="-120"/>
              </a:rPr>
              <a:t>PMO</a:t>
            </a:r>
            <a:endParaRPr lang="en-US" sz="1000" dirty="0"/>
          </a:p>
        </p:txBody>
      </p:sp>
      <p:sp>
        <p:nvSpPr>
          <p:cNvPr id="36" name="dot"/>
          <p:cNvSpPr/>
          <p:nvPr/>
        </p:nvSpPr>
        <p:spPr>
          <a:xfrm>
            <a:off x="2130552" y="5349240"/>
            <a:ext cx="182880" cy="182880"/>
          </a:xfrm>
          <a:prstGeom prst="ellipse">
            <a:avLst/>
          </a:prstGeom>
          <a:solidFill>
            <a:srgbClr val="D97845"/>
          </a:solidFill>
          <a:ln/>
        </p:spPr>
      </p:sp>
      <p:sp>
        <p:nvSpPr>
          <p:cNvPr id="37" name="Text 35"/>
          <p:cNvSpPr txBox="1"/>
          <p:nvPr/>
        </p:nvSpPr>
        <p:spPr>
          <a:xfrm>
            <a:off x="2368296" y="5349240"/>
            <a:ext cx="548640" cy="201168"/>
          </a:xfrm>
          <a:prstGeom prst="rect">
            <a:avLst/>
          </a:prstGeom>
          <a:noFill/>
          <a:ln/>
        </p:spPr>
        <p:txBody>
          <a:bodyPr wrap="square" lIns="0" tIns="0" rIns="0" bIns="0" rtlCol="0" anchor="t"/>
          <a:lstStyle/>
          <a:p>
            <a:pPr marL="0" indent="0">
              <a:buNone/>
            </a:pPr>
            <a:r>
              <a:rPr lang="en-US" sz="1000" dirty="0">
                <a:solidFill>
                  <a:schemeClr val="accent3"/>
                </a:solidFill>
                <a:latin typeface="Consolas" pitchFamily="34" charset="0"/>
                <a:ea typeface="Consolas" pitchFamily="34" charset="-122"/>
                <a:cs typeface="Consolas" pitchFamily="34" charset="-120"/>
              </a:rPr>
              <a:t>S&amp;M</a:t>
            </a:r>
            <a:endParaRPr lang="en-US" sz="1000" dirty="0"/>
          </a:p>
        </p:txBody>
      </p:sp>
      <p:sp>
        <p:nvSpPr>
          <p:cNvPr id="38" name="dot"/>
          <p:cNvSpPr/>
          <p:nvPr/>
        </p:nvSpPr>
        <p:spPr>
          <a:xfrm>
            <a:off x="2916936" y="5349240"/>
            <a:ext cx="182880" cy="182880"/>
          </a:xfrm>
          <a:prstGeom prst="ellipse">
            <a:avLst/>
          </a:prstGeom>
          <a:solidFill>
            <a:srgbClr val="8BAE9B"/>
          </a:solidFill>
          <a:ln/>
        </p:spPr>
      </p:sp>
      <p:sp>
        <p:nvSpPr>
          <p:cNvPr id="39" name="Text 37"/>
          <p:cNvSpPr txBox="1"/>
          <p:nvPr/>
        </p:nvSpPr>
        <p:spPr>
          <a:xfrm>
            <a:off x="3154680" y="5349240"/>
            <a:ext cx="548640" cy="201168"/>
          </a:xfrm>
          <a:prstGeom prst="rect">
            <a:avLst/>
          </a:prstGeom>
          <a:noFill/>
          <a:ln/>
        </p:spPr>
        <p:txBody>
          <a:bodyPr wrap="square" lIns="0" tIns="0" rIns="0" bIns="0" rtlCol="0" anchor="t"/>
          <a:lstStyle/>
          <a:p>
            <a:pPr marL="0" indent="0">
              <a:buNone/>
            </a:pPr>
            <a:r>
              <a:rPr lang="en-US" sz="1000" dirty="0">
                <a:solidFill>
                  <a:schemeClr val="accent3"/>
                </a:solidFill>
                <a:latin typeface="Consolas" pitchFamily="34" charset="0"/>
                <a:ea typeface="Consolas" pitchFamily="34" charset="-122"/>
                <a:cs typeface="Consolas" pitchFamily="34" charset="-120"/>
              </a:rPr>
              <a:t>HR/GA</a:t>
            </a:r>
            <a:endParaRPr lang="en-US" sz="1000" dirty="0"/>
          </a:p>
        </p:txBody>
      </p:sp>
      <p:sp>
        <p:nvSpPr>
          <p:cNvPr id="40" name="dot"/>
          <p:cNvSpPr/>
          <p:nvPr/>
        </p:nvSpPr>
        <p:spPr>
          <a:xfrm>
            <a:off x="3703320" y="5349240"/>
            <a:ext cx="182880" cy="182880"/>
          </a:xfrm>
          <a:prstGeom prst="ellipse">
            <a:avLst/>
          </a:prstGeom>
          <a:solidFill>
            <a:srgbClr val="B79A61"/>
          </a:solidFill>
          <a:ln/>
        </p:spPr>
      </p:sp>
      <p:sp>
        <p:nvSpPr>
          <p:cNvPr id="41" name="Text 39"/>
          <p:cNvSpPr txBox="1"/>
          <p:nvPr/>
        </p:nvSpPr>
        <p:spPr>
          <a:xfrm>
            <a:off x="3941064" y="5349240"/>
            <a:ext cx="548640" cy="201168"/>
          </a:xfrm>
          <a:prstGeom prst="rect">
            <a:avLst/>
          </a:prstGeom>
          <a:noFill/>
          <a:ln/>
        </p:spPr>
        <p:txBody>
          <a:bodyPr wrap="square" lIns="0" tIns="0" rIns="0" bIns="0" rtlCol="0" anchor="t"/>
          <a:lstStyle/>
          <a:p>
            <a:pPr marL="0" indent="0">
              <a:buNone/>
            </a:pPr>
            <a:r>
              <a:rPr lang="en-US" sz="1000" dirty="0">
                <a:solidFill>
                  <a:schemeClr val="accent3"/>
                </a:solidFill>
                <a:latin typeface="Consolas" pitchFamily="34" charset="0"/>
                <a:ea typeface="Consolas" pitchFamily="34" charset="-122"/>
                <a:cs typeface="Consolas" pitchFamily="34" charset="-120"/>
              </a:rPr>
              <a:t>FIN</a:t>
            </a:r>
            <a:endParaRPr lang="en-US" sz="1000" dirty="0"/>
          </a:p>
        </p:txBody>
      </p:sp>
      <p:sp>
        <p:nvSpPr>
          <p:cNvPr id="42" name="dot"/>
          <p:cNvSpPr/>
          <p:nvPr/>
        </p:nvSpPr>
        <p:spPr>
          <a:xfrm>
            <a:off x="4489704" y="5349240"/>
            <a:ext cx="182880" cy="182880"/>
          </a:xfrm>
          <a:prstGeom prst="ellipse">
            <a:avLst/>
          </a:prstGeom>
          <a:solidFill>
            <a:srgbClr val="B17B65"/>
          </a:solidFill>
          <a:ln/>
        </p:spPr>
      </p:sp>
      <p:sp>
        <p:nvSpPr>
          <p:cNvPr id="43" name="Text 41"/>
          <p:cNvSpPr txBox="1"/>
          <p:nvPr/>
        </p:nvSpPr>
        <p:spPr>
          <a:xfrm>
            <a:off x="4727448" y="5349240"/>
            <a:ext cx="548640" cy="201168"/>
          </a:xfrm>
          <a:prstGeom prst="rect">
            <a:avLst/>
          </a:prstGeom>
          <a:noFill/>
          <a:ln/>
        </p:spPr>
        <p:txBody>
          <a:bodyPr wrap="square" lIns="0" tIns="0" rIns="0" bIns="0" rtlCol="0" anchor="t"/>
          <a:lstStyle/>
          <a:p>
            <a:pPr marL="0" indent="0">
              <a:buNone/>
            </a:pPr>
            <a:r>
              <a:rPr lang="en-US" sz="1000" dirty="0">
                <a:solidFill>
                  <a:schemeClr val="accent3"/>
                </a:solidFill>
                <a:latin typeface="Consolas" pitchFamily="34" charset="0"/>
                <a:ea typeface="Consolas" pitchFamily="34" charset="-122"/>
                <a:cs typeface="Consolas" pitchFamily="34" charset="-120"/>
              </a:rPr>
              <a:t>CON</a:t>
            </a:r>
            <a:endParaRPr lang="en-US" sz="1000" dirty="0"/>
          </a:p>
        </p:txBody>
      </p:sp>
      <p:sp>
        <p:nvSpPr>
          <p:cNvPr id="44" name="dot"/>
          <p:cNvSpPr/>
          <p:nvPr/>
        </p:nvSpPr>
        <p:spPr>
          <a:xfrm>
            <a:off x="5276088" y="5349240"/>
            <a:ext cx="182880" cy="182880"/>
          </a:xfrm>
          <a:prstGeom prst="ellipse">
            <a:avLst/>
          </a:prstGeom>
          <a:solidFill>
            <a:srgbClr val="36A9A1"/>
          </a:solidFill>
          <a:ln/>
        </p:spPr>
      </p:sp>
      <p:sp>
        <p:nvSpPr>
          <p:cNvPr id="45" name="Text 43"/>
          <p:cNvSpPr txBox="1"/>
          <p:nvPr/>
        </p:nvSpPr>
        <p:spPr>
          <a:xfrm>
            <a:off x="5513832" y="5349240"/>
            <a:ext cx="548640" cy="201168"/>
          </a:xfrm>
          <a:prstGeom prst="rect">
            <a:avLst/>
          </a:prstGeom>
          <a:noFill/>
          <a:ln/>
        </p:spPr>
        <p:txBody>
          <a:bodyPr wrap="square" lIns="0" tIns="0" rIns="0" bIns="0" rtlCol="0" anchor="t"/>
          <a:lstStyle/>
          <a:p>
            <a:pPr marL="0" indent="0">
              <a:buNone/>
            </a:pPr>
            <a:r>
              <a:rPr lang="en-US" sz="1000" dirty="0">
                <a:solidFill>
                  <a:schemeClr val="accent3"/>
                </a:solidFill>
                <a:latin typeface="Consolas" pitchFamily="34" charset="0"/>
                <a:ea typeface="Consolas" pitchFamily="34" charset="-122"/>
                <a:cs typeface="Consolas" pitchFamily="34" charset="-120"/>
              </a:rPr>
              <a:t>BD</a:t>
            </a:r>
            <a:endParaRPr lang="en-US" sz="1000" dirty="0"/>
          </a:p>
        </p:txBody>
      </p:sp>
      <p:sp>
        <p:nvSpPr>
          <p:cNvPr id="46" name="dot"/>
          <p:cNvSpPr/>
          <p:nvPr/>
        </p:nvSpPr>
        <p:spPr>
          <a:xfrm>
            <a:off x="6062472" y="5349240"/>
            <a:ext cx="182880" cy="182880"/>
          </a:xfrm>
          <a:prstGeom prst="ellipse">
            <a:avLst/>
          </a:prstGeom>
          <a:solidFill>
            <a:srgbClr val="A6A06A"/>
          </a:solidFill>
          <a:ln/>
        </p:spPr>
      </p:sp>
      <p:sp>
        <p:nvSpPr>
          <p:cNvPr id="47" name="Text 45"/>
          <p:cNvSpPr txBox="1"/>
          <p:nvPr/>
        </p:nvSpPr>
        <p:spPr>
          <a:xfrm>
            <a:off x="6300216" y="5349240"/>
            <a:ext cx="548640" cy="201168"/>
          </a:xfrm>
          <a:prstGeom prst="rect">
            <a:avLst/>
          </a:prstGeom>
          <a:noFill/>
          <a:ln/>
        </p:spPr>
        <p:txBody>
          <a:bodyPr wrap="square" lIns="0" tIns="0" rIns="0" bIns="0" rtlCol="0" anchor="t"/>
          <a:lstStyle/>
          <a:p>
            <a:pPr marL="0" indent="0">
              <a:buNone/>
            </a:pPr>
            <a:r>
              <a:rPr lang="en-US" sz="1000" dirty="0">
                <a:solidFill>
                  <a:schemeClr val="accent3"/>
                </a:solidFill>
                <a:latin typeface="Consolas" pitchFamily="34" charset="0"/>
                <a:ea typeface="Consolas" pitchFamily="34" charset="-122"/>
                <a:cs typeface="Consolas" pitchFamily="34" charset="-120"/>
              </a:rPr>
              <a:t>PROC</a:t>
            </a:r>
            <a:endParaRPr lang="en-US" sz="1000" dirty="0"/>
          </a:p>
        </p:txBody>
      </p:sp>
      <p:sp>
        <p:nvSpPr>
          <p:cNvPr id="48" name="safeguard-panel"/>
          <p:cNvSpPr/>
          <p:nvPr/>
        </p:nvSpPr>
        <p:spPr>
          <a:xfrm>
            <a:off x="7452360" y="3749040"/>
            <a:ext cx="4190695" cy="2057400"/>
          </a:xfrm>
          <a:prstGeom prst="rect">
            <a:avLst/>
          </a:prstGeom>
          <a:solidFill>
            <a:schemeClr val="tx2"/>
          </a:solidFill>
          <a:ln/>
        </p:spPr>
      </p:sp>
      <p:sp>
        <p:nvSpPr>
          <p:cNvPr id="49" name="Text 47"/>
          <p:cNvSpPr txBox="1"/>
          <p:nvPr/>
        </p:nvSpPr>
        <p:spPr>
          <a:xfrm>
            <a:off x="7726680" y="3977640"/>
            <a:ext cx="3657600" cy="274320"/>
          </a:xfrm>
          <a:prstGeom prst="rect">
            <a:avLst/>
          </a:prstGeom>
          <a:noFill/>
          <a:ln/>
        </p:spPr>
        <p:txBody>
          <a:bodyPr wrap="square" lIns="0" tIns="0" rIns="0" bIns="0" rtlCol="0" anchor="t"/>
          <a:lstStyle/>
          <a:p>
            <a:pPr marL="0" indent="0">
              <a:buNone/>
            </a:pPr>
            <a:r>
              <a:rPr lang="en-US" sz="1100" kern="0" spc="100" dirty="0">
                <a:solidFill>
                  <a:schemeClr val="accent2"/>
                </a:solidFill>
                <a:latin typeface="Consolas" pitchFamily="34" charset="0"/>
                <a:ea typeface="Consolas" pitchFamily="34" charset="-122"/>
                <a:cs typeface="Consolas" pitchFamily="34" charset="-120"/>
              </a:rPr>
              <a:t>SAFEGUARD</a:t>
            </a:r>
            <a:endParaRPr lang="en-US" sz="1100" dirty="0"/>
          </a:p>
        </p:txBody>
      </p:sp>
      <p:sp>
        <p:nvSpPr>
          <p:cNvPr id="50" name="Text 48"/>
          <p:cNvSpPr txBox="1"/>
          <p:nvPr/>
        </p:nvSpPr>
        <p:spPr>
          <a:xfrm>
            <a:off x="7726680" y="4343400"/>
            <a:ext cx="3657600" cy="1325880"/>
          </a:xfrm>
          <a:prstGeom prst="rect">
            <a:avLst/>
          </a:prstGeom>
          <a:noFill/>
          <a:ln/>
        </p:spPr>
        <p:txBody>
          <a:bodyPr wrap="square" lIns="0" tIns="0" rIns="0" bIns="0" rtlCol="0" anchor="t"/>
          <a:lstStyle/>
          <a:p>
            <a:pPr marL="0" indent="0">
              <a:buNone/>
            </a:pPr>
            <a:r>
              <a:rPr lang="en-US" sz="1600" dirty="0">
                <a:solidFill>
                  <a:schemeClr val="bg2"/>
                </a:solidFill>
                <a:latin typeface="Calibri" pitchFamily="34" charset="0"/>
                <a:ea typeface="Calibri" pitchFamily="34" charset="-122"/>
                <a:cs typeface="Calibri" pitchFamily="34" charset="-120"/>
              </a:rPr>
              <a:t>The departmental palettes are proposed identities, not verified Lintas brand standards. Existing corporate guidelines take precedence.</a:t>
            </a:r>
            <a:endParaRPr lang="en-US" sz="1600" dirty="0"/>
          </a:p>
        </p:txBody>
      </p:sp>
      <p:sp>
        <p:nvSpPr>
          <p:cNvPr id="51" name="Slide Number Placeholder 0"/>
          <p:cNvSpPr>
            <a:spLocks noGrp="1"/>
          </p:cNvSpPr>
          <p:nvPr>
            <p:ph type="sldNum" sz="quarter" idx="4294967295"/>
          </p:nvPr>
        </p:nvSpPr>
        <p:spPr>
          <a:xfrm>
            <a:off x="10911535" y="6382512"/>
            <a:ext cx="73152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t"/>
          <a:lstStyle/>
          <a:p>
            <a:pPr marL="0" indent="0">
              <a:buNone/>
            </a:pPr>
            <a:r>
              <a:rPr lang="en-US" sz="1000" kern="0" spc="100" dirty="0">
                <a:solidFill>
                  <a:schemeClr val="accent3"/>
                </a:solidFill>
                <a:latin typeface="Consolas" pitchFamily="34" charset="0"/>
                <a:ea typeface="Consolas" pitchFamily="34" charset="-122"/>
                <a:cs typeface="Consolas" pitchFamily="34" charset="-120"/>
              </a:rPr>
              <a:t>08 — RECOMMENDATION</a:t>
            </a:r>
            <a:endParaRPr lang="en-US" sz="1000" dirty="0"/>
          </a:p>
        </p:txBody>
      </p:sp>
      <p:sp>
        <p:nvSpPr>
          <p:cNvPr id="3" name="Text 0"/>
          <p:cNvSpPr>
            <a:spLocks noGrp="1"/>
          </p:cNvSpPr>
          <p:nvPr>
            <p:ph type="title" idx="101" hasCustomPrompt="1"/>
          </p:nvPr>
        </p:nvSpPr>
        <p:spPr>
          <a:xfrm>
            <a:off x="548640" y="749808"/>
            <a:ext cx="10607040" cy="1097280"/>
          </a:xfrm>
          <a:prstGeom prst="rect">
            <a:avLst/>
          </a:prstGeom>
          <a:noFill/>
          <a:ln/>
        </p:spPr>
        <p:txBody>
          <a:bodyPr wrap="square" lIns="0" tIns="0" rIns="0" bIns="0" rtlCol="0" anchor="t"/>
          <a:lstStyle/>
          <a:p>
            <a:pPr marL="0" indent="0" algn="l">
              <a:buNone/>
            </a:pPr>
            <a:r>
              <a:rPr lang="en-US" sz="3000" b="1" dirty="0">
                <a:solidFill>
                  <a:schemeClr val="tx2"/>
                </a:solidFill>
              </a:rPr>
              <a:t>Keep #8 as the reference; position #11 and #12 as the departmental systems</a:t>
            </a:r>
            <a:endParaRPr lang="en-US" sz="3000" dirty="0"/>
          </a:p>
        </p:txBody>
      </p:sp>
      <p:sp>
        <p:nvSpPr>
          <p:cNvPr id="4" name="tier-8"/>
          <p:cNvSpPr/>
          <p:nvPr/>
        </p:nvSpPr>
        <p:spPr>
          <a:xfrm>
            <a:off x="3809848" y="2103120"/>
            <a:ext cx="4572000" cy="960120"/>
          </a:xfrm>
          <a:prstGeom prst="rect">
            <a:avLst/>
          </a:prstGeom>
          <a:solidFill>
            <a:schemeClr val="tx2"/>
          </a:solidFill>
          <a:ln/>
        </p:spPr>
      </p:sp>
      <p:sp>
        <p:nvSpPr>
          <p:cNvPr id="5" name="Text 3"/>
          <p:cNvSpPr txBox="1"/>
          <p:nvPr/>
        </p:nvSpPr>
        <p:spPr>
          <a:xfrm>
            <a:off x="4084168" y="2240280"/>
            <a:ext cx="4023360" cy="256032"/>
          </a:xfrm>
          <a:prstGeom prst="rect">
            <a:avLst/>
          </a:prstGeom>
          <a:noFill/>
          <a:ln/>
        </p:spPr>
        <p:txBody>
          <a:bodyPr wrap="square" lIns="0" tIns="0" rIns="0" bIns="0" rtlCol="0" anchor="t"/>
          <a:lstStyle/>
          <a:p>
            <a:pPr marL="0" indent="0">
              <a:buNone/>
            </a:pPr>
            <a:r>
              <a:rPr lang="en-US" sz="1100" kern="0" spc="100" dirty="0">
                <a:solidFill>
                  <a:schemeClr val="accent2"/>
                </a:solidFill>
                <a:latin typeface="Consolas" pitchFamily="34" charset="0"/>
                <a:ea typeface="Consolas" pitchFamily="34" charset="-122"/>
                <a:cs typeface="Consolas" pitchFamily="34" charset="-120"/>
              </a:rPr>
              <a:t>VARIANT #8  ·  RETAINED</a:t>
            </a:r>
            <a:endParaRPr lang="en-US" sz="1100" dirty="0"/>
          </a:p>
        </p:txBody>
      </p:sp>
      <p:sp>
        <p:nvSpPr>
          <p:cNvPr id="6" name="Text 4"/>
          <p:cNvSpPr txBox="1"/>
          <p:nvPr/>
        </p:nvSpPr>
        <p:spPr>
          <a:xfrm>
            <a:off x="4084168" y="2542032"/>
            <a:ext cx="4023360" cy="384048"/>
          </a:xfrm>
          <a:prstGeom prst="rect">
            <a:avLst/>
          </a:prstGeom>
          <a:noFill/>
          <a:ln/>
        </p:spPr>
        <p:txBody>
          <a:bodyPr wrap="square" lIns="0" tIns="0" rIns="0" bIns="0" rtlCol="0" anchor="t"/>
          <a:lstStyle/>
          <a:p>
            <a:pPr marL="0" indent="0">
              <a:buNone/>
            </a:pPr>
            <a:r>
              <a:rPr lang="en-US" sz="2000" b="1" dirty="0">
                <a:solidFill>
                  <a:schemeClr val="bg2"/>
                </a:solidFill>
                <a:latin typeface="Calibri" pitchFamily="34" charset="0"/>
                <a:ea typeface="Calibri" pitchFamily="34" charset="-122"/>
                <a:cs typeface="Calibri" pitchFamily="34" charset="-120"/>
              </a:rPr>
              <a:t>Corporate Executive Reference</a:t>
            </a:r>
            <a:endParaRPr lang="en-US" sz="2000" dirty="0"/>
          </a:p>
        </p:txBody>
      </p:sp>
      <p:sp>
        <p:nvSpPr>
          <p:cNvPr id="7" name="segment"/>
          <p:cNvSpPr/>
          <p:nvPr/>
        </p:nvSpPr>
        <p:spPr>
          <a:xfrm>
            <a:off x="6095848" y="3063240"/>
            <a:ext cx="914" cy="365760"/>
          </a:xfrm>
          <a:prstGeom prst="line">
            <a:avLst/>
          </a:prstGeom>
          <a:noFill/>
          <a:ln w="12700">
            <a:solidFill>
              <a:srgbClr val="5E6670"/>
            </a:solidFill>
            <a:prstDash val="solid"/>
          </a:ln>
        </p:spPr>
      </p:sp>
      <p:sp>
        <p:nvSpPr>
          <p:cNvPr id="8" name="tree-connector"/>
          <p:cNvSpPr/>
          <p:nvPr/>
        </p:nvSpPr>
        <p:spPr>
          <a:xfrm>
            <a:off x="3291840" y="3429000"/>
            <a:ext cx="5608015" cy="0"/>
          </a:xfrm>
          <a:prstGeom prst="line">
            <a:avLst/>
          </a:prstGeom>
          <a:noFill/>
          <a:ln w="12700">
            <a:solidFill>
              <a:srgbClr val="5E6670"/>
            </a:solidFill>
            <a:prstDash val="solid"/>
          </a:ln>
        </p:spPr>
      </p:sp>
      <p:sp>
        <p:nvSpPr>
          <p:cNvPr id="9" name="segment"/>
          <p:cNvSpPr/>
          <p:nvPr/>
        </p:nvSpPr>
        <p:spPr>
          <a:xfrm>
            <a:off x="3291840" y="3429000"/>
            <a:ext cx="914" cy="365760"/>
          </a:xfrm>
          <a:prstGeom prst="line">
            <a:avLst/>
          </a:prstGeom>
          <a:noFill/>
          <a:ln w="12700">
            <a:solidFill>
              <a:srgbClr val="5E6670"/>
            </a:solidFill>
            <a:prstDash val="solid"/>
          </a:ln>
        </p:spPr>
      </p:sp>
      <p:sp>
        <p:nvSpPr>
          <p:cNvPr id="10" name="segment"/>
          <p:cNvSpPr/>
          <p:nvPr/>
        </p:nvSpPr>
        <p:spPr>
          <a:xfrm>
            <a:off x="8899855" y="3429000"/>
            <a:ext cx="914" cy="365760"/>
          </a:xfrm>
          <a:prstGeom prst="line">
            <a:avLst/>
          </a:prstGeom>
          <a:noFill/>
          <a:ln w="12700">
            <a:solidFill>
              <a:srgbClr val="5E6670"/>
            </a:solidFill>
            <a:prstDash val="solid"/>
          </a:ln>
        </p:spPr>
      </p:sp>
      <p:sp>
        <p:nvSpPr>
          <p:cNvPr id="11" name="tier-box"/>
          <p:cNvSpPr/>
          <p:nvPr/>
        </p:nvSpPr>
        <p:spPr>
          <a:xfrm>
            <a:off x="548640" y="3794760"/>
            <a:ext cx="5486400" cy="1325880"/>
          </a:xfrm>
          <a:prstGeom prst="rect">
            <a:avLst/>
          </a:prstGeom>
          <a:solidFill>
            <a:schemeClr val="bg1"/>
          </a:solidFill>
          <a:ln w="9525">
            <a:solidFill>
              <a:srgbClr val="DAD5C9"/>
            </a:solidFill>
            <a:prstDash val="solid"/>
          </a:ln>
        </p:spPr>
      </p:sp>
      <p:sp>
        <p:nvSpPr>
          <p:cNvPr id="12" name="Text 10"/>
          <p:cNvSpPr txBox="1"/>
          <p:nvPr/>
        </p:nvSpPr>
        <p:spPr>
          <a:xfrm>
            <a:off x="822960" y="3977640"/>
            <a:ext cx="4937760" cy="256032"/>
          </a:xfrm>
          <a:prstGeom prst="rect">
            <a:avLst/>
          </a:prstGeom>
          <a:noFill/>
          <a:ln/>
        </p:spPr>
        <p:txBody>
          <a:bodyPr wrap="square" lIns="0" tIns="0" rIns="0" bIns="0" rtlCol="0" anchor="t"/>
          <a:lstStyle/>
          <a:p>
            <a:pPr marL="0" indent="0">
              <a:buNone/>
            </a:pPr>
            <a:r>
              <a:rPr lang="en-US" sz="1100" kern="0" spc="100" dirty="0">
                <a:solidFill>
                  <a:schemeClr val="accent3"/>
                </a:solidFill>
                <a:latin typeface="Consolas" pitchFamily="34" charset="0"/>
                <a:ea typeface="Consolas" pitchFamily="34" charset="-122"/>
                <a:cs typeface="Consolas" pitchFamily="34" charset="-120"/>
              </a:rPr>
              <a:t>VARIANT #11</a:t>
            </a:r>
            <a:endParaRPr lang="en-US" sz="1100" dirty="0"/>
          </a:p>
        </p:txBody>
      </p:sp>
      <p:sp>
        <p:nvSpPr>
          <p:cNvPr id="13" name="Text 11"/>
          <p:cNvSpPr txBox="1"/>
          <p:nvPr/>
        </p:nvSpPr>
        <p:spPr>
          <a:xfrm>
            <a:off x="822960" y="4251960"/>
            <a:ext cx="493776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Departmental Executive Editorial System</a:t>
            </a:r>
            <a:endParaRPr lang="en-US" sz="1900" dirty="0"/>
          </a:p>
        </p:txBody>
      </p:sp>
      <p:sp>
        <p:nvSpPr>
          <p:cNvPr id="14" name="Text 12"/>
          <p:cNvSpPr txBox="1"/>
          <p:nvPr/>
        </p:nvSpPr>
        <p:spPr>
          <a:xfrm>
            <a:off x="822960" y="4645152"/>
            <a:ext cx="4937760" cy="3200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Boardroom publications, one per department</a:t>
            </a:r>
            <a:endParaRPr lang="en-US" sz="1400" dirty="0"/>
          </a:p>
        </p:txBody>
      </p:sp>
      <p:sp>
        <p:nvSpPr>
          <p:cNvPr id="15" name="dot"/>
          <p:cNvSpPr/>
          <p:nvPr/>
        </p:nvSpPr>
        <p:spPr>
          <a:xfrm>
            <a:off x="832104" y="5349240"/>
            <a:ext cx="182880" cy="182880"/>
          </a:xfrm>
          <a:prstGeom prst="ellipse">
            <a:avLst/>
          </a:prstGeom>
          <a:solidFill>
            <a:srgbClr val="38B8AD"/>
          </a:solidFill>
          <a:ln/>
        </p:spPr>
      </p:sp>
      <p:sp>
        <p:nvSpPr>
          <p:cNvPr id="16" name="dot"/>
          <p:cNvSpPr/>
          <p:nvPr/>
        </p:nvSpPr>
        <p:spPr>
          <a:xfrm>
            <a:off x="1161288" y="5349240"/>
            <a:ext cx="182880" cy="182880"/>
          </a:xfrm>
          <a:prstGeom prst="ellipse">
            <a:avLst/>
          </a:prstGeom>
          <a:solidFill>
            <a:srgbClr val="4777B8"/>
          </a:solidFill>
          <a:ln/>
        </p:spPr>
      </p:sp>
      <p:sp>
        <p:nvSpPr>
          <p:cNvPr id="17" name="dot"/>
          <p:cNvSpPr/>
          <p:nvPr/>
        </p:nvSpPr>
        <p:spPr>
          <a:xfrm>
            <a:off x="1490472" y="5349240"/>
            <a:ext cx="182880" cy="182880"/>
          </a:xfrm>
          <a:prstGeom prst="ellipse">
            <a:avLst/>
          </a:prstGeom>
          <a:solidFill>
            <a:srgbClr val="D97845"/>
          </a:solidFill>
          <a:ln/>
        </p:spPr>
      </p:sp>
      <p:sp>
        <p:nvSpPr>
          <p:cNvPr id="18" name="dot"/>
          <p:cNvSpPr/>
          <p:nvPr/>
        </p:nvSpPr>
        <p:spPr>
          <a:xfrm>
            <a:off x="1819656" y="5349240"/>
            <a:ext cx="182880" cy="182880"/>
          </a:xfrm>
          <a:prstGeom prst="ellipse">
            <a:avLst/>
          </a:prstGeom>
          <a:solidFill>
            <a:srgbClr val="8BAE9B"/>
          </a:solidFill>
          <a:ln/>
        </p:spPr>
      </p:sp>
      <p:sp>
        <p:nvSpPr>
          <p:cNvPr id="19" name="dot"/>
          <p:cNvSpPr/>
          <p:nvPr/>
        </p:nvSpPr>
        <p:spPr>
          <a:xfrm>
            <a:off x="2148840" y="5349240"/>
            <a:ext cx="182880" cy="182880"/>
          </a:xfrm>
          <a:prstGeom prst="ellipse">
            <a:avLst/>
          </a:prstGeom>
          <a:solidFill>
            <a:srgbClr val="B79A61"/>
          </a:solidFill>
          <a:ln/>
        </p:spPr>
      </p:sp>
      <p:sp>
        <p:nvSpPr>
          <p:cNvPr id="20" name="dot"/>
          <p:cNvSpPr/>
          <p:nvPr/>
        </p:nvSpPr>
        <p:spPr>
          <a:xfrm>
            <a:off x="2478024" y="5349240"/>
            <a:ext cx="182880" cy="182880"/>
          </a:xfrm>
          <a:prstGeom prst="ellipse">
            <a:avLst/>
          </a:prstGeom>
          <a:solidFill>
            <a:srgbClr val="B17B65"/>
          </a:solidFill>
          <a:ln/>
        </p:spPr>
      </p:sp>
      <p:sp>
        <p:nvSpPr>
          <p:cNvPr id="21" name="dot"/>
          <p:cNvSpPr/>
          <p:nvPr/>
        </p:nvSpPr>
        <p:spPr>
          <a:xfrm>
            <a:off x="2807208" y="5349240"/>
            <a:ext cx="182880" cy="182880"/>
          </a:xfrm>
          <a:prstGeom prst="ellipse">
            <a:avLst/>
          </a:prstGeom>
          <a:solidFill>
            <a:srgbClr val="36A9A1"/>
          </a:solidFill>
          <a:ln/>
        </p:spPr>
      </p:sp>
      <p:sp>
        <p:nvSpPr>
          <p:cNvPr id="22" name="dot"/>
          <p:cNvSpPr/>
          <p:nvPr/>
        </p:nvSpPr>
        <p:spPr>
          <a:xfrm>
            <a:off x="3136392" y="5349240"/>
            <a:ext cx="182880" cy="182880"/>
          </a:xfrm>
          <a:prstGeom prst="ellipse">
            <a:avLst/>
          </a:prstGeom>
          <a:solidFill>
            <a:srgbClr val="A6A06A"/>
          </a:solidFill>
          <a:ln/>
        </p:spPr>
      </p:sp>
      <p:sp>
        <p:nvSpPr>
          <p:cNvPr id="23" name="Text 21"/>
          <p:cNvSpPr txBox="1"/>
          <p:nvPr/>
        </p:nvSpPr>
        <p:spPr>
          <a:xfrm>
            <a:off x="3657600" y="5330952"/>
            <a:ext cx="2377440" cy="228600"/>
          </a:xfrm>
          <a:prstGeom prst="rect">
            <a:avLst/>
          </a:prstGeom>
          <a:noFill/>
          <a:ln/>
        </p:spPr>
        <p:txBody>
          <a:bodyPr wrap="square" lIns="0" tIns="0" rIns="0" bIns="0" rtlCol="0" anchor="t"/>
          <a:lstStyle/>
          <a:p>
            <a:pPr marL="0" indent="0">
              <a:buNone/>
            </a:pPr>
            <a:r>
              <a:rPr lang="en-US" sz="1100" dirty="0">
                <a:solidFill>
                  <a:schemeClr val="accent3"/>
                </a:solidFill>
                <a:latin typeface="Consolas" pitchFamily="34" charset="0"/>
                <a:ea typeface="Consolas" pitchFamily="34" charset="-122"/>
                <a:cs typeface="Consolas" pitchFamily="34" charset="-120"/>
              </a:rPr>
              <a:t>× 8 departmental identities</a:t>
            </a:r>
            <a:endParaRPr lang="en-US" sz="1100" dirty="0"/>
          </a:p>
        </p:txBody>
      </p:sp>
      <p:sp>
        <p:nvSpPr>
          <p:cNvPr id="24" name="tier-box"/>
          <p:cNvSpPr/>
          <p:nvPr/>
        </p:nvSpPr>
        <p:spPr>
          <a:xfrm>
            <a:off x="6156655" y="3794760"/>
            <a:ext cx="5486400" cy="1325880"/>
          </a:xfrm>
          <a:prstGeom prst="rect">
            <a:avLst/>
          </a:prstGeom>
          <a:solidFill>
            <a:schemeClr val="bg1"/>
          </a:solidFill>
          <a:ln w="9525">
            <a:solidFill>
              <a:srgbClr val="DAD5C9"/>
            </a:solidFill>
            <a:prstDash val="solid"/>
          </a:ln>
        </p:spPr>
      </p:sp>
      <p:sp>
        <p:nvSpPr>
          <p:cNvPr id="25" name="Text 23"/>
          <p:cNvSpPr txBox="1"/>
          <p:nvPr/>
        </p:nvSpPr>
        <p:spPr>
          <a:xfrm>
            <a:off x="6430975" y="3977640"/>
            <a:ext cx="4937760" cy="256032"/>
          </a:xfrm>
          <a:prstGeom prst="rect">
            <a:avLst/>
          </a:prstGeom>
          <a:noFill/>
          <a:ln/>
        </p:spPr>
        <p:txBody>
          <a:bodyPr wrap="square" lIns="0" tIns="0" rIns="0" bIns="0" rtlCol="0" anchor="t"/>
          <a:lstStyle/>
          <a:p>
            <a:pPr marL="0" indent="0">
              <a:buNone/>
            </a:pPr>
            <a:r>
              <a:rPr lang="en-US" sz="1100" kern="0" spc="100" dirty="0">
                <a:solidFill>
                  <a:schemeClr val="accent3"/>
                </a:solidFill>
                <a:latin typeface="Consolas" pitchFamily="34" charset="0"/>
                <a:ea typeface="Consolas" pitchFamily="34" charset="-122"/>
                <a:cs typeface="Consolas" pitchFamily="34" charset="-120"/>
              </a:rPr>
              <a:t>VARIANT #12</a:t>
            </a:r>
            <a:endParaRPr lang="en-US" sz="1100" dirty="0"/>
          </a:p>
        </p:txBody>
      </p:sp>
      <p:sp>
        <p:nvSpPr>
          <p:cNvPr id="26" name="Text 24"/>
          <p:cNvSpPr txBox="1"/>
          <p:nvPr/>
        </p:nvSpPr>
        <p:spPr>
          <a:xfrm>
            <a:off x="6430975" y="4251960"/>
            <a:ext cx="493776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Departmental Operational Intelligence System</a:t>
            </a:r>
            <a:endParaRPr lang="en-US" sz="1900" dirty="0"/>
          </a:p>
        </p:txBody>
      </p:sp>
      <p:sp>
        <p:nvSpPr>
          <p:cNvPr id="27" name="Text 25"/>
          <p:cNvSpPr txBox="1"/>
          <p:nvPr/>
        </p:nvSpPr>
        <p:spPr>
          <a:xfrm>
            <a:off x="6430975" y="4645152"/>
            <a:ext cx="4937760" cy="3200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Evidence-to-decision decks, one per department</a:t>
            </a:r>
            <a:endParaRPr lang="en-US" sz="1400" dirty="0"/>
          </a:p>
        </p:txBody>
      </p:sp>
      <p:sp>
        <p:nvSpPr>
          <p:cNvPr id="28" name="dot"/>
          <p:cNvSpPr/>
          <p:nvPr/>
        </p:nvSpPr>
        <p:spPr>
          <a:xfrm>
            <a:off x="6440119" y="5349240"/>
            <a:ext cx="182880" cy="182880"/>
          </a:xfrm>
          <a:prstGeom prst="ellipse">
            <a:avLst/>
          </a:prstGeom>
          <a:solidFill>
            <a:srgbClr val="38B8AD"/>
          </a:solidFill>
          <a:ln/>
        </p:spPr>
      </p:sp>
      <p:sp>
        <p:nvSpPr>
          <p:cNvPr id="29" name="dot"/>
          <p:cNvSpPr/>
          <p:nvPr/>
        </p:nvSpPr>
        <p:spPr>
          <a:xfrm>
            <a:off x="6769303" y="5349240"/>
            <a:ext cx="182880" cy="182880"/>
          </a:xfrm>
          <a:prstGeom prst="ellipse">
            <a:avLst/>
          </a:prstGeom>
          <a:solidFill>
            <a:srgbClr val="4777B8"/>
          </a:solidFill>
          <a:ln/>
        </p:spPr>
      </p:sp>
      <p:sp>
        <p:nvSpPr>
          <p:cNvPr id="30" name="dot"/>
          <p:cNvSpPr/>
          <p:nvPr/>
        </p:nvSpPr>
        <p:spPr>
          <a:xfrm>
            <a:off x="7098487" y="5349240"/>
            <a:ext cx="182880" cy="182880"/>
          </a:xfrm>
          <a:prstGeom prst="ellipse">
            <a:avLst/>
          </a:prstGeom>
          <a:solidFill>
            <a:srgbClr val="D97845"/>
          </a:solidFill>
          <a:ln/>
        </p:spPr>
      </p:sp>
      <p:sp>
        <p:nvSpPr>
          <p:cNvPr id="31" name="dot"/>
          <p:cNvSpPr/>
          <p:nvPr/>
        </p:nvSpPr>
        <p:spPr>
          <a:xfrm>
            <a:off x="7427671" y="5349240"/>
            <a:ext cx="182880" cy="182880"/>
          </a:xfrm>
          <a:prstGeom prst="ellipse">
            <a:avLst/>
          </a:prstGeom>
          <a:solidFill>
            <a:srgbClr val="8BAE9B"/>
          </a:solidFill>
          <a:ln/>
        </p:spPr>
      </p:sp>
      <p:sp>
        <p:nvSpPr>
          <p:cNvPr id="32" name="dot"/>
          <p:cNvSpPr/>
          <p:nvPr/>
        </p:nvSpPr>
        <p:spPr>
          <a:xfrm>
            <a:off x="7756855" y="5349240"/>
            <a:ext cx="182880" cy="182880"/>
          </a:xfrm>
          <a:prstGeom prst="ellipse">
            <a:avLst/>
          </a:prstGeom>
          <a:solidFill>
            <a:srgbClr val="B79A61"/>
          </a:solidFill>
          <a:ln/>
        </p:spPr>
      </p:sp>
      <p:sp>
        <p:nvSpPr>
          <p:cNvPr id="33" name="dot"/>
          <p:cNvSpPr/>
          <p:nvPr/>
        </p:nvSpPr>
        <p:spPr>
          <a:xfrm>
            <a:off x="8086039" y="5349240"/>
            <a:ext cx="182880" cy="182880"/>
          </a:xfrm>
          <a:prstGeom prst="ellipse">
            <a:avLst/>
          </a:prstGeom>
          <a:solidFill>
            <a:srgbClr val="B17B65"/>
          </a:solidFill>
          <a:ln/>
        </p:spPr>
      </p:sp>
      <p:sp>
        <p:nvSpPr>
          <p:cNvPr id="34" name="dot"/>
          <p:cNvSpPr/>
          <p:nvPr/>
        </p:nvSpPr>
        <p:spPr>
          <a:xfrm>
            <a:off x="8415223" y="5349240"/>
            <a:ext cx="182880" cy="182880"/>
          </a:xfrm>
          <a:prstGeom prst="ellipse">
            <a:avLst/>
          </a:prstGeom>
          <a:solidFill>
            <a:srgbClr val="36A9A1"/>
          </a:solidFill>
          <a:ln/>
        </p:spPr>
      </p:sp>
      <p:sp>
        <p:nvSpPr>
          <p:cNvPr id="35" name="dot"/>
          <p:cNvSpPr/>
          <p:nvPr/>
        </p:nvSpPr>
        <p:spPr>
          <a:xfrm>
            <a:off x="8744407" y="5349240"/>
            <a:ext cx="182880" cy="182880"/>
          </a:xfrm>
          <a:prstGeom prst="ellipse">
            <a:avLst/>
          </a:prstGeom>
          <a:solidFill>
            <a:srgbClr val="A6A06A"/>
          </a:solidFill>
          <a:ln/>
        </p:spPr>
      </p:sp>
      <p:sp>
        <p:nvSpPr>
          <p:cNvPr id="36" name="Text 34"/>
          <p:cNvSpPr txBox="1"/>
          <p:nvPr/>
        </p:nvSpPr>
        <p:spPr>
          <a:xfrm>
            <a:off x="9265615" y="5330952"/>
            <a:ext cx="2377440" cy="228600"/>
          </a:xfrm>
          <a:prstGeom prst="rect">
            <a:avLst/>
          </a:prstGeom>
          <a:noFill/>
          <a:ln/>
        </p:spPr>
        <p:txBody>
          <a:bodyPr wrap="square" lIns="0" tIns="0" rIns="0" bIns="0" rtlCol="0" anchor="t"/>
          <a:lstStyle/>
          <a:p>
            <a:pPr marL="0" indent="0">
              <a:buNone/>
            </a:pPr>
            <a:r>
              <a:rPr lang="en-US" sz="1100" dirty="0">
                <a:solidFill>
                  <a:schemeClr val="accent3"/>
                </a:solidFill>
                <a:latin typeface="Consolas" pitchFamily="34" charset="0"/>
                <a:ea typeface="Consolas" pitchFamily="34" charset="-122"/>
                <a:cs typeface="Consolas" pitchFamily="34" charset="-120"/>
              </a:rPr>
              <a:t>× 8 departmental identities</a:t>
            </a:r>
            <a:endParaRPr lang="en-US" sz="1100" dirty="0"/>
          </a:p>
        </p:txBody>
      </p:sp>
      <p:sp>
        <p:nvSpPr>
          <p:cNvPr id="37" name="Slide Number Placeholder 0"/>
          <p:cNvSpPr>
            <a:spLocks noGrp="1"/>
          </p:cNvSpPr>
          <p:nvPr>
            <p:ph type="sldNum" sz="quarter" idx="4294967295"/>
          </p:nvPr>
        </p:nvSpPr>
        <p:spPr>
          <a:xfrm>
            <a:off x="10911535" y="6382512"/>
            <a:ext cx="73152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t"/>
          <a:lstStyle/>
          <a:p>
            <a:pPr marL="0" indent="0">
              <a:buNone/>
            </a:pPr>
            <a:r>
              <a:rPr lang="en-US" sz="1000" kern="0" spc="100" dirty="0">
                <a:solidFill>
                  <a:schemeClr val="accent2"/>
                </a:solidFill>
                <a:latin typeface="Consolas" pitchFamily="34" charset="0"/>
                <a:ea typeface="Consolas" pitchFamily="34" charset="-122"/>
                <a:cs typeface="Consolas" pitchFamily="34" charset="-120"/>
              </a:rPr>
              <a:t>09 — DECISION</a:t>
            </a:r>
            <a:endParaRPr lang="en-US" sz="1000" dirty="0"/>
          </a:p>
        </p:txBody>
      </p:sp>
      <p:sp>
        <p:nvSpPr>
          <p:cNvPr id="3" name="Text 0"/>
          <p:cNvSpPr>
            <a:spLocks noGrp="1"/>
          </p:cNvSpPr>
          <p:nvPr>
            <p:ph type="title" idx="101" hasCustomPrompt="1"/>
          </p:nvPr>
        </p:nvSpPr>
        <p:spPr>
          <a:xfrm>
            <a:off x="548640" y="749808"/>
            <a:ext cx="10607040" cy="1097280"/>
          </a:xfrm>
          <a:prstGeom prst="rect">
            <a:avLst/>
          </a:prstGeom>
          <a:noFill/>
          <a:ln/>
        </p:spPr>
        <p:txBody>
          <a:bodyPr wrap="square" lIns="0" tIns="0" rIns="0" bIns="0" rtlCol="0" anchor="t"/>
          <a:lstStyle/>
          <a:p>
            <a:pPr marL="0" indent="0" algn="l">
              <a:buNone/>
            </a:pPr>
            <a:r>
              <a:rPr lang="en-US" sz="3000" b="1" dirty="0">
                <a:solidFill>
                  <a:schemeClr val="bg2"/>
                </a:solidFill>
              </a:rPr>
              <a:t>Approve the direction, then revise both skill files</a:t>
            </a:r>
            <a:endParaRPr lang="en-US" sz="3000" dirty="0"/>
          </a:p>
        </p:txBody>
      </p:sp>
      <p:sp>
        <p:nvSpPr>
          <p:cNvPr id="4" name="Text 2"/>
          <p:cNvSpPr txBox="1"/>
          <p:nvPr/>
        </p:nvSpPr>
        <p:spPr>
          <a:xfrm>
            <a:off x="548640" y="2057400"/>
            <a:ext cx="1463040" cy="914400"/>
          </a:xfrm>
          <a:prstGeom prst="rect">
            <a:avLst/>
          </a:prstGeom>
          <a:noFill/>
          <a:ln/>
        </p:spPr>
        <p:txBody>
          <a:bodyPr wrap="square" lIns="0" tIns="0" rIns="0" bIns="0" rtlCol="0" anchor="t"/>
          <a:lstStyle/>
          <a:p>
            <a:pPr marL="0" indent="0">
              <a:buNone/>
            </a:pPr>
            <a:r>
              <a:rPr lang="en-US" sz="6000" b="1" dirty="0">
                <a:solidFill>
                  <a:schemeClr val="bg2"/>
                </a:solidFill>
                <a:latin typeface="Calibri" pitchFamily="34" charset="0"/>
                <a:ea typeface="Calibri" pitchFamily="34" charset="-122"/>
                <a:cs typeface="Calibri" pitchFamily="34" charset="-120"/>
              </a:rPr>
              <a:t>1</a:t>
            </a:r>
            <a:endParaRPr lang="en-US" sz="6000" dirty="0"/>
          </a:p>
        </p:txBody>
      </p:sp>
      <p:sp>
        <p:nvSpPr>
          <p:cNvPr id="5" name="Text 3"/>
          <p:cNvSpPr txBox="1"/>
          <p:nvPr/>
        </p:nvSpPr>
        <p:spPr>
          <a:xfrm>
            <a:off x="548640" y="3063240"/>
            <a:ext cx="2377440" cy="274320"/>
          </a:xfrm>
          <a:prstGeom prst="rect">
            <a:avLst/>
          </a:prstGeom>
          <a:noFill/>
          <a:ln/>
        </p:spPr>
        <p:txBody>
          <a:bodyPr wrap="square" lIns="0" tIns="0" rIns="0" bIns="0" rtlCol="0" anchor="t"/>
          <a:lstStyle/>
          <a:p>
            <a:pPr marL="0" indent="0">
              <a:buNone/>
            </a:pPr>
            <a:r>
              <a:rPr lang="en-US" sz="1100" dirty="0">
                <a:solidFill>
                  <a:schemeClr val="accent2"/>
                </a:solidFill>
                <a:latin typeface="Consolas" pitchFamily="34" charset="0"/>
                <a:ea typeface="Consolas" pitchFamily="34" charset="-122"/>
                <a:cs typeface="Consolas" pitchFamily="34" charset="-120"/>
              </a:rPr>
              <a:t>corporate foundation</a:t>
            </a:r>
            <a:endParaRPr lang="en-US" sz="1100" dirty="0"/>
          </a:p>
        </p:txBody>
      </p:sp>
      <p:sp>
        <p:nvSpPr>
          <p:cNvPr id="6" name="Text 4"/>
          <p:cNvSpPr txBox="1"/>
          <p:nvPr/>
        </p:nvSpPr>
        <p:spPr>
          <a:xfrm>
            <a:off x="2331720" y="2240280"/>
            <a:ext cx="731520" cy="640080"/>
          </a:xfrm>
          <a:prstGeom prst="rect">
            <a:avLst/>
          </a:prstGeom>
          <a:noFill/>
          <a:ln/>
        </p:spPr>
        <p:txBody>
          <a:bodyPr wrap="square" lIns="0" tIns="0" rIns="0" bIns="0" rtlCol="0" anchor="t"/>
          <a:lstStyle/>
          <a:p>
            <a:pPr marL="0" indent="0" algn="ctr">
              <a:buNone/>
            </a:pPr>
            <a:r>
              <a:rPr lang="en-US" sz="3200" dirty="0">
                <a:solidFill>
                  <a:schemeClr val="accent6"/>
                </a:solidFill>
                <a:latin typeface="Calibri" pitchFamily="34" charset="0"/>
                <a:ea typeface="Calibri" pitchFamily="34" charset="-122"/>
                <a:cs typeface="Calibri" pitchFamily="34" charset="-120"/>
              </a:rPr>
              <a:t>×</a:t>
            </a:r>
            <a:endParaRPr lang="en-US" sz="3200" dirty="0"/>
          </a:p>
        </p:txBody>
      </p:sp>
      <p:sp>
        <p:nvSpPr>
          <p:cNvPr id="7" name="Text 5"/>
          <p:cNvSpPr txBox="1"/>
          <p:nvPr/>
        </p:nvSpPr>
        <p:spPr>
          <a:xfrm>
            <a:off x="3429000" y="2057400"/>
            <a:ext cx="1463040" cy="914400"/>
          </a:xfrm>
          <a:prstGeom prst="rect">
            <a:avLst/>
          </a:prstGeom>
          <a:noFill/>
          <a:ln/>
        </p:spPr>
        <p:txBody>
          <a:bodyPr wrap="square" lIns="0" tIns="0" rIns="0" bIns="0" rtlCol="0" anchor="t"/>
          <a:lstStyle/>
          <a:p>
            <a:pPr marL="0" indent="0">
              <a:buNone/>
            </a:pPr>
            <a:r>
              <a:rPr lang="en-US" sz="6000" b="1" dirty="0">
                <a:solidFill>
                  <a:schemeClr val="bg2"/>
                </a:solidFill>
                <a:latin typeface="Calibri" pitchFamily="34" charset="0"/>
                <a:ea typeface="Calibri" pitchFamily="34" charset="-122"/>
                <a:cs typeface="Calibri" pitchFamily="34" charset="-120"/>
              </a:rPr>
              <a:t>8</a:t>
            </a:r>
            <a:endParaRPr lang="en-US" sz="6000" dirty="0"/>
          </a:p>
        </p:txBody>
      </p:sp>
      <p:sp>
        <p:nvSpPr>
          <p:cNvPr id="8" name="Text 6"/>
          <p:cNvSpPr txBox="1"/>
          <p:nvPr/>
        </p:nvSpPr>
        <p:spPr>
          <a:xfrm>
            <a:off x="3429000" y="3063240"/>
            <a:ext cx="2377440" cy="274320"/>
          </a:xfrm>
          <a:prstGeom prst="rect">
            <a:avLst/>
          </a:prstGeom>
          <a:noFill/>
          <a:ln/>
        </p:spPr>
        <p:txBody>
          <a:bodyPr wrap="square" lIns="0" tIns="0" rIns="0" bIns="0" rtlCol="0" anchor="t"/>
          <a:lstStyle/>
          <a:p>
            <a:pPr marL="0" indent="0">
              <a:buNone/>
            </a:pPr>
            <a:r>
              <a:rPr lang="en-US" sz="1100" dirty="0">
                <a:solidFill>
                  <a:schemeClr val="accent2"/>
                </a:solidFill>
                <a:latin typeface="Consolas" pitchFamily="34" charset="0"/>
                <a:ea typeface="Consolas" pitchFamily="34" charset="-122"/>
                <a:cs typeface="Consolas" pitchFamily="34" charset="-120"/>
              </a:rPr>
              <a:t>departmental identities</a:t>
            </a:r>
            <a:endParaRPr lang="en-US" sz="1100" dirty="0"/>
          </a:p>
        </p:txBody>
      </p:sp>
      <p:sp>
        <p:nvSpPr>
          <p:cNvPr id="9" name="Text 7"/>
          <p:cNvSpPr txBox="1"/>
          <p:nvPr/>
        </p:nvSpPr>
        <p:spPr>
          <a:xfrm>
            <a:off x="5212080" y="2240280"/>
            <a:ext cx="731520" cy="640080"/>
          </a:xfrm>
          <a:prstGeom prst="rect">
            <a:avLst/>
          </a:prstGeom>
          <a:noFill/>
          <a:ln/>
        </p:spPr>
        <p:txBody>
          <a:bodyPr wrap="square" lIns="0" tIns="0" rIns="0" bIns="0" rtlCol="0" anchor="t"/>
          <a:lstStyle/>
          <a:p>
            <a:pPr marL="0" indent="0" algn="ctr">
              <a:buNone/>
            </a:pPr>
            <a:r>
              <a:rPr lang="en-US" sz="3200" dirty="0">
                <a:solidFill>
                  <a:schemeClr val="accent6"/>
                </a:solidFill>
                <a:latin typeface="Calibri" pitchFamily="34" charset="0"/>
                <a:ea typeface="Calibri" pitchFamily="34" charset="-122"/>
                <a:cs typeface="Calibri" pitchFamily="34" charset="-120"/>
              </a:rPr>
              <a:t>×</a:t>
            </a:r>
            <a:endParaRPr lang="en-US" sz="3200" dirty="0"/>
          </a:p>
        </p:txBody>
      </p:sp>
      <p:sp>
        <p:nvSpPr>
          <p:cNvPr id="10" name="Text 8"/>
          <p:cNvSpPr txBox="1"/>
          <p:nvPr/>
        </p:nvSpPr>
        <p:spPr>
          <a:xfrm>
            <a:off x="6309360" y="2057400"/>
            <a:ext cx="1463040" cy="914400"/>
          </a:xfrm>
          <a:prstGeom prst="rect">
            <a:avLst/>
          </a:prstGeom>
          <a:noFill/>
          <a:ln/>
        </p:spPr>
        <p:txBody>
          <a:bodyPr wrap="square" lIns="0" tIns="0" rIns="0" bIns="0" rtlCol="0" anchor="t"/>
          <a:lstStyle/>
          <a:p>
            <a:pPr marL="0" indent="0">
              <a:buNone/>
            </a:pPr>
            <a:r>
              <a:rPr lang="en-US" sz="6000" b="1" dirty="0">
                <a:solidFill>
                  <a:schemeClr val="bg2"/>
                </a:solidFill>
                <a:latin typeface="Calibri" pitchFamily="34" charset="0"/>
                <a:ea typeface="Calibri" pitchFamily="34" charset="-122"/>
                <a:cs typeface="Calibri" pitchFamily="34" charset="-120"/>
              </a:rPr>
              <a:t>2</a:t>
            </a:r>
            <a:endParaRPr lang="en-US" sz="6000" dirty="0"/>
          </a:p>
        </p:txBody>
      </p:sp>
      <p:sp>
        <p:nvSpPr>
          <p:cNvPr id="11" name="Text 9"/>
          <p:cNvSpPr txBox="1"/>
          <p:nvPr/>
        </p:nvSpPr>
        <p:spPr>
          <a:xfrm>
            <a:off x="6309360" y="3063240"/>
            <a:ext cx="2377440" cy="274320"/>
          </a:xfrm>
          <a:prstGeom prst="rect">
            <a:avLst/>
          </a:prstGeom>
          <a:noFill/>
          <a:ln/>
        </p:spPr>
        <p:txBody>
          <a:bodyPr wrap="square" lIns="0" tIns="0" rIns="0" bIns="0" rtlCol="0" anchor="t"/>
          <a:lstStyle/>
          <a:p>
            <a:pPr marL="0" indent="0">
              <a:buNone/>
            </a:pPr>
            <a:r>
              <a:rPr lang="en-US" sz="1100" dirty="0">
                <a:solidFill>
                  <a:schemeClr val="accent2"/>
                </a:solidFill>
                <a:latin typeface="Consolas" pitchFamily="34" charset="0"/>
                <a:ea typeface="Consolas" pitchFamily="34" charset="-122"/>
                <a:cs typeface="Consolas" pitchFamily="34" charset="-120"/>
              </a:rPr>
              <a:t>presentation treatments</a:t>
            </a:r>
            <a:endParaRPr lang="en-US" sz="1100" dirty="0"/>
          </a:p>
        </p:txBody>
      </p:sp>
      <p:sp>
        <p:nvSpPr>
          <p:cNvPr id="12" name="Text 10"/>
          <p:cNvSpPr txBox="1"/>
          <p:nvPr/>
        </p:nvSpPr>
        <p:spPr>
          <a:xfrm>
            <a:off x="8092440" y="2240280"/>
            <a:ext cx="731520" cy="640080"/>
          </a:xfrm>
          <a:prstGeom prst="rect">
            <a:avLst/>
          </a:prstGeom>
          <a:noFill/>
          <a:ln/>
        </p:spPr>
        <p:txBody>
          <a:bodyPr wrap="square" lIns="0" tIns="0" rIns="0" bIns="0" rtlCol="0" anchor="t"/>
          <a:lstStyle/>
          <a:p>
            <a:pPr marL="0" indent="0" algn="ctr">
              <a:buNone/>
            </a:pPr>
            <a:r>
              <a:rPr lang="en-US" sz="3200" dirty="0">
                <a:solidFill>
                  <a:schemeClr val="accent6"/>
                </a:solidFill>
                <a:latin typeface="Calibri" pitchFamily="34" charset="0"/>
                <a:ea typeface="Calibri" pitchFamily="34" charset="-122"/>
                <a:cs typeface="Calibri" pitchFamily="34" charset="-120"/>
              </a:rPr>
              <a:t>=</a:t>
            </a:r>
            <a:endParaRPr lang="en-US" sz="3200" dirty="0"/>
          </a:p>
        </p:txBody>
      </p:sp>
      <p:sp>
        <p:nvSpPr>
          <p:cNvPr id="13" name="Text 11"/>
          <p:cNvSpPr txBox="1"/>
          <p:nvPr/>
        </p:nvSpPr>
        <p:spPr>
          <a:xfrm>
            <a:off x="9189720" y="2057400"/>
            <a:ext cx="1463040" cy="914400"/>
          </a:xfrm>
          <a:prstGeom prst="rect">
            <a:avLst/>
          </a:prstGeom>
          <a:noFill/>
          <a:ln/>
        </p:spPr>
        <p:txBody>
          <a:bodyPr wrap="square" lIns="0" tIns="0" rIns="0" bIns="0" rtlCol="0" anchor="t"/>
          <a:lstStyle/>
          <a:p>
            <a:pPr marL="0" indent="0">
              <a:buNone/>
            </a:pPr>
            <a:r>
              <a:rPr lang="en-US" sz="6000" b="1" dirty="0">
                <a:solidFill>
                  <a:schemeClr val="accent1"/>
                </a:solidFill>
                <a:latin typeface="Calibri" pitchFamily="34" charset="0"/>
                <a:ea typeface="Calibri" pitchFamily="34" charset="-122"/>
                <a:cs typeface="Calibri" pitchFamily="34" charset="-120"/>
              </a:rPr>
              <a:t>16</a:t>
            </a:r>
            <a:endParaRPr lang="en-US" sz="6000" dirty="0"/>
          </a:p>
        </p:txBody>
      </p:sp>
      <p:sp>
        <p:nvSpPr>
          <p:cNvPr id="14" name="Text 12"/>
          <p:cNvSpPr txBox="1"/>
          <p:nvPr/>
        </p:nvSpPr>
        <p:spPr>
          <a:xfrm>
            <a:off x="9189720" y="3063240"/>
            <a:ext cx="2377440" cy="274320"/>
          </a:xfrm>
          <a:prstGeom prst="rect">
            <a:avLst/>
          </a:prstGeom>
          <a:noFill/>
          <a:ln/>
        </p:spPr>
        <p:txBody>
          <a:bodyPr wrap="square" lIns="0" tIns="0" rIns="0" bIns="0" rtlCol="0" anchor="t"/>
          <a:lstStyle/>
          <a:p>
            <a:pPr marL="0" indent="0">
              <a:buNone/>
            </a:pPr>
            <a:r>
              <a:rPr lang="en-US" sz="1100" dirty="0">
                <a:solidFill>
                  <a:schemeClr val="accent2"/>
                </a:solidFill>
                <a:latin typeface="Consolas" pitchFamily="34" charset="0"/>
                <a:ea typeface="Consolas" pitchFamily="34" charset="-122"/>
                <a:cs typeface="Consolas" pitchFamily="34" charset="-120"/>
              </a:rPr>
              <a:t>recognisable deck styles</a:t>
            </a:r>
            <a:endParaRPr lang="en-US" sz="1100" dirty="0"/>
          </a:p>
        </p:txBody>
      </p:sp>
      <p:sp>
        <p:nvSpPr>
          <p:cNvPr id="15" name="horizon-line"/>
          <p:cNvSpPr/>
          <p:nvPr/>
        </p:nvSpPr>
        <p:spPr>
          <a:xfrm>
            <a:off x="548640" y="3794760"/>
            <a:ext cx="11094415" cy="0"/>
          </a:xfrm>
          <a:prstGeom prst="line">
            <a:avLst/>
          </a:prstGeom>
          <a:noFill/>
          <a:ln w="9525">
            <a:solidFill>
              <a:srgbClr val="24435C"/>
            </a:solidFill>
            <a:prstDash val="solid"/>
          </a:ln>
        </p:spPr>
      </p:sp>
      <p:sp>
        <p:nvSpPr>
          <p:cNvPr id="16" name="dot"/>
          <p:cNvSpPr/>
          <p:nvPr/>
        </p:nvSpPr>
        <p:spPr>
          <a:xfrm>
            <a:off x="8668512" y="3730752"/>
            <a:ext cx="128016" cy="128016"/>
          </a:xfrm>
          <a:prstGeom prst="ellipse">
            <a:avLst/>
          </a:prstGeom>
          <a:solidFill>
            <a:srgbClr val="36A9A1"/>
          </a:solidFill>
          <a:ln/>
        </p:spPr>
      </p:sp>
      <p:sp>
        <p:nvSpPr>
          <p:cNvPr id="17" name="Text 15"/>
          <p:cNvSpPr txBox="1"/>
          <p:nvPr/>
        </p:nvSpPr>
        <p:spPr>
          <a:xfrm>
            <a:off x="548640" y="4114800"/>
            <a:ext cx="5120640" cy="274320"/>
          </a:xfrm>
          <a:prstGeom prst="rect">
            <a:avLst/>
          </a:prstGeom>
          <a:noFill/>
          <a:ln/>
        </p:spPr>
        <p:txBody>
          <a:bodyPr wrap="square" lIns="0" tIns="0" rIns="0" bIns="0" rtlCol="0" anchor="t"/>
          <a:lstStyle/>
          <a:p>
            <a:pPr marL="0" indent="0">
              <a:buNone/>
            </a:pPr>
            <a:r>
              <a:rPr lang="en-US" sz="1100" kern="0" spc="100" dirty="0">
                <a:solidFill>
                  <a:schemeClr val="accent1"/>
                </a:solidFill>
                <a:latin typeface="Consolas" pitchFamily="34" charset="0"/>
                <a:ea typeface="Consolas" pitchFamily="34" charset="-122"/>
                <a:cs typeface="Consolas" pitchFamily="34" charset="-120"/>
              </a:rPr>
              <a:t>DECISION REQUESTED</a:t>
            </a:r>
            <a:endParaRPr lang="en-US" sz="1100" dirty="0"/>
          </a:p>
        </p:txBody>
      </p:sp>
      <p:sp>
        <p:nvSpPr>
          <p:cNvPr id="18" name="Text 16"/>
          <p:cNvSpPr txBox="1"/>
          <p:nvPr/>
        </p:nvSpPr>
        <p:spPr>
          <a:xfrm>
            <a:off x="548640" y="4480560"/>
            <a:ext cx="5029200" cy="1005840"/>
          </a:xfrm>
          <a:prstGeom prst="rect">
            <a:avLst/>
          </a:prstGeom>
          <a:noFill/>
          <a:ln/>
        </p:spPr>
        <p:txBody>
          <a:bodyPr wrap="square" lIns="0" tIns="0" rIns="0" bIns="0" rtlCol="0" anchor="t"/>
          <a:lstStyle/>
          <a:p>
            <a:pPr marL="0" indent="0">
              <a:buNone/>
            </a:pPr>
            <a:r>
              <a:rPr lang="en-US" sz="1800" dirty="0">
                <a:solidFill>
                  <a:schemeClr val="bg2"/>
                </a:solidFill>
                <a:latin typeface="Calibri" pitchFamily="34" charset="0"/>
                <a:ea typeface="Calibri" pitchFamily="34" charset="-122"/>
                <a:cs typeface="Calibri" pitchFamily="34" charset="-120"/>
              </a:rPr>
              <a:t>Endorse the three-tier positioning (#8, #11, #12) and the Departmental Visual Identity Engine.</a:t>
            </a:r>
            <a:endParaRPr lang="en-US" sz="1800" dirty="0"/>
          </a:p>
        </p:txBody>
      </p:sp>
      <p:sp>
        <p:nvSpPr>
          <p:cNvPr id="19" name="Text 17"/>
          <p:cNvSpPr txBox="1"/>
          <p:nvPr/>
        </p:nvSpPr>
        <p:spPr>
          <a:xfrm>
            <a:off x="6355080" y="4114800"/>
            <a:ext cx="5120640" cy="274320"/>
          </a:xfrm>
          <a:prstGeom prst="rect">
            <a:avLst/>
          </a:prstGeom>
          <a:noFill/>
          <a:ln/>
        </p:spPr>
        <p:txBody>
          <a:bodyPr wrap="square" lIns="0" tIns="0" rIns="0" bIns="0" rtlCol="0" anchor="t"/>
          <a:lstStyle/>
          <a:p>
            <a:pPr marL="0" indent="0">
              <a:buNone/>
            </a:pPr>
            <a:r>
              <a:rPr lang="en-US" sz="1100" kern="0" spc="100" dirty="0">
                <a:solidFill>
                  <a:schemeClr val="accent1"/>
                </a:solidFill>
                <a:latin typeface="Consolas" pitchFamily="34" charset="0"/>
                <a:ea typeface="Consolas" pitchFamily="34" charset="-122"/>
                <a:cs typeface="Consolas" pitchFamily="34" charset="-120"/>
              </a:rPr>
              <a:t>NEXT STEP</a:t>
            </a:r>
            <a:endParaRPr lang="en-US" sz="1100" dirty="0"/>
          </a:p>
        </p:txBody>
      </p:sp>
      <p:sp>
        <p:nvSpPr>
          <p:cNvPr id="20" name="Text 18"/>
          <p:cNvSpPr txBox="1"/>
          <p:nvPr/>
        </p:nvSpPr>
        <p:spPr>
          <a:xfrm>
            <a:off x="6355080" y="4480560"/>
            <a:ext cx="5029200" cy="1005840"/>
          </a:xfrm>
          <a:prstGeom prst="rect">
            <a:avLst/>
          </a:prstGeom>
          <a:noFill/>
          <a:ln/>
        </p:spPr>
        <p:txBody>
          <a:bodyPr wrap="square" lIns="0" tIns="0" rIns="0" bIns="0" rtlCol="0" anchor="t"/>
          <a:lstStyle/>
          <a:p>
            <a:pPr marL="0" indent="0">
              <a:buNone/>
            </a:pPr>
            <a:r>
              <a:rPr lang="en-US" sz="1800" dirty="0">
                <a:solidFill>
                  <a:schemeClr val="bg2"/>
                </a:solidFill>
                <a:latin typeface="Calibri" pitchFamily="34" charset="0"/>
                <a:ea typeface="Calibri" pitchFamily="34" charset="-122"/>
                <a:cs typeface="Calibri" pitchFamily="34" charset="-120"/>
              </a:rPr>
              <a:t>Revise the #11 and #12 SKILL.md files with the engine. Owner and date to be confirmed.</a:t>
            </a:r>
            <a:endParaRPr lang="en-US" sz="1800" dirty="0"/>
          </a:p>
        </p:txBody>
      </p:sp>
      <p:sp>
        <p:nvSpPr>
          <p:cNvPr id="21" name="Text 19"/>
          <p:cNvSpPr txBox="1"/>
          <p:nvPr/>
        </p:nvSpPr>
        <p:spPr>
          <a:xfrm>
            <a:off x="548640" y="5760720"/>
            <a:ext cx="11094415" cy="274320"/>
          </a:xfrm>
          <a:prstGeom prst="rect">
            <a:avLst/>
          </a:prstGeom>
          <a:noFill/>
          <a:ln/>
        </p:spPr>
        <p:txBody>
          <a:bodyPr wrap="square" lIns="0" tIns="0" rIns="0" bIns="0" rtlCol="0" anchor="t"/>
          <a:lstStyle/>
          <a:p>
            <a:pPr marL="0" indent="0">
              <a:buNone/>
            </a:pPr>
            <a:r>
              <a:rPr lang="en-US" sz="1300" i="1" dirty="0">
                <a:solidFill>
                  <a:schemeClr val="accent6"/>
                </a:solidFill>
                <a:latin typeface="Calibri" pitchFamily="34" charset="0"/>
                <a:ea typeface="Calibri" pitchFamily="34" charset="-122"/>
                <a:cs typeface="Calibri" pitchFamily="34" charset="-120"/>
              </a:rPr>
              <a:t>16 treatments, governed by two reusable skills.</a:t>
            </a:r>
            <a:endParaRPr lang="en-US" sz="1300" dirty="0"/>
          </a:p>
        </p:txBody>
      </p:sp>
      <p:sp>
        <p:nvSpPr>
          <p:cNvPr id="25" name="Slide Number Placeholder 0"/>
          <p:cNvSpPr>
            <a:spLocks noGrp="1"/>
          </p:cNvSpPr>
          <p:nvPr>
            <p:ph type="sldNum" sz="quarter" idx="4294967295"/>
          </p:nvPr>
        </p:nvSpPr>
        <p:spPr>
          <a:xfrm>
            <a:off x="10911535" y="6382512"/>
            <a:ext cx="73152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latin typeface="Consolas"/>
                <a:ea typeface="Consolas"/>
                <a:cs typeface="Consolas"/>
              </a:defRPr>
            </a:lvl1pPr>
          </a:lstStyle>
          <a:p>
            <a:pPr algn="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Lintas BD Beyond the Horizon">
  <a:themeElements>
    <a:clrScheme name="Lintas BD Beyond the Horizon">
      <a:dk1>
        <a:srgbClr val="171A1D"/>
      </a:dk1>
      <a:lt1>
        <a:srgbClr val="FFFFFF"/>
      </a:lt1>
      <a:dk2>
        <a:srgbClr val="172D40"/>
      </a:dk2>
      <a:lt2>
        <a:srgbClr val="F4F1E9"/>
      </a:lt2>
      <a:accent1>
        <a:srgbClr val="36A9A1"/>
      </a:accent1>
      <a:accent2>
        <a:srgbClr val="CBD7D8"/>
      </a:accent2>
      <a:accent3>
        <a:srgbClr val="5E6670"/>
      </a:accent3>
      <a:accent4>
        <a:srgbClr val="24435C"/>
      </a:accent4>
      <a:accent5>
        <a:srgbClr val="DAD5C9"/>
      </a:accent5>
      <a:accent6>
        <a:srgbClr val="8FA3AE"/>
      </a:accent6>
      <a:hlink>
        <a:srgbClr val="36A9A1"/>
      </a:hlink>
      <a:folHlink>
        <a:srgbClr val="5E6670"/>
      </a:folHlink>
    </a:clrScheme>
    <a:fontScheme name="Lintas BD Beyond the Horiz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1958</Words>
  <Application>Microsoft Office PowerPoint</Application>
  <PresentationFormat>Widescreen</PresentationFormat>
  <Paragraphs>243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Consolas</vt:lpstr>
      <vt:lpstr>Lintas BD Beyond the Horizon</vt:lpstr>
      <vt:lpstr>One family of decks, eight departmental voices</vt:lpstr>
      <vt:lpstr>Today you still have to read the department name to know whose deck it is</vt:lpstr>
      <vt:lpstr>Five design layers, from fully shared to fully adaptive</vt:lpstr>
      <vt:lpstr>Each department gets a design personality, not just a colour</vt:lpstr>
      <vt:lpstr>Colour alone gives eight recolours; four variables give eight identities</vt:lpstr>
      <vt:lpstr>Same department. Different job.</vt:lpstr>
      <vt:lpstr>#11 reads like a boardroom publication; #12 like a management intelligence atlas</vt:lpstr>
      <vt:lpstr>A CTS deck should still read as CTS in either treatment</vt:lpstr>
      <vt:lpstr>Both skill files gain one engine that settles eight design choices first</vt:lpstr>
      <vt:lpstr>Keep #8 as the reference; position #11 and #12 as the departmental systems</vt:lpstr>
      <vt:lpstr>Approve the direction, then revise both skill files</vt:lpstr>
    </vt:vector>
  </TitlesOfParts>
  <Company>Lintas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Lintas Group Presentation Design System</dc:title>
  <dc:subject>Proposal: one corporate foundation, eight departmental identities, two treatments</dc:subject>
  <dc:creator>Amir Syarif Hidayatullah</dc:creator>
  <cp:lastModifiedBy>Amir S. Hidayatullah</cp:lastModifiedBy>
  <cp:revision>1</cp:revision>
  <dcterms:created xsi:type="dcterms:W3CDTF">2026-10-29T00:08:04Z</dcterms:created>
  <dcterms:modified xsi:type="dcterms:W3CDTF">2026-10-29T00:14:16Z</dcterms:modified>
</cp:coreProperties>
</file>